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2" r:id="rId15"/>
    <p:sldId id="270" r:id="rId16"/>
    <p:sldId id="271" r:id="rId17"/>
  </p:sldIdLst>
  <p:sldSz cx="5765800" cy="3244850"/>
  <p:notesSz cx="5765800" cy="32448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163" d="100"/>
          <a:sy n="163" d="100"/>
        </p:scale>
        <p:origin x="874" y="10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1067295" y="252930"/>
            <a:ext cx="2138045" cy="24447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864870" y="1817116"/>
            <a:ext cx="4036060" cy="81121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1" i="0">
                <a:solidFill>
                  <a:srgbClr val="3F3F3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‹N›</a:t>
            </a:fld>
            <a:r>
              <a:rPr spc="-65" dirty="0"/>
              <a:t>/16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100" b="1" i="0">
                <a:solidFill>
                  <a:srgbClr val="3F3F3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‹N›</a:t>
            </a:fld>
            <a:r>
              <a:rPr spc="-65" dirty="0"/>
              <a:t>/16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88290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969387" y="746315"/>
            <a:ext cx="2508123" cy="2141601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6/13/2026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‹N›</a:t>
            </a:fld>
            <a:r>
              <a:rPr spc="-65" dirty="0"/>
              <a:t>/16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4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6/13/2026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‹N›</a:t>
            </a:fld>
            <a:r>
              <a:rPr spc="-65" dirty="0"/>
              <a:t>/16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6/13/2026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‹N›</a:t>
            </a:fld>
            <a:r>
              <a:rPr spc="-65" dirty="0"/>
              <a:t>/16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CEA1F6AF-F74D-2398-078A-C0D099306A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88290" y="3017710"/>
            <a:ext cx="1326134" cy="276999"/>
          </a:xfrm>
        </p:spPr>
        <p:txBody>
          <a:bodyPr/>
          <a:lstStyle/>
          <a:p>
            <a:fld id="{5A166EBB-33BB-45B9-9240-4E9A4120B5B1}" type="datetimeFigureOut">
              <a:rPr lang="en-US" smtClean="0"/>
              <a:t>6/13/2026</a:t>
            </a:fld>
            <a:endParaRPr lang="en-US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F126CC96-B398-6917-CBAC-ABC2721FB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960372" y="3017710"/>
            <a:ext cx="1845056" cy="276999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AD01862E-3827-63CE-17D8-9F8EAB34D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321894" y="3016594"/>
            <a:ext cx="263525" cy="123111"/>
          </a:xfrm>
        </p:spPr>
        <p:txBody>
          <a:bodyPr/>
          <a:lstStyle/>
          <a:p>
            <a:fld id="{D308EDD6-F3C1-400D-B307-B086D9C0B37F}" type="slidenum">
              <a:rPr lang="en-US" smtClean="0"/>
              <a:t>‹N›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2774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8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1067295" y="253768"/>
            <a:ext cx="3011170" cy="3695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400" b="1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47294" y="759317"/>
            <a:ext cx="4779010" cy="188404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100" b="1" i="0">
                <a:solidFill>
                  <a:srgbClr val="3F3F3F"/>
                </a:solidFill>
                <a:latin typeface="Tahoma"/>
                <a:cs typeface="Tahoma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1960372" y="3017710"/>
            <a:ext cx="1845056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88290" y="3017710"/>
            <a:ext cx="1326134" cy="16224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6/13/2026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321894" y="3016594"/>
            <a:ext cx="263525" cy="15430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800" b="0" i="0">
                <a:solidFill>
                  <a:schemeClr val="bg1"/>
                </a:solidFill>
                <a:latin typeface="Tahoma"/>
                <a:cs typeface="Tahoma"/>
              </a:defRPr>
            </a:lvl1pPr>
          </a:lstStyle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‹N›</a:t>
            </a:fld>
            <a:r>
              <a:rPr spc="-65" dirty="0"/>
              <a:t>/16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slide" Target="slide12.xml"/><Relationship Id="rId4" Type="http://schemas.openxmlformats.org/officeDocument/2006/relationships/slide" Target="slide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slide" Target="slide12.xml"/><Relationship Id="rId4" Type="http://schemas.openxmlformats.org/officeDocument/2006/relationships/slide" Target="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2.xm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Relationship Id="rId5" Type="http://schemas.openxmlformats.org/officeDocument/2006/relationships/slide" Target="slide12.xml"/><Relationship Id="rId4" Type="http://schemas.openxmlformats.org/officeDocument/2006/relationships/slide" Target="slide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microsoft.com/office/2007/relationships/media" Target="../media/media2.mp4"/><Relationship Id="rId7" Type="http://schemas.openxmlformats.org/officeDocument/2006/relationships/image" Target="../media/image9.png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8.png"/><Relationship Id="rId5" Type="http://schemas.openxmlformats.org/officeDocument/2006/relationships/slideLayout" Target="../slideLayouts/slideLayout6.xml"/><Relationship Id="rId4" Type="http://schemas.openxmlformats.org/officeDocument/2006/relationships/video" Target="../media/media2.mp4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25575" y="279"/>
            <a:ext cx="2534420" cy="3239719"/>
          </a:xfrm>
          <a:prstGeom prst="rect">
            <a:avLst/>
          </a:prstGeom>
        </p:spPr>
      </p:pic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0" y="1102982"/>
            <a:ext cx="3588385" cy="1078865"/>
          </a:xfrm>
          <a:custGeom>
            <a:avLst/>
            <a:gdLst/>
            <a:ahLst/>
            <a:cxnLst/>
            <a:rect l="l" t="t" r="r" b="b"/>
            <a:pathLst>
              <a:path w="3588385" h="1078864">
                <a:moveTo>
                  <a:pt x="3588130" y="0"/>
                </a:moveTo>
                <a:lnTo>
                  <a:pt x="0" y="0"/>
                </a:lnTo>
                <a:lnTo>
                  <a:pt x="0" y="1078407"/>
                </a:lnTo>
                <a:lnTo>
                  <a:pt x="3588130" y="1078407"/>
                </a:lnTo>
                <a:lnTo>
                  <a:pt x="358813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 descr="$PPTXTitle"/>
          <p:cNvSpPr txBox="1"/>
          <p:nvPr/>
        </p:nvSpPr>
        <p:spPr>
          <a:xfrm>
            <a:off x="361149" y="1161958"/>
            <a:ext cx="2674620" cy="41655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515"/>
              </a:lnSpc>
              <a:spcBef>
                <a:spcPts val="135"/>
              </a:spcBef>
            </a:pPr>
            <a:r>
              <a:rPr sz="1400" b="1" spc="-135" dirty="0">
                <a:solidFill>
                  <a:srgbClr val="003476"/>
                </a:solidFill>
                <a:latin typeface="Tahoma"/>
                <a:cs typeface="Tahoma"/>
              </a:rPr>
              <a:t>Flow</a:t>
            </a:r>
            <a:r>
              <a:rPr sz="1400" b="1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25" dirty="0">
                <a:solidFill>
                  <a:srgbClr val="003476"/>
                </a:solidFill>
                <a:latin typeface="Tahoma"/>
                <a:cs typeface="Tahoma"/>
              </a:rPr>
              <a:t>simulation</a:t>
            </a:r>
            <a:r>
              <a:rPr sz="1400" b="1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25" dirty="0">
                <a:solidFill>
                  <a:srgbClr val="003476"/>
                </a:solidFill>
                <a:latin typeface="Tahoma"/>
                <a:cs typeface="Tahoma"/>
              </a:rPr>
              <a:t>around</a:t>
            </a:r>
            <a:r>
              <a:rPr sz="1400" b="1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14" dirty="0">
                <a:solidFill>
                  <a:srgbClr val="003476"/>
                </a:solidFill>
                <a:latin typeface="Tahoma"/>
                <a:cs typeface="Tahoma"/>
              </a:rPr>
              <a:t>bluff</a:t>
            </a:r>
            <a:r>
              <a:rPr sz="1400" b="1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85" dirty="0">
                <a:solidFill>
                  <a:srgbClr val="003476"/>
                </a:solidFill>
                <a:latin typeface="Tahoma"/>
                <a:cs typeface="Tahoma"/>
              </a:rPr>
              <a:t>body:</a:t>
            </a:r>
            <a:endParaRPr sz="1400">
              <a:latin typeface="Tahoma"/>
              <a:cs typeface="Tahoma"/>
            </a:endParaRPr>
          </a:p>
          <a:p>
            <a:pPr marL="12700">
              <a:lnSpc>
                <a:spcPts val="1515"/>
              </a:lnSpc>
            </a:pPr>
            <a:r>
              <a:rPr sz="1400" b="1" i="1" spc="-20" dirty="0">
                <a:solidFill>
                  <a:srgbClr val="003476"/>
                </a:solidFill>
                <a:latin typeface="Calibri"/>
                <a:cs typeface="Calibri"/>
              </a:rPr>
              <a:t>k-</a:t>
            </a:r>
            <a:r>
              <a:rPr sz="1400" spc="280" dirty="0">
                <a:solidFill>
                  <a:srgbClr val="003476"/>
                </a:solidFill>
                <a:latin typeface="Lucida Sans Unicode"/>
                <a:cs typeface="Lucida Sans Unicode"/>
              </a:rPr>
              <a:t>ř</a:t>
            </a:r>
            <a:r>
              <a:rPr sz="1400" spc="-110" dirty="0">
                <a:solidFill>
                  <a:srgbClr val="003476"/>
                </a:solidFill>
                <a:latin typeface="Lucida Sans Unicode"/>
                <a:cs typeface="Lucida Sans Unicode"/>
              </a:rPr>
              <a:t> </a:t>
            </a:r>
            <a:r>
              <a:rPr sz="1400" b="1" spc="-170" dirty="0">
                <a:solidFill>
                  <a:srgbClr val="003476"/>
                </a:solidFill>
                <a:latin typeface="Tahoma"/>
                <a:cs typeface="Tahoma"/>
              </a:rPr>
              <a:t>RANS</a:t>
            </a:r>
            <a:r>
              <a:rPr sz="1400" b="1" spc="-7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20" dirty="0">
                <a:solidFill>
                  <a:srgbClr val="003476"/>
                </a:solidFill>
                <a:latin typeface="Tahoma"/>
                <a:cs typeface="Tahoma"/>
              </a:rPr>
              <a:t>model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321894" y="3016594"/>
            <a:ext cx="228600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50" dirty="0">
                <a:solidFill>
                  <a:srgbClr val="FFFFFF"/>
                </a:solidFill>
                <a:latin typeface="Tahoma"/>
                <a:cs typeface="Tahoma"/>
              </a:rPr>
              <a:t>1</a:t>
            </a:fld>
            <a:r>
              <a:rPr sz="800" spc="-50" dirty="0">
                <a:solidFill>
                  <a:srgbClr val="FFFFF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61149" y="1520324"/>
            <a:ext cx="2841625" cy="553085"/>
          </a:xfrm>
          <a:prstGeom prst="rect">
            <a:avLst/>
          </a:prstGeom>
        </p:spPr>
        <p:txBody>
          <a:bodyPr vert="horz" wrap="square" lIns="0" tIns="660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520"/>
              </a:spcBef>
            </a:pP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Computational</a:t>
            </a:r>
            <a:r>
              <a:rPr sz="900" spc="-30" dirty="0">
                <a:solidFill>
                  <a:srgbClr val="003476"/>
                </a:solidFill>
                <a:latin typeface="Tahoma"/>
                <a:cs typeface="Tahoma"/>
              </a:rPr>
              <a:t> Fluid </a:t>
            </a:r>
            <a:r>
              <a:rPr sz="900" spc="-45" dirty="0">
                <a:solidFill>
                  <a:srgbClr val="003476"/>
                </a:solidFill>
                <a:latin typeface="Tahoma"/>
                <a:cs typeface="Tahoma"/>
              </a:rPr>
              <a:t>Dynamics</a:t>
            </a:r>
            <a:r>
              <a:rPr sz="900" spc="-2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45" dirty="0">
                <a:solidFill>
                  <a:srgbClr val="003476"/>
                </a:solidFill>
                <a:latin typeface="Tahoma"/>
                <a:cs typeface="Tahoma"/>
              </a:rPr>
              <a:t>and</a:t>
            </a:r>
            <a:r>
              <a:rPr sz="900" spc="-30" dirty="0">
                <a:solidFill>
                  <a:srgbClr val="003476"/>
                </a:solidFill>
                <a:latin typeface="Tahoma"/>
                <a:cs typeface="Tahoma"/>
              </a:rPr>
              <a:t> Wind</a:t>
            </a:r>
            <a:r>
              <a:rPr sz="900" spc="-2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Engineering</a:t>
            </a:r>
            <a:endParaRPr sz="9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75"/>
              </a:spcBef>
            </a:pPr>
            <a:r>
              <a:rPr sz="800" b="1" spc="-85" dirty="0">
                <a:latin typeface="Tahoma"/>
                <a:cs typeface="Tahoma"/>
              </a:rPr>
              <a:t>Maccarone</a:t>
            </a:r>
            <a:r>
              <a:rPr sz="800" b="1" spc="-5" dirty="0">
                <a:latin typeface="Tahoma"/>
                <a:cs typeface="Tahoma"/>
              </a:rPr>
              <a:t> </a:t>
            </a:r>
            <a:r>
              <a:rPr sz="800" b="1" spc="-90" dirty="0">
                <a:latin typeface="Tahoma"/>
                <a:cs typeface="Tahoma"/>
              </a:rPr>
              <a:t>Giovanna</a:t>
            </a:r>
            <a:r>
              <a:rPr sz="800" b="1" spc="-5" dirty="0">
                <a:latin typeface="Tahoma"/>
                <a:cs typeface="Tahoma"/>
              </a:rPr>
              <a:t> </a:t>
            </a:r>
            <a:r>
              <a:rPr sz="800" b="1" spc="-114" dirty="0">
                <a:latin typeface="Tahoma"/>
                <a:cs typeface="Tahoma"/>
              </a:rPr>
              <a:t>s349134,</a:t>
            </a:r>
            <a:r>
              <a:rPr sz="800" b="1" dirty="0">
                <a:latin typeface="Tahoma"/>
                <a:cs typeface="Tahoma"/>
              </a:rPr>
              <a:t> </a:t>
            </a:r>
            <a:r>
              <a:rPr sz="800" b="1" spc="-75" dirty="0">
                <a:latin typeface="Tahoma"/>
                <a:cs typeface="Tahoma"/>
              </a:rPr>
              <a:t>Morandi</a:t>
            </a:r>
            <a:r>
              <a:rPr sz="800" b="1" spc="-5" dirty="0">
                <a:latin typeface="Tahoma"/>
                <a:cs typeface="Tahoma"/>
              </a:rPr>
              <a:t> </a:t>
            </a:r>
            <a:r>
              <a:rPr sz="800" b="1" spc="-95" dirty="0">
                <a:latin typeface="Tahoma"/>
                <a:cs typeface="Tahoma"/>
              </a:rPr>
              <a:t>Simone</a:t>
            </a:r>
            <a:r>
              <a:rPr sz="800" b="1" dirty="0">
                <a:latin typeface="Tahoma"/>
                <a:cs typeface="Tahoma"/>
              </a:rPr>
              <a:t> </a:t>
            </a:r>
            <a:r>
              <a:rPr sz="800" b="1" spc="-90" dirty="0">
                <a:latin typeface="Tahoma"/>
                <a:cs typeface="Tahoma"/>
              </a:rPr>
              <a:t>Domenico</a:t>
            </a:r>
            <a:r>
              <a:rPr sz="800" b="1" spc="-5" dirty="0">
                <a:latin typeface="Tahoma"/>
                <a:cs typeface="Tahoma"/>
              </a:rPr>
              <a:t> </a:t>
            </a:r>
            <a:r>
              <a:rPr sz="800" b="1" spc="-95" dirty="0">
                <a:latin typeface="Tahoma"/>
                <a:cs typeface="Tahoma"/>
              </a:rPr>
              <a:t>s336974</a:t>
            </a:r>
            <a:endParaRPr sz="8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595"/>
              </a:spcBef>
            </a:pPr>
            <a:r>
              <a:rPr sz="600" spc="-40" dirty="0">
                <a:latin typeface="Tahoma"/>
                <a:cs typeface="Tahoma"/>
              </a:rPr>
              <a:t>June</a:t>
            </a:r>
            <a:r>
              <a:rPr sz="600" spc="-30" dirty="0">
                <a:latin typeface="Tahoma"/>
                <a:cs typeface="Tahoma"/>
              </a:rPr>
              <a:t> </a:t>
            </a:r>
            <a:r>
              <a:rPr sz="600" spc="-70" dirty="0">
                <a:latin typeface="Tahoma"/>
                <a:cs typeface="Tahoma"/>
              </a:rPr>
              <a:t>13,</a:t>
            </a:r>
            <a:r>
              <a:rPr sz="600" spc="-30" dirty="0">
                <a:latin typeface="Tahoma"/>
                <a:cs typeface="Tahoma"/>
              </a:rPr>
              <a:t> </a:t>
            </a:r>
            <a:r>
              <a:rPr sz="600" spc="-20" dirty="0">
                <a:latin typeface="Tahoma"/>
                <a:cs typeface="Tahoma"/>
              </a:rPr>
              <a:t>2026</a:t>
            </a:r>
            <a:endParaRPr sz="6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00347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67295" y="252930"/>
            <a:ext cx="1339215" cy="3695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z="1400" b="1" spc="-150" dirty="0">
                <a:solidFill>
                  <a:srgbClr val="FFFFFF"/>
                </a:solidFill>
                <a:latin typeface="Tahoma"/>
                <a:cs typeface="Tahoma"/>
              </a:rPr>
              <a:t>Table</a:t>
            </a:r>
            <a:r>
              <a:rPr sz="1400" b="1" spc="-7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b="1" spc="-100" dirty="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sz="140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b="1" spc="-125" dirty="0">
                <a:solidFill>
                  <a:srgbClr val="FFFFFF"/>
                </a:solidFill>
                <a:latin typeface="Tahoma"/>
                <a:cs typeface="Tahoma"/>
              </a:rPr>
              <a:t>Contents</a:t>
            </a:r>
            <a:endParaRPr sz="1400">
              <a:latin typeface="Tahoma"/>
              <a:cs typeface="Tahoma"/>
            </a:endParaRPr>
          </a:p>
          <a:p>
            <a:pPr marL="12700">
              <a:lnSpc>
                <a:spcPts val="1040"/>
              </a:lnSpc>
            </a:pPr>
            <a:r>
              <a:rPr sz="900" spc="-180" dirty="0">
                <a:solidFill>
                  <a:srgbClr val="FFFFFF"/>
                </a:solidFill>
                <a:latin typeface="Tahoma"/>
                <a:cs typeface="Tahoma"/>
              </a:rPr>
              <a:t>1</a:t>
            </a:r>
            <a:r>
              <a:rPr sz="900" spc="114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FFFFFF"/>
                </a:solidFill>
                <a:latin typeface="Tahoma"/>
                <a:cs typeface="Tahoma"/>
              </a:rPr>
              <a:t>Initial</a:t>
            </a:r>
            <a:r>
              <a:rPr sz="900" spc="-55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FFFFFF"/>
                </a:solidFill>
                <a:latin typeface="Tahoma"/>
                <a:cs typeface="Tahoma"/>
              </a:rPr>
              <a:t>Problem</a:t>
            </a:r>
            <a:endParaRPr sz="9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1894" y="3016594"/>
            <a:ext cx="228600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50" dirty="0">
                <a:solidFill>
                  <a:srgbClr val="FFFFFF"/>
                </a:solidFill>
                <a:latin typeface="Tahoma"/>
                <a:cs typeface="Tahoma"/>
              </a:rPr>
              <a:t>2</a:t>
            </a:fld>
            <a:r>
              <a:rPr sz="800" spc="-50" dirty="0">
                <a:solidFill>
                  <a:srgbClr val="FFFFF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7294" y="1136178"/>
            <a:ext cx="1585595" cy="109855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8430">
              <a:lnSpc>
                <a:spcPct val="100000"/>
              </a:lnSpc>
              <a:spcBef>
                <a:spcPts val="90"/>
              </a:spcBef>
              <a:buClr>
                <a:srgbClr val="FFFFFF"/>
              </a:buClr>
              <a:buFont typeface="Lucida Sans Unicode"/>
              <a:buChar char="►"/>
              <a:tabLst>
                <a:tab pos="151130" algn="l"/>
              </a:tabLst>
            </a:pPr>
            <a:r>
              <a:rPr sz="1100" spc="-4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Initial</a:t>
            </a:r>
            <a:r>
              <a:rPr sz="1100" spc="-65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FFFFFF"/>
                </a:solidFill>
                <a:latin typeface="Tahoma"/>
                <a:cs typeface="Tahoma"/>
                <a:hlinkClick r:id="rId3" action="ppaction://hlinksldjump"/>
              </a:rPr>
              <a:t>Problem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19"/>
              </a:spcBef>
              <a:buFont typeface="Lucida Sans Unicode"/>
              <a:buChar char="►"/>
            </a:pPr>
            <a:endParaRPr sz="1100">
              <a:latin typeface="Tahoma"/>
              <a:cs typeface="Tahoma"/>
            </a:endParaRPr>
          </a:p>
          <a:p>
            <a:pPr marL="151130" indent="-138430">
              <a:lnSpc>
                <a:spcPct val="100000"/>
              </a:lnSpc>
              <a:buFont typeface="Lucida Sans Unicode"/>
              <a:buChar char="►"/>
              <a:tabLst>
                <a:tab pos="151130" algn="l"/>
              </a:tabLst>
            </a:pPr>
            <a:r>
              <a:rPr sz="1100" spc="-45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Initializing</a:t>
            </a:r>
            <a:r>
              <a:rPr sz="1100" spc="-40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5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the</a:t>
            </a:r>
            <a:r>
              <a:rPr sz="1100" spc="-40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5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Simulation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19"/>
              </a:spcBef>
              <a:buFont typeface="Lucida Sans Unicode"/>
              <a:buChar char="►"/>
            </a:pPr>
            <a:endParaRPr sz="1100">
              <a:latin typeface="Tahoma"/>
              <a:cs typeface="Tahoma"/>
            </a:endParaRPr>
          </a:p>
          <a:p>
            <a:pPr marL="151130" indent="-138430">
              <a:lnSpc>
                <a:spcPct val="100000"/>
              </a:lnSpc>
              <a:buFont typeface="Lucida Sans Unicode"/>
              <a:buChar char="►"/>
              <a:tabLst>
                <a:tab pos="151130" algn="l"/>
              </a:tabLst>
            </a:pPr>
            <a:r>
              <a:rPr sz="1100" spc="-10" dirty="0">
                <a:solidFill>
                  <a:srgbClr val="335D91"/>
                </a:solidFill>
                <a:latin typeface="Tahoma"/>
                <a:cs typeface="Tahoma"/>
                <a:hlinkClick r:id="rId5" action="ppaction://hlinksldjump"/>
              </a:rPr>
              <a:t>Results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67295" y="252930"/>
            <a:ext cx="232727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35" dirty="0">
                <a:solidFill>
                  <a:srgbClr val="003476"/>
                </a:solidFill>
              </a:rPr>
              <a:t>Project</a:t>
            </a:r>
            <a:r>
              <a:rPr spc="-55" dirty="0">
                <a:solidFill>
                  <a:srgbClr val="003476"/>
                </a:solidFill>
              </a:rPr>
              <a:t> </a:t>
            </a:r>
            <a:r>
              <a:rPr spc="-135" dirty="0">
                <a:solidFill>
                  <a:srgbClr val="003476"/>
                </a:solidFill>
              </a:rPr>
              <a:t>Overview</a:t>
            </a:r>
            <a:r>
              <a:rPr spc="-50" dirty="0">
                <a:solidFill>
                  <a:srgbClr val="003476"/>
                </a:solidFill>
              </a:rPr>
              <a:t> </a:t>
            </a:r>
            <a:r>
              <a:rPr spc="-105" dirty="0">
                <a:solidFill>
                  <a:srgbClr val="003476"/>
                </a:solidFill>
              </a:rPr>
              <a:t>&amp;</a:t>
            </a:r>
            <a:r>
              <a:rPr spc="-50" dirty="0">
                <a:solidFill>
                  <a:srgbClr val="003476"/>
                </a:solidFill>
              </a:rPr>
              <a:t> </a:t>
            </a:r>
            <a:r>
              <a:rPr spc="-114" dirty="0">
                <a:solidFill>
                  <a:srgbClr val="003476"/>
                </a:solidFill>
              </a:rPr>
              <a:t>Objectives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21894" y="3016594"/>
            <a:ext cx="228600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50" dirty="0">
                <a:solidFill>
                  <a:srgbClr val="FFFFFF"/>
                </a:solidFill>
                <a:latin typeface="Tahoma"/>
                <a:cs typeface="Tahoma"/>
              </a:rPr>
              <a:t>3</a:t>
            </a:fld>
            <a:r>
              <a:rPr sz="800" spc="-50" dirty="0">
                <a:solidFill>
                  <a:srgbClr val="FFFFF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422483"/>
            <a:ext cx="4683125" cy="2498090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732155">
              <a:lnSpc>
                <a:spcPct val="100000"/>
              </a:lnSpc>
              <a:spcBef>
                <a:spcPts val="395"/>
              </a:spcBef>
            </a:pPr>
            <a:r>
              <a:rPr sz="900" spc="-180" dirty="0">
                <a:solidFill>
                  <a:srgbClr val="003476"/>
                </a:solidFill>
                <a:latin typeface="Tahoma"/>
                <a:cs typeface="Tahoma"/>
              </a:rPr>
              <a:t>1</a:t>
            </a:r>
            <a:r>
              <a:rPr sz="900" spc="114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Initial</a:t>
            </a:r>
            <a:r>
              <a:rPr sz="90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Problem</a:t>
            </a:r>
            <a:endParaRPr sz="9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355"/>
              </a:spcBef>
            </a:pPr>
            <a:r>
              <a:rPr sz="1100" b="1" spc="-125" dirty="0">
                <a:solidFill>
                  <a:srgbClr val="3F3F3F"/>
                </a:solidFill>
                <a:latin typeface="Tahoma"/>
                <a:cs typeface="Tahoma"/>
              </a:rPr>
              <a:t>Flow</a:t>
            </a:r>
            <a:r>
              <a:rPr sz="1100" b="1" spc="-50" dirty="0">
                <a:solidFill>
                  <a:srgbClr val="3F3F3F"/>
                </a:solidFill>
                <a:latin typeface="Tahoma"/>
                <a:cs typeface="Tahoma"/>
              </a:rPr>
              <a:t> Configuration:</a:t>
            </a:r>
            <a:endParaRPr sz="1100">
              <a:latin typeface="Tahoma"/>
              <a:cs typeface="Tahoma"/>
            </a:endParaRPr>
          </a:p>
          <a:p>
            <a:pPr marL="289560" marR="5080" indent="-138430">
              <a:lnSpc>
                <a:spcPct val="102600"/>
              </a:lnSpc>
              <a:spcBef>
                <a:spcPts val="70"/>
              </a:spcBef>
              <a:buClr>
                <a:srgbClr val="003476"/>
              </a:buClr>
              <a:buChar char="•"/>
              <a:tabLst>
                <a:tab pos="289560" algn="l"/>
              </a:tabLst>
            </a:pP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Two-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dimensional,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 incompressible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flow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past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a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sharp-edged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square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 cylinder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in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a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subcritic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regime.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ts val="1295"/>
              </a:lnSpc>
              <a:spcBef>
                <a:spcPts val="1235"/>
              </a:spcBef>
            </a:pPr>
            <a:r>
              <a:rPr sz="1100" b="1" spc="-125" dirty="0">
                <a:solidFill>
                  <a:srgbClr val="3F3F3F"/>
                </a:solidFill>
                <a:latin typeface="Tahoma"/>
                <a:cs typeface="Tahoma"/>
              </a:rPr>
              <a:t>Physical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25" dirty="0">
                <a:solidFill>
                  <a:srgbClr val="3F3F3F"/>
                </a:solidFill>
                <a:latin typeface="Tahoma"/>
                <a:cs typeface="Tahoma"/>
              </a:rPr>
              <a:t>Challenge: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ts val="1290"/>
              </a:lnSpc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Accurately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predicting:</a:t>
            </a:r>
            <a:endParaRPr sz="1100">
              <a:latin typeface="Tahoma"/>
              <a:cs typeface="Tahoma"/>
            </a:endParaRPr>
          </a:p>
          <a:p>
            <a:pPr marL="566420" lvl="1" indent="-183515">
              <a:lnSpc>
                <a:spcPts val="1195"/>
              </a:lnSpc>
              <a:buClr>
                <a:srgbClr val="003476"/>
              </a:buClr>
              <a:buChar char="—"/>
              <a:tabLst>
                <a:tab pos="566420" algn="l"/>
              </a:tabLst>
            </a:pPr>
            <a:r>
              <a:rPr sz="1000" spc="-60" dirty="0">
                <a:solidFill>
                  <a:srgbClr val="3F3F3F"/>
                </a:solidFill>
                <a:latin typeface="Tahoma"/>
                <a:cs typeface="Tahoma"/>
              </a:rPr>
              <a:t>Shear</a:t>
            </a:r>
            <a:r>
              <a:rPr sz="10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45" dirty="0">
                <a:solidFill>
                  <a:srgbClr val="3F3F3F"/>
                </a:solidFill>
                <a:latin typeface="Tahoma"/>
                <a:cs typeface="Tahoma"/>
              </a:rPr>
              <a:t>layer </a:t>
            </a:r>
            <a:r>
              <a:rPr sz="1000" spc="-10" dirty="0">
                <a:solidFill>
                  <a:srgbClr val="3F3F3F"/>
                </a:solidFill>
                <a:latin typeface="Tahoma"/>
                <a:cs typeface="Tahoma"/>
              </a:rPr>
              <a:t>separation</a:t>
            </a:r>
            <a:endParaRPr sz="1000">
              <a:latin typeface="Tahoma"/>
              <a:cs typeface="Tahoma"/>
            </a:endParaRPr>
          </a:p>
          <a:p>
            <a:pPr marL="566420" lvl="1" indent="-183515">
              <a:lnSpc>
                <a:spcPts val="1195"/>
              </a:lnSpc>
              <a:buClr>
                <a:srgbClr val="003476"/>
              </a:buClr>
              <a:buChar char="—"/>
              <a:tabLst>
                <a:tab pos="566420" algn="l"/>
              </a:tabLst>
            </a:pPr>
            <a:r>
              <a:rPr sz="1000" spc="-35" dirty="0">
                <a:solidFill>
                  <a:srgbClr val="3F3F3F"/>
                </a:solidFill>
                <a:latin typeface="Tahoma"/>
                <a:cs typeface="Tahoma"/>
              </a:rPr>
              <a:t>Flow</a:t>
            </a:r>
            <a:r>
              <a:rPr sz="10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F3F3F"/>
                </a:solidFill>
                <a:latin typeface="Tahoma"/>
                <a:cs typeface="Tahoma"/>
              </a:rPr>
              <a:t>reattachment</a:t>
            </a:r>
            <a:endParaRPr sz="1000">
              <a:latin typeface="Tahoma"/>
              <a:cs typeface="Tahoma"/>
            </a:endParaRPr>
          </a:p>
          <a:p>
            <a:pPr marL="566420" lvl="1" indent="-183515">
              <a:lnSpc>
                <a:spcPts val="1200"/>
              </a:lnSpc>
              <a:buClr>
                <a:srgbClr val="003476"/>
              </a:buClr>
              <a:buChar char="—"/>
              <a:tabLst>
                <a:tab pos="566420" algn="l"/>
              </a:tabLst>
            </a:pPr>
            <a:r>
              <a:rPr sz="1000" spc="-45" dirty="0">
                <a:solidFill>
                  <a:srgbClr val="3F3F3F"/>
                </a:solidFill>
                <a:latin typeface="Tahoma"/>
                <a:cs typeface="Tahoma"/>
              </a:rPr>
              <a:t>Unsteady</a:t>
            </a:r>
            <a:r>
              <a:rPr sz="10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60" dirty="0">
                <a:solidFill>
                  <a:srgbClr val="3F3F3F"/>
                </a:solidFill>
                <a:latin typeface="Tahoma"/>
                <a:cs typeface="Tahoma"/>
              </a:rPr>
              <a:t>wake</a:t>
            </a:r>
            <a:r>
              <a:rPr sz="10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50" dirty="0">
                <a:solidFill>
                  <a:srgbClr val="3F3F3F"/>
                </a:solidFill>
                <a:latin typeface="Tahoma"/>
                <a:cs typeface="Tahoma"/>
              </a:rPr>
              <a:t>dynamics</a:t>
            </a:r>
            <a:r>
              <a:rPr sz="1000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55" dirty="0">
                <a:solidFill>
                  <a:srgbClr val="3F3F3F"/>
                </a:solidFill>
                <a:latin typeface="Tahoma"/>
                <a:cs typeface="Tahoma"/>
              </a:rPr>
              <a:t>(vortex</a:t>
            </a:r>
            <a:r>
              <a:rPr sz="1000" spc="-3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F3F3F"/>
                </a:solidFill>
                <a:latin typeface="Tahoma"/>
                <a:cs typeface="Tahoma"/>
              </a:rPr>
              <a:t>shedding)</a:t>
            </a:r>
            <a:endParaRPr sz="1000">
              <a:latin typeface="Tahoma"/>
              <a:cs typeface="Tahoma"/>
            </a:endParaRPr>
          </a:p>
          <a:p>
            <a:pPr lvl="1">
              <a:lnSpc>
                <a:spcPct val="100000"/>
              </a:lnSpc>
              <a:spcBef>
                <a:spcPts val="50"/>
              </a:spcBef>
              <a:buClr>
                <a:srgbClr val="003476"/>
              </a:buClr>
              <a:buFont typeface="Tahoma"/>
              <a:buChar char="—"/>
            </a:pPr>
            <a:endParaRPr sz="1000">
              <a:latin typeface="Tahoma"/>
              <a:cs typeface="Tahoma"/>
            </a:endParaRPr>
          </a:p>
          <a:p>
            <a:pPr marL="12700">
              <a:lnSpc>
                <a:spcPts val="1295"/>
              </a:lnSpc>
              <a:spcBef>
                <a:spcPts val="5"/>
              </a:spcBef>
            </a:pPr>
            <a:r>
              <a:rPr sz="1100" b="1" spc="-120" dirty="0">
                <a:solidFill>
                  <a:srgbClr val="3F3F3F"/>
                </a:solidFill>
                <a:latin typeface="Tahoma"/>
                <a:cs typeface="Tahoma"/>
              </a:rPr>
              <a:t>Project</a:t>
            </a:r>
            <a:r>
              <a:rPr sz="1100" b="1" spc="-2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3F3F3F"/>
                </a:solidFill>
                <a:latin typeface="Tahoma"/>
                <a:cs typeface="Tahoma"/>
              </a:rPr>
              <a:t>Objective: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ts val="1290"/>
              </a:lnSpc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Compare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performance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two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RANS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turbulence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models:</a:t>
            </a:r>
            <a:endParaRPr sz="1100">
              <a:latin typeface="Tahoma"/>
              <a:cs typeface="Tahoma"/>
            </a:endParaRPr>
          </a:p>
          <a:p>
            <a:pPr marL="566420" lvl="1" indent="-183515">
              <a:lnSpc>
                <a:spcPts val="1195"/>
              </a:lnSpc>
              <a:buClr>
                <a:srgbClr val="003476"/>
              </a:buClr>
              <a:buFont typeface="Tahoma"/>
              <a:buChar char="—"/>
              <a:tabLst>
                <a:tab pos="566420" algn="l"/>
              </a:tabLst>
            </a:pPr>
            <a:r>
              <a:rPr sz="1000" i="1" dirty="0">
                <a:solidFill>
                  <a:srgbClr val="3F3F3F"/>
                </a:solidFill>
                <a:latin typeface="Cambria"/>
                <a:cs typeface="Cambria"/>
              </a:rPr>
              <a:t>k </a:t>
            </a:r>
            <a:r>
              <a:rPr sz="1000" i="1" spc="-50" dirty="0">
                <a:solidFill>
                  <a:srgbClr val="3F3F3F"/>
                </a:solidFill>
                <a:latin typeface="Verdana"/>
                <a:cs typeface="Verdana"/>
              </a:rPr>
              <a:t>−</a:t>
            </a:r>
            <a:r>
              <a:rPr sz="1000" i="1" spc="-130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000" i="1" spc="-35" dirty="0">
                <a:solidFill>
                  <a:srgbClr val="3F3F3F"/>
                </a:solidFill>
                <a:latin typeface="Arial"/>
                <a:cs typeface="Arial"/>
              </a:rPr>
              <a:t>ϵ</a:t>
            </a:r>
            <a:r>
              <a:rPr sz="1000" i="1" spc="-55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000" b="1" spc="-25" dirty="0">
                <a:solidFill>
                  <a:srgbClr val="3F3F3F"/>
                </a:solidFill>
                <a:latin typeface="Tahoma"/>
                <a:cs typeface="Tahoma"/>
              </a:rPr>
              <a:t>RNG</a:t>
            </a:r>
            <a:endParaRPr sz="1000">
              <a:latin typeface="Tahoma"/>
              <a:cs typeface="Tahoma"/>
            </a:endParaRPr>
          </a:p>
          <a:p>
            <a:pPr marL="566420" lvl="1" indent="-183515">
              <a:lnSpc>
                <a:spcPts val="1200"/>
              </a:lnSpc>
              <a:buClr>
                <a:srgbClr val="003476"/>
              </a:buClr>
              <a:buFont typeface="Tahoma"/>
              <a:buChar char="—"/>
              <a:tabLst>
                <a:tab pos="566420" algn="l"/>
              </a:tabLst>
            </a:pPr>
            <a:r>
              <a:rPr sz="1000" i="1" dirty="0">
                <a:solidFill>
                  <a:srgbClr val="3F3F3F"/>
                </a:solidFill>
                <a:latin typeface="Cambria"/>
                <a:cs typeface="Cambria"/>
              </a:rPr>
              <a:t>k </a:t>
            </a:r>
            <a:r>
              <a:rPr sz="1000" i="1" spc="-50" dirty="0">
                <a:solidFill>
                  <a:srgbClr val="3F3F3F"/>
                </a:solidFill>
                <a:latin typeface="Verdana"/>
                <a:cs typeface="Verdana"/>
              </a:rPr>
              <a:t>−</a:t>
            </a:r>
            <a:r>
              <a:rPr sz="1000" i="1" spc="-125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000" i="1" spc="-170" dirty="0">
                <a:solidFill>
                  <a:srgbClr val="3F3F3F"/>
                </a:solidFill>
                <a:latin typeface="Arial"/>
                <a:cs typeface="Arial"/>
              </a:rPr>
              <a:t>ω</a:t>
            </a:r>
            <a:r>
              <a:rPr sz="1000" i="1" spc="-15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3F3F3F"/>
                </a:solidFill>
                <a:latin typeface="Tahoma"/>
                <a:cs typeface="Tahoma"/>
              </a:rPr>
              <a:t>Standard</a:t>
            </a:r>
            <a:endParaRPr sz="10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67295" y="252930"/>
            <a:ext cx="287845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35" dirty="0">
                <a:solidFill>
                  <a:srgbClr val="003476"/>
                </a:solidFill>
              </a:rPr>
              <a:t>Flow</a:t>
            </a:r>
            <a:r>
              <a:rPr spc="-55" dirty="0">
                <a:solidFill>
                  <a:srgbClr val="003476"/>
                </a:solidFill>
              </a:rPr>
              <a:t> </a:t>
            </a:r>
            <a:r>
              <a:rPr spc="-130" dirty="0">
                <a:solidFill>
                  <a:srgbClr val="003476"/>
                </a:solidFill>
              </a:rPr>
              <a:t>Configuration</a:t>
            </a:r>
            <a:r>
              <a:rPr spc="-45" dirty="0">
                <a:solidFill>
                  <a:srgbClr val="003476"/>
                </a:solidFill>
              </a:rPr>
              <a:t> </a:t>
            </a:r>
            <a:r>
              <a:rPr spc="-105" dirty="0">
                <a:solidFill>
                  <a:srgbClr val="003476"/>
                </a:solidFill>
              </a:rPr>
              <a:t>&amp;</a:t>
            </a:r>
            <a:r>
              <a:rPr spc="-50" dirty="0">
                <a:solidFill>
                  <a:srgbClr val="003476"/>
                </a:solidFill>
              </a:rPr>
              <a:t> </a:t>
            </a:r>
            <a:r>
              <a:rPr spc="-135" dirty="0">
                <a:solidFill>
                  <a:srgbClr val="003476"/>
                </a:solidFill>
              </a:rPr>
              <a:t>Boundary</a:t>
            </a:r>
            <a:r>
              <a:rPr spc="-55" dirty="0">
                <a:solidFill>
                  <a:srgbClr val="003476"/>
                </a:solidFill>
              </a:rPr>
              <a:t> </a:t>
            </a:r>
            <a:r>
              <a:rPr spc="-100" dirty="0">
                <a:solidFill>
                  <a:srgbClr val="003476"/>
                </a:solidFill>
              </a:rPr>
              <a:t>Setup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21894" y="3016594"/>
            <a:ext cx="236854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4</a:t>
            </a:fld>
            <a:r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34594" y="422483"/>
            <a:ext cx="4794885" cy="2480310"/>
          </a:xfrm>
          <a:prstGeom prst="rect">
            <a:avLst/>
          </a:prstGeom>
        </p:spPr>
        <p:txBody>
          <a:bodyPr vert="horz" wrap="square" lIns="0" tIns="50165" rIns="0" bIns="0" rtlCol="0">
            <a:spAutoFit/>
          </a:bodyPr>
          <a:lstStyle/>
          <a:p>
            <a:pPr marL="744855">
              <a:lnSpc>
                <a:spcPct val="100000"/>
              </a:lnSpc>
              <a:spcBef>
                <a:spcPts val="395"/>
              </a:spcBef>
            </a:pPr>
            <a:r>
              <a:rPr sz="900" spc="-180" dirty="0">
                <a:solidFill>
                  <a:srgbClr val="003476"/>
                </a:solidFill>
                <a:latin typeface="Tahoma"/>
                <a:cs typeface="Tahoma"/>
              </a:rPr>
              <a:t>1</a:t>
            </a:r>
            <a:r>
              <a:rPr sz="900" spc="114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Initial</a:t>
            </a:r>
            <a:r>
              <a:rPr sz="90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Problem</a:t>
            </a:r>
            <a:endParaRPr sz="900">
              <a:latin typeface="Tahoma"/>
              <a:cs typeface="Tahoma"/>
            </a:endParaRPr>
          </a:p>
          <a:p>
            <a:pPr marL="25400">
              <a:lnSpc>
                <a:spcPct val="100000"/>
              </a:lnSpc>
              <a:spcBef>
                <a:spcPts val="355"/>
              </a:spcBef>
            </a:pPr>
            <a:r>
              <a:rPr sz="1100" b="1" spc="-125" dirty="0">
                <a:solidFill>
                  <a:srgbClr val="3F3F3F"/>
                </a:solidFill>
                <a:latin typeface="Tahoma"/>
                <a:cs typeface="Tahoma"/>
              </a:rPr>
              <a:t>Flow</a:t>
            </a:r>
            <a:r>
              <a:rPr sz="1100" b="1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3F3F3F"/>
                </a:solidFill>
                <a:latin typeface="Tahoma"/>
                <a:cs typeface="Tahoma"/>
              </a:rPr>
              <a:t>Properties: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55"/>
              </a:spcBef>
              <a:buClr>
                <a:srgbClr val="003476"/>
              </a:buClr>
              <a:buChar char="•"/>
              <a:tabLst>
                <a:tab pos="302895" algn="l"/>
              </a:tabLst>
            </a:pP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Unsteady, 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2D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flow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past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a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square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cylinder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(reference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dimension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spc="-25" dirty="0">
                <a:solidFill>
                  <a:srgbClr val="3F3F3F"/>
                </a:solidFill>
                <a:latin typeface="Cambria"/>
                <a:cs typeface="Cambria"/>
              </a:rPr>
              <a:t>B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).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20"/>
              </a:spcBef>
              <a:buClr>
                <a:srgbClr val="003476"/>
              </a:buClr>
              <a:buChar char="•"/>
              <a:tabLst>
                <a:tab pos="302895" algn="l"/>
              </a:tabLst>
            </a:pP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Subcritical</a:t>
            </a:r>
            <a:r>
              <a:rPr sz="1100" spc="-9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regime: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Re</a:t>
            </a:r>
            <a:r>
              <a:rPr sz="1100" i="1" spc="75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i="1" spc="-60" dirty="0">
                <a:solidFill>
                  <a:srgbClr val="3F3F3F"/>
                </a:solidFill>
                <a:latin typeface="Verdana"/>
                <a:cs typeface="Verdana"/>
              </a:rPr>
              <a:t>≈</a:t>
            </a:r>
            <a:r>
              <a:rPr sz="1100" i="1" spc="-75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2</a:t>
            </a:r>
            <a:r>
              <a:rPr sz="1100" i="1" dirty="0">
                <a:solidFill>
                  <a:srgbClr val="3F3F3F"/>
                </a:solidFill>
                <a:latin typeface="Arial"/>
                <a:cs typeface="Arial"/>
              </a:rPr>
              <a:t>.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2</a:t>
            </a:r>
            <a:r>
              <a:rPr sz="1100" spc="1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i="1" spc="-60" dirty="0">
                <a:solidFill>
                  <a:srgbClr val="3F3F3F"/>
                </a:solidFill>
                <a:latin typeface="Verdana"/>
                <a:cs typeface="Verdana"/>
              </a:rPr>
              <a:t>×</a:t>
            </a:r>
            <a:r>
              <a:rPr sz="1100" i="1" spc="-135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100" spc="-20" dirty="0">
                <a:solidFill>
                  <a:srgbClr val="3F3F3F"/>
                </a:solidFill>
                <a:latin typeface="Cambria"/>
                <a:cs typeface="Cambria"/>
              </a:rPr>
              <a:t>10</a:t>
            </a:r>
            <a:r>
              <a:rPr sz="1200" spc="-30" baseline="27777" dirty="0">
                <a:solidFill>
                  <a:srgbClr val="3F3F3F"/>
                </a:solidFill>
                <a:latin typeface="Cambria"/>
                <a:cs typeface="Cambria"/>
              </a:rPr>
              <a:t>4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20"/>
              </a:spcBef>
              <a:buClr>
                <a:srgbClr val="003476"/>
              </a:buClr>
              <a:buChar char="•"/>
              <a:tabLst>
                <a:tab pos="302895" algn="l"/>
              </a:tabLst>
            </a:pP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Non-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dimensionalized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using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Arial"/>
                <a:cs typeface="Arial"/>
              </a:rPr>
              <a:t>ρ</a:t>
            </a:r>
            <a:r>
              <a:rPr sz="1100" i="1" spc="30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1</a:t>
            </a:r>
            <a:r>
              <a:rPr sz="1100" spc="3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kg/m</a:t>
            </a:r>
            <a:r>
              <a:rPr sz="1200" spc="-67" baseline="27777" dirty="0">
                <a:solidFill>
                  <a:srgbClr val="3F3F3F"/>
                </a:solidFill>
                <a:latin typeface="Cambria"/>
                <a:cs typeface="Cambria"/>
              </a:rPr>
              <a:t>3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,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Arial"/>
                <a:cs typeface="Arial"/>
              </a:rPr>
              <a:t>ν</a:t>
            </a:r>
            <a:r>
              <a:rPr sz="1100" i="1" spc="110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4</a:t>
            </a:r>
            <a:r>
              <a:rPr sz="1100" i="1" dirty="0">
                <a:solidFill>
                  <a:srgbClr val="3F3F3F"/>
                </a:solidFill>
                <a:latin typeface="Arial"/>
                <a:cs typeface="Arial"/>
              </a:rPr>
              <a:t>.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545</a:t>
            </a:r>
            <a:r>
              <a:rPr sz="1100" spc="2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i="1" spc="-60" dirty="0">
                <a:solidFill>
                  <a:srgbClr val="3F3F3F"/>
                </a:solidFill>
                <a:latin typeface="Verdana"/>
                <a:cs typeface="Verdana"/>
              </a:rPr>
              <a:t>×</a:t>
            </a:r>
            <a:r>
              <a:rPr sz="1100" i="1" spc="-114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10</a:t>
            </a:r>
            <a:r>
              <a:rPr sz="1200" i="1" baseline="27777" dirty="0">
                <a:solidFill>
                  <a:srgbClr val="3F3F3F"/>
                </a:solidFill>
                <a:latin typeface="Arial"/>
                <a:cs typeface="Arial"/>
              </a:rPr>
              <a:t>−</a:t>
            </a:r>
            <a:r>
              <a:rPr sz="1200" baseline="27777" dirty="0">
                <a:solidFill>
                  <a:srgbClr val="3F3F3F"/>
                </a:solidFill>
                <a:latin typeface="Cambria"/>
                <a:cs typeface="Cambria"/>
              </a:rPr>
              <a:t>5</a:t>
            </a:r>
            <a:r>
              <a:rPr sz="1200" spc="232" baseline="27777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kg/(m</a:t>
            </a:r>
            <a:r>
              <a:rPr sz="1100" i="1" spc="-75" dirty="0">
                <a:solidFill>
                  <a:srgbClr val="3F3F3F"/>
                </a:solidFill>
                <a:latin typeface="Verdana"/>
                <a:cs typeface="Verdana"/>
              </a:rPr>
              <a:t>·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s),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and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spc="50" dirty="0">
                <a:solidFill>
                  <a:srgbClr val="3F3F3F"/>
                </a:solidFill>
                <a:latin typeface="Cambria"/>
                <a:cs typeface="Cambria"/>
              </a:rPr>
              <a:t>U</a:t>
            </a:r>
            <a:r>
              <a:rPr sz="1200" i="1" spc="75" baseline="-10416" dirty="0">
                <a:solidFill>
                  <a:srgbClr val="3F3F3F"/>
                </a:solidFill>
                <a:latin typeface="Arial"/>
                <a:cs typeface="Arial"/>
              </a:rPr>
              <a:t>∞</a:t>
            </a:r>
            <a:r>
              <a:rPr sz="1100" spc="50" dirty="0">
                <a:solidFill>
                  <a:srgbClr val="3F3F3F"/>
                </a:solidFill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  <a:p>
            <a:pPr marL="25400">
              <a:lnSpc>
                <a:spcPct val="100000"/>
              </a:lnSpc>
              <a:spcBef>
                <a:spcPts val="1005"/>
              </a:spcBef>
            </a:pPr>
            <a:r>
              <a:rPr sz="1100" b="1" spc="-120" dirty="0">
                <a:solidFill>
                  <a:srgbClr val="3F3F3F"/>
                </a:solidFill>
                <a:latin typeface="Tahoma"/>
                <a:cs typeface="Tahoma"/>
              </a:rPr>
              <a:t>Boundary</a:t>
            </a:r>
            <a:r>
              <a:rPr sz="1100" b="1" spc="-3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20" dirty="0">
                <a:solidFill>
                  <a:srgbClr val="3F3F3F"/>
                </a:solidFill>
                <a:latin typeface="Tahoma"/>
                <a:cs typeface="Tahoma"/>
              </a:rPr>
              <a:t>Conditions: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55"/>
              </a:spcBef>
              <a:buClr>
                <a:srgbClr val="003476"/>
              </a:buClr>
              <a:buFont typeface="Tahoma"/>
              <a:buChar char="•"/>
              <a:tabLst>
                <a:tab pos="302895" algn="l"/>
              </a:tabLst>
            </a:pPr>
            <a:r>
              <a:rPr sz="1100" b="1" spc="-130" dirty="0">
                <a:solidFill>
                  <a:srgbClr val="3F3F3F"/>
                </a:solidFill>
                <a:latin typeface="Tahoma"/>
                <a:cs typeface="Tahoma"/>
              </a:rPr>
              <a:t>Inlet:</a:t>
            </a:r>
            <a:r>
              <a:rPr sz="1100" b="1" spc="2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Velocity-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inlet,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Turbulence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Intensity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65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90" dirty="0">
                <a:solidFill>
                  <a:srgbClr val="3F3F3F"/>
                </a:solidFill>
                <a:latin typeface="Cambria"/>
                <a:cs typeface="Cambria"/>
              </a:rPr>
              <a:t>2</a:t>
            </a:r>
            <a:r>
              <a:rPr sz="1100" spc="-90" dirty="0">
                <a:solidFill>
                  <a:srgbClr val="3F3F3F"/>
                </a:solidFill>
                <a:latin typeface="Tahoma"/>
                <a:cs typeface="Tahoma"/>
              </a:rPr>
              <a:t>%,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Length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Scale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65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Cambria"/>
                <a:cs typeface="Cambria"/>
              </a:rPr>
              <a:t>0</a:t>
            </a:r>
            <a:r>
              <a:rPr sz="1100" i="1" spc="-10" dirty="0">
                <a:solidFill>
                  <a:srgbClr val="3F3F3F"/>
                </a:solidFill>
                <a:latin typeface="Arial"/>
                <a:cs typeface="Arial"/>
              </a:rPr>
              <a:t>.</a:t>
            </a:r>
            <a:r>
              <a:rPr sz="1100" spc="-10" dirty="0">
                <a:solidFill>
                  <a:srgbClr val="3F3F3F"/>
                </a:solidFill>
                <a:latin typeface="Cambria"/>
                <a:cs typeface="Cambria"/>
              </a:rPr>
              <a:t>5</a:t>
            </a:r>
            <a:r>
              <a:rPr sz="1100" i="1" spc="-10" dirty="0">
                <a:solidFill>
                  <a:srgbClr val="3F3F3F"/>
                </a:solidFill>
                <a:latin typeface="Cambria"/>
                <a:cs typeface="Cambria"/>
              </a:rPr>
              <a:t>B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20"/>
              </a:spcBef>
              <a:buClr>
                <a:srgbClr val="003476"/>
              </a:buClr>
              <a:buFont typeface="Tahoma"/>
              <a:buChar char="•"/>
              <a:tabLst>
                <a:tab pos="302895" algn="l"/>
              </a:tabLst>
            </a:pPr>
            <a:r>
              <a:rPr sz="1100" b="1" spc="-110" dirty="0">
                <a:solidFill>
                  <a:srgbClr val="3F3F3F"/>
                </a:solidFill>
                <a:latin typeface="Tahoma"/>
                <a:cs typeface="Tahoma"/>
              </a:rPr>
              <a:t>Outlet:</a:t>
            </a:r>
            <a:r>
              <a:rPr sz="1100" b="1" spc="-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Dirichlet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condition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on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pressure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(</a:t>
            </a:r>
            <a:r>
              <a:rPr sz="1100" i="1" spc="-10" dirty="0">
                <a:solidFill>
                  <a:srgbClr val="3F3F3F"/>
                </a:solidFill>
                <a:latin typeface="Cambria"/>
                <a:cs typeface="Cambria"/>
              </a:rPr>
              <a:t>p</a:t>
            </a:r>
            <a:r>
              <a:rPr sz="1200" i="1" spc="-15" baseline="-13888" dirty="0">
                <a:solidFill>
                  <a:srgbClr val="3F3F3F"/>
                </a:solidFill>
                <a:latin typeface="Cambria"/>
                <a:cs typeface="Cambria"/>
              </a:rPr>
              <a:t>rel</a:t>
            </a:r>
            <a:r>
              <a:rPr sz="1200" i="1" spc="322" baseline="-13888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 </a:t>
            </a:r>
            <a:r>
              <a:rPr sz="1100" spc="-25" dirty="0">
                <a:solidFill>
                  <a:srgbClr val="3F3F3F"/>
                </a:solidFill>
                <a:latin typeface="Cambria"/>
                <a:cs typeface="Cambria"/>
              </a:rPr>
              <a:t>0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).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20"/>
              </a:spcBef>
              <a:buClr>
                <a:srgbClr val="003476"/>
              </a:buClr>
              <a:buFont typeface="Tahoma"/>
              <a:buChar char="•"/>
              <a:tabLst>
                <a:tab pos="302895" algn="l"/>
              </a:tabLst>
            </a:pPr>
            <a:r>
              <a:rPr sz="1100" b="1" spc="-130" dirty="0">
                <a:solidFill>
                  <a:srgbClr val="3F3F3F"/>
                </a:solidFill>
                <a:latin typeface="Tahoma"/>
                <a:cs typeface="Tahoma"/>
              </a:rPr>
              <a:t>Upper/Lower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Limits:</a:t>
            </a:r>
            <a:r>
              <a:rPr sz="1100" b="1" spc="2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Periodic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conditions.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20"/>
              </a:spcBef>
              <a:buClr>
                <a:srgbClr val="003476"/>
              </a:buClr>
              <a:buFont typeface="Tahoma"/>
              <a:buChar char="•"/>
              <a:tabLst>
                <a:tab pos="302895" algn="l"/>
              </a:tabLst>
            </a:pP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Cylinder</a:t>
            </a:r>
            <a:r>
              <a:rPr sz="1100" b="1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30" dirty="0">
                <a:solidFill>
                  <a:srgbClr val="3F3F3F"/>
                </a:solidFill>
                <a:latin typeface="Tahoma"/>
                <a:cs typeface="Tahoma"/>
              </a:rPr>
              <a:t>Surface:</a:t>
            </a:r>
            <a:r>
              <a:rPr sz="1100" b="1" spc="-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Smooth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edge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(roughness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65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Cambria"/>
                <a:cs typeface="Cambria"/>
              </a:rPr>
              <a:t>0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),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no-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slip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(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u</a:t>
            </a:r>
            <a:r>
              <a:rPr sz="1100" i="1" spc="85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v</a:t>
            </a:r>
            <a:r>
              <a:rPr sz="1100" i="1" spc="85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3F3F3F"/>
                </a:solidFill>
                <a:latin typeface="Cambria"/>
                <a:cs typeface="Cambria"/>
              </a:rPr>
              <a:t>0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).</a:t>
            </a:r>
            <a:endParaRPr sz="1100">
              <a:latin typeface="Tahoma"/>
              <a:cs typeface="Tahoma"/>
            </a:endParaRPr>
          </a:p>
          <a:p>
            <a:pPr marL="25400">
              <a:lnSpc>
                <a:spcPct val="100000"/>
              </a:lnSpc>
              <a:spcBef>
                <a:spcPts val="1010"/>
              </a:spcBef>
            </a:pPr>
            <a:r>
              <a:rPr sz="1100" b="1" spc="-50" dirty="0">
                <a:solidFill>
                  <a:srgbClr val="3F3F3F"/>
                </a:solidFill>
                <a:latin typeface="Tahoma"/>
                <a:cs typeface="Tahoma"/>
              </a:rPr>
              <a:t>Initialization:</a:t>
            </a:r>
            <a:endParaRPr sz="1100">
              <a:latin typeface="Tahoma"/>
              <a:cs typeface="Tahoma"/>
            </a:endParaRPr>
          </a:p>
          <a:p>
            <a:pPr marL="302895" indent="-139065">
              <a:lnSpc>
                <a:spcPct val="100000"/>
              </a:lnSpc>
              <a:spcBef>
                <a:spcPts val="155"/>
              </a:spcBef>
              <a:buClr>
                <a:srgbClr val="003476"/>
              </a:buClr>
              <a:buChar char="•"/>
              <a:tabLst>
                <a:tab pos="302895" algn="l"/>
              </a:tabLst>
            </a:pP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Uniform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initial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condition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matching 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inlet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values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across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entire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domain.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pc="-130" dirty="0">
                <a:solidFill>
                  <a:srgbClr val="003476"/>
                </a:solidFill>
              </a:rPr>
              <a:t>Spatial</a:t>
            </a:r>
            <a:r>
              <a:rPr spc="-50" dirty="0">
                <a:solidFill>
                  <a:srgbClr val="003476"/>
                </a:solidFill>
              </a:rPr>
              <a:t> </a:t>
            </a:r>
            <a:r>
              <a:rPr spc="-120" dirty="0">
                <a:solidFill>
                  <a:srgbClr val="003476"/>
                </a:solidFill>
              </a:rPr>
              <a:t>Discretization</a:t>
            </a:r>
          </a:p>
          <a:p>
            <a:pPr marL="12700">
              <a:lnSpc>
                <a:spcPts val="1040"/>
              </a:lnSpc>
            </a:pPr>
            <a:r>
              <a:rPr sz="900" b="0" spc="-180" dirty="0">
                <a:solidFill>
                  <a:srgbClr val="003476"/>
                </a:solidFill>
                <a:latin typeface="Tahoma"/>
                <a:cs typeface="Tahoma"/>
              </a:rPr>
              <a:t>1</a:t>
            </a:r>
            <a:r>
              <a:rPr sz="900" b="0" spc="114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b="0" spc="-35" dirty="0">
                <a:solidFill>
                  <a:srgbClr val="003476"/>
                </a:solidFill>
                <a:latin typeface="Tahoma"/>
                <a:cs typeface="Tahoma"/>
              </a:rPr>
              <a:t>Initial</a:t>
            </a:r>
            <a:r>
              <a:rPr sz="900" b="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b="0" spc="-10" dirty="0">
                <a:solidFill>
                  <a:srgbClr val="003476"/>
                </a:solidFill>
                <a:latin typeface="Tahoma"/>
                <a:cs typeface="Tahoma"/>
              </a:rPr>
              <a:t>Problem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21894" y="3016594"/>
            <a:ext cx="236854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5</a:t>
            </a:fld>
            <a:r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969261"/>
            <a:ext cx="5065395" cy="1357630"/>
          </a:xfrm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z="1100" b="1" spc="-130" dirty="0">
                <a:solidFill>
                  <a:srgbClr val="3F3F3F"/>
                </a:solidFill>
                <a:latin typeface="Tahoma"/>
                <a:cs typeface="Tahoma"/>
              </a:rPr>
              <a:t>Domain</a:t>
            </a:r>
            <a:r>
              <a:rPr sz="1100" b="1" spc="-2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Partitioning: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ct val="100000"/>
              </a:lnSpc>
              <a:spcBef>
                <a:spcPts val="334"/>
              </a:spcBef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computational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domain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is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divided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into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distinct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macro-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zones.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900"/>
              </a:spcBef>
            </a:pPr>
            <a:r>
              <a:rPr sz="1100" b="1" spc="-100" dirty="0">
                <a:solidFill>
                  <a:srgbClr val="3F3F3F"/>
                </a:solidFill>
                <a:latin typeface="Tahoma"/>
                <a:cs typeface="Tahoma"/>
              </a:rPr>
              <a:t>Mesh</a:t>
            </a:r>
            <a:r>
              <a:rPr sz="1100" b="1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25" dirty="0">
                <a:solidFill>
                  <a:srgbClr val="3F3F3F"/>
                </a:solidFill>
                <a:latin typeface="Tahoma"/>
                <a:cs typeface="Tahoma"/>
              </a:rPr>
              <a:t>Strategy: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ct val="100000"/>
              </a:lnSpc>
              <a:spcBef>
                <a:spcPts val="330"/>
              </a:spcBef>
              <a:buClr>
                <a:srgbClr val="003476"/>
              </a:buClr>
              <a:buFont typeface="Tahoma"/>
              <a:buChar char="•"/>
              <a:tabLst>
                <a:tab pos="290195" algn="l"/>
              </a:tabLst>
            </a:pP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Outer</a:t>
            </a:r>
            <a:r>
              <a:rPr sz="1100" b="1" spc="-3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Area</a:t>
            </a:r>
            <a:r>
              <a:rPr sz="1100" b="1" spc="-3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50" dirty="0">
                <a:solidFill>
                  <a:srgbClr val="3F3F3F"/>
                </a:solidFill>
                <a:latin typeface="Tahoma"/>
                <a:cs typeface="Tahoma"/>
              </a:rPr>
              <a:t>(EUL</a:t>
            </a:r>
            <a:r>
              <a:rPr sz="1100" b="1" spc="-3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40" dirty="0">
                <a:solidFill>
                  <a:srgbClr val="3F3F3F"/>
                </a:solidFill>
                <a:latin typeface="Tahoma"/>
                <a:cs typeface="Tahoma"/>
              </a:rPr>
              <a:t>Region):</a:t>
            </a:r>
            <a:r>
              <a:rPr sz="1100" b="1" spc="2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Mapped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meshing,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structured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grid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quadrilateral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cells.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ct val="100000"/>
              </a:lnSpc>
              <a:spcBef>
                <a:spcPts val="335"/>
              </a:spcBef>
              <a:buClr>
                <a:srgbClr val="003476"/>
              </a:buClr>
              <a:buFont typeface="Tahoma"/>
              <a:buChar char="•"/>
              <a:tabLst>
                <a:tab pos="290195" algn="l"/>
              </a:tabLst>
            </a:pPr>
            <a:r>
              <a:rPr sz="1100" b="1" spc="-140" dirty="0">
                <a:solidFill>
                  <a:srgbClr val="3F3F3F"/>
                </a:solidFill>
                <a:latin typeface="Tahoma"/>
                <a:cs typeface="Tahoma"/>
              </a:rPr>
              <a:t>Inner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Area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45" dirty="0">
                <a:solidFill>
                  <a:srgbClr val="3F3F3F"/>
                </a:solidFill>
                <a:latin typeface="Tahoma"/>
                <a:cs typeface="Tahoma"/>
              </a:rPr>
              <a:t>(ALE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35" dirty="0">
                <a:solidFill>
                  <a:srgbClr val="3F3F3F"/>
                </a:solidFill>
                <a:latin typeface="Tahoma"/>
                <a:cs typeface="Tahoma"/>
              </a:rPr>
              <a:t>Region):</a:t>
            </a:r>
            <a:r>
              <a:rPr sz="1100" b="1" spc="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Unstructured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mesh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triangular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cells.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ct val="100000"/>
              </a:lnSpc>
              <a:spcBef>
                <a:spcPts val="335"/>
              </a:spcBef>
              <a:buClr>
                <a:srgbClr val="003476"/>
              </a:buClr>
              <a:buFont typeface="Tahoma"/>
              <a:buChar char="•"/>
              <a:tabLst>
                <a:tab pos="290195" algn="l"/>
              </a:tabLst>
            </a:pPr>
            <a:r>
              <a:rPr sz="1100" b="1" spc="-105" dirty="0">
                <a:solidFill>
                  <a:srgbClr val="3F3F3F"/>
                </a:solidFill>
                <a:latin typeface="Tahoma"/>
                <a:cs typeface="Tahoma"/>
              </a:rPr>
              <a:t>Grid</a:t>
            </a:r>
            <a:r>
              <a:rPr sz="1100" b="1" spc="-4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20" dirty="0">
                <a:solidFill>
                  <a:srgbClr val="3F3F3F"/>
                </a:solidFill>
                <a:latin typeface="Tahoma"/>
                <a:cs typeface="Tahoma"/>
              </a:rPr>
              <a:t>Boundary</a:t>
            </a:r>
            <a:r>
              <a:rPr sz="1100" b="1" spc="-4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25" dirty="0">
                <a:solidFill>
                  <a:srgbClr val="3F3F3F"/>
                </a:solidFill>
                <a:latin typeface="Tahoma"/>
                <a:cs typeface="Tahoma"/>
              </a:rPr>
              <a:t>Layer:</a:t>
            </a:r>
            <a:r>
              <a:rPr sz="1100" b="1" spc="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Finer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layer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quadrilateral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cells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directly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around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solid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walls.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67295" y="253768"/>
            <a:ext cx="31216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35" dirty="0">
                <a:solidFill>
                  <a:srgbClr val="003476"/>
                </a:solidFill>
              </a:rPr>
              <a:t>Turbulence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spc="-110" dirty="0">
                <a:solidFill>
                  <a:srgbClr val="003476"/>
                </a:solidFill>
              </a:rPr>
              <a:t>Modeling:</a:t>
            </a:r>
            <a:r>
              <a:rPr spc="-5" dirty="0">
                <a:solidFill>
                  <a:srgbClr val="003476"/>
                </a:solidFill>
              </a:rPr>
              <a:t> </a:t>
            </a:r>
            <a:r>
              <a:rPr spc="-170" dirty="0">
                <a:solidFill>
                  <a:srgbClr val="003476"/>
                </a:solidFill>
              </a:rPr>
              <a:t>RANS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spc="-105" dirty="0">
                <a:solidFill>
                  <a:srgbClr val="003476"/>
                </a:solidFill>
              </a:rPr>
              <a:t>&amp;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b="0" i="1" dirty="0">
                <a:solidFill>
                  <a:srgbClr val="003476"/>
                </a:solidFill>
                <a:latin typeface="Cambria"/>
                <a:cs typeface="Cambria"/>
              </a:rPr>
              <a:t>k</a:t>
            </a:r>
            <a:r>
              <a:rPr b="0" i="1" spc="40" dirty="0">
                <a:solidFill>
                  <a:srgbClr val="003476"/>
                </a:solidFill>
                <a:latin typeface="Cambria"/>
                <a:cs typeface="Cambria"/>
              </a:rPr>
              <a:t> </a:t>
            </a:r>
            <a:r>
              <a:rPr b="0" i="1" spc="-55" dirty="0">
                <a:solidFill>
                  <a:srgbClr val="003476"/>
                </a:solidFill>
                <a:latin typeface="Verdana"/>
                <a:cs typeface="Verdana"/>
              </a:rPr>
              <a:t>−</a:t>
            </a:r>
            <a:r>
              <a:rPr b="0" i="1" spc="-150" dirty="0">
                <a:solidFill>
                  <a:srgbClr val="003476"/>
                </a:solidFill>
                <a:latin typeface="Verdana"/>
                <a:cs typeface="Verdana"/>
              </a:rPr>
              <a:t> </a:t>
            </a:r>
            <a:r>
              <a:rPr b="0" i="1" spc="-55" dirty="0">
                <a:solidFill>
                  <a:srgbClr val="003476"/>
                </a:solidFill>
                <a:latin typeface="Arial"/>
                <a:cs typeface="Arial"/>
              </a:rPr>
              <a:t>ϵ</a:t>
            </a:r>
            <a:r>
              <a:rPr b="0" i="1" spc="-40" dirty="0">
                <a:solidFill>
                  <a:srgbClr val="003476"/>
                </a:solidFill>
                <a:latin typeface="Arial"/>
                <a:cs typeface="Arial"/>
              </a:rPr>
              <a:t> </a:t>
            </a:r>
            <a:r>
              <a:rPr spc="-110" dirty="0">
                <a:solidFill>
                  <a:srgbClr val="003476"/>
                </a:solidFill>
              </a:rPr>
              <a:t>RNG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321894" y="3016594"/>
            <a:ext cx="236854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6</a:t>
            </a:fld>
            <a:r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347294" y="461271"/>
            <a:ext cx="5008245" cy="232283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732155">
              <a:lnSpc>
                <a:spcPct val="100000"/>
              </a:lnSpc>
              <a:spcBef>
                <a:spcPts val="95"/>
              </a:spcBef>
            </a:pPr>
            <a:r>
              <a:rPr sz="900" spc="-180" dirty="0">
                <a:solidFill>
                  <a:srgbClr val="003476"/>
                </a:solidFill>
                <a:latin typeface="Tahoma"/>
                <a:cs typeface="Tahoma"/>
              </a:rPr>
              <a:t>1</a:t>
            </a:r>
            <a:r>
              <a:rPr sz="900" spc="114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Initial</a:t>
            </a:r>
            <a:r>
              <a:rPr sz="90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Problem</a:t>
            </a:r>
            <a:endParaRPr sz="9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870"/>
              </a:spcBef>
            </a:pPr>
            <a:r>
              <a:rPr sz="1100" b="1" spc="-160" dirty="0">
                <a:solidFill>
                  <a:srgbClr val="3F3F3F"/>
                </a:solidFill>
                <a:latin typeface="Tahoma"/>
                <a:cs typeface="Tahoma"/>
              </a:rPr>
              <a:t>RANS</a:t>
            </a:r>
            <a:r>
              <a:rPr sz="1100" b="1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3F3F3F"/>
                </a:solidFill>
                <a:latin typeface="Tahoma"/>
                <a:cs typeface="Tahoma"/>
              </a:rPr>
              <a:t>Approach: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ct val="100000"/>
              </a:lnSpc>
              <a:spcBef>
                <a:spcPts val="330"/>
              </a:spcBef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Non-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scale resolving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models.</a:t>
            </a:r>
            <a:endParaRPr sz="1100">
              <a:latin typeface="Tahoma"/>
              <a:cs typeface="Tahoma"/>
            </a:endParaRPr>
          </a:p>
          <a:p>
            <a:pPr marL="289560" marR="5080" indent="-138430">
              <a:lnSpc>
                <a:spcPct val="102600"/>
              </a:lnSpc>
              <a:spcBef>
                <a:spcPts val="300"/>
              </a:spcBef>
              <a:buClr>
                <a:srgbClr val="003476"/>
              </a:buClr>
              <a:buChar char="•"/>
              <a:tabLst>
                <a:tab pos="289560" algn="l"/>
              </a:tabLst>
            </a:pP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Uses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Boussinesq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hypothesis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to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estimate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a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”turbulent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viscosity”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representing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the 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average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effect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turbulence.</a:t>
            </a:r>
            <a:endParaRPr sz="1100">
              <a:latin typeface="Tahoma"/>
              <a:cs typeface="Tahoma"/>
            </a:endParaRPr>
          </a:p>
          <a:p>
            <a:pPr marL="12700" marR="85725">
              <a:lnSpc>
                <a:spcPct val="102600"/>
              </a:lnSpc>
              <a:spcBef>
                <a:spcPts val="870"/>
              </a:spcBef>
            </a:pPr>
            <a:r>
              <a:rPr sz="1100" b="1" spc="-130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b="1" spc="-4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20" dirty="0">
                <a:solidFill>
                  <a:srgbClr val="3F3F3F"/>
                </a:solidFill>
                <a:latin typeface="Tahoma"/>
                <a:cs typeface="Tahoma"/>
              </a:rPr>
              <a:t>Closure</a:t>
            </a:r>
            <a:r>
              <a:rPr sz="1100" b="1" spc="-3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Problem:</a:t>
            </a:r>
            <a:r>
              <a:rPr sz="1100" b="1" spc="2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Requires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transport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equations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for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turbulent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kinetic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energy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(</a:t>
            </a:r>
            <a:r>
              <a:rPr sz="1100" i="1" spc="-75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)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and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its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dissipation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 rate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(</a:t>
            </a:r>
            <a:r>
              <a:rPr sz="1100" i="1" spc="-20" dirty="0">
                <a:solidFill>
                  <a:srgbClr val="3F3F3F"/>
                </a:solidFill>
                <a:latin typeface="Arial"/>
                <a:cs typeface="Arial"/>
              </a:rPr>
              <a:t>ϵ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).</a:t>
            </a:r>
            <a:endParaRPr sz="11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600"/>
              </a:spcBef>
            </a:pPr>
            <a:r>
              <a:rPr sz="1100" b="1" spc="-130" dirty="0">
                <a:solidFill>
                  <a:srgbClr val="3F3F3F"/>
                </a:solidFill>
                <a:latin typeface="Tahoma"/>
                <a:cs typeface="Tahoma"/>
              </a:rPr>
              <a:t>Standard</a:t>
            </a:r>
            <a:r>
              <a:rPr sz="1100" b="1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i="1" spc="1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i="1" spc="-60" dirty="0">
                <a:solidFill>
                  <a:srgbClr val="3F3F3F"/>
                </a:solidFill>
                <a:latin typeface="Verdana"/>
                <a:cs typeface="Verdana"/>
              </a:rPr>
              <a:t>−</a:t>
            </a:r>
            <a:r>
              <a:rPr sz="1100" i="1" spc="-130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100" i="1" spc="-55" dirty="0">
                <a:solidFill>
                  <a:srgbClr val="3F3F3F"/>
                </a:solidFill>
                <a:latin typeface="Arial"/>
                <a:cs typeface="Arial"/>
              </a:rPr>
              <a:t>ϵ</a:t>
            </a:r>
            <a:r>
              <a:rPr sz="1100" i="1" spc="-45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100" b="1" spc="-114" dirty="0">
                <a:solidFill>
                  <a:srgbClr val="3F3F3F"/>
                </a:solidFill>
                <a:latin typeface="Tahoma"/>
                <a:cs typeface="Tahoma"/>
              </a:rPr>
              <a:t>vs.</a:t>
            </a:r>
            <a:r>
              <a:rPr sz="1100" b="1" spc="-1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65" dirty="0">
                <a:solidFill>
                  <a:srgbClr val="3F3F3F"/>
                </a:solidFill>
                <a:latin typeface="Tahoma"/>
                <a:cs typeface="Tahoma"/>
              </a:rPr>
              <a:t>RNG</a:t>
            </a:r>
            <a:r>
              <a:rPr sz="1100" b="1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0" dirty="0">
                <a:solidFill>
                  <a:srgbClr val="3F3F3F"/>
                </a:solidFill>
                <a:latin typeface="Tahoma"/>
                <a:cs typeface="Tahoma"/>
              </a:rPr>
              <a:t>Variant:</a:t>
            </a:r>
            <a:endParaRPr sz="1100">
              <a:latin typeface="Tahoma"/>
              <a:cs typeface="Tahoma"/>
            </a:endParaRPr>
          </a:p>
          <a:p>
            <a:pPr marL="290195" indent="-139065">
              <a:lnSpc>
                <a:spcPct val="100000"/>
              </a:lnSpc>
              <a:spcBef>
                <a:spcPts val="335"/>
              </a:spcBef>
              <a:buClr>
                <a:srgbClr val="003476"/>
              </a:buClr>
              <a:buFont typeface="Tahoma"/>
              <a:buChar char="•"/>
              <a:tabLst>
                <a:tab pos="290195" algn="l"/>
              </a:tabLst>
            </a:pPr>
            <a:r>
              <a:rPr sz="1100" b="1" spc="-170" dirty="0">
                <a:solidFill>
                  <a:srgbClr val="3F3F3F"/>
                </a:solidFill>
                <a:latin typeface="Tahoma"/>
                <a:cs typeface="Tahoma"/>
              </a:rPr>
              <a:t>STD</a:t>
            </a:r>
            <a:r>
              <a:rPr sz="1100" b="1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45" dirty="0">
                <a:solidFill>
                  <a:srgbClr val="3F3F3F"/>
                </a:solidFill>
                <a:latin typeface="Tahoma"/>
                <a:cs typeface="Tahoma"/>
              </a:rPr>
              <a:t>Issue:</a:t>
            </a:r>
            <a:r>
              <a:rPr sz="1100" b="1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Overestimates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i="1" spc="3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near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front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wall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bluff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bodies.</a:t>
            </a:r>
            <a:endParaRPr sz="1100">
              <a:latin typeface="Tahoma"/>
              <a:cs typeface="Tahoma"/>
            </a:endParaRPr>
          </a:p>
          <a:p>
            <a:pPr marL="289560" marR="215900" indent="-138430">
              <a:lnSpc>
                <a:spcPct val="102600"/>
              </a:lnSpc>
              <a:spcBef>
                <a:spcPts val="300"/>
              </a:spcBef>
              <a:buClr>
                <a:srgbClr val="003476"/>
              </a:buClr>
              <a:buFont typeface="Tahoma"/>
              <a:buChar char="•"/>
              <a:tabLst>
                <a:tab pos="289560" algn="l"/>
              </a:tabLst>
            </a:pPr>
            <a:r>
              <a:rPr sz="1100" b="1" spc="-165" dirty="0">
                <a:solidFill>
                  <a:srgbClr val="3F3F3F"/>
                </a:solidFill>
                <a:latin typeface="Tahoma"/>
                <a:cs typeface="Tahoma"/>
              </a:rPr>
              <a:t>RNG</a:t>
            </a:r>
            <a:r>
              <a:rPr sz="1100" b="1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b="1" spc="-110" dirty="0">
                <a:solidFill>
                  <a:srgbClr val="3F3F3F"/>
                </a:solidFill>
                <a:latin typeface="Tahoma"/>
                <a:cs typeface="Tahoma"/>
              </a:rPr>
              <a:t>Solution:</a:t>
            </a:r>
            <a:r>
              <a:rPr sz="1100" b="1" spc="1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Fixes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coefficients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and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makes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i="1" spc="4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production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dependent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on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flow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vorticity.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pc="-135" dirty="0">
                <a:solidFill>
                  <a:srgbClr val="003476"/>
                </a:solidFill>
              </a:rPr>
              <a:t>Turbulence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spc="-110" dirty="0">
                <a:solidFill>
                  <a:srgbClr val="003476"/>
                </a:solidFill>
              </a:rPr>
              <a:t>Modeling:</a:t>
            </a:r>
            <a:r>
              <a:rPr dirty="0">
                <a:solidFill>
                  <a:srgbClr val="003476"/>
                </a:solidFill>
              </a:rPr>
              <a:t> </a:t>
            </a:r>
            <a:r>
              <a:rPr spc="-140" dirty="0">
                <a:solidFill>
                  <a:srgbClr val="003476"/>
                </a:solidFill>
              </a:rPr>
              <a:t>The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b="0" i="1" dirty="0">
                <a:solidFill>
                  <a:srgbClr val="003476"/>
                </a:solidFill>
                <a:latin typeface="Cambria"/>
                <a:cs typeface="Cambria"/>
              </a:rPr>
              <a:t>k</a:t>
            </a:r>
            <a:r>
              <a:rPr b="0" i="1" spc="40" dirty="0">
                <a:solidFill>
                  <a:srgbClr val="003476"/>
                </a:solidFill>
                <a:latin typeface="Cambria"/>
                <a:cs typeface="Cambria"/>
              </a:rPr>
              <a:t> </a:t>
            </a:r>
            <a:r>
              <a:rPr b="0" i="1" spc="-55" dirty="0">
                <a:solidFill>
                  <a:srgbClr val="003476"/>
                </a:solidFill>
                <a:latin typeface="Verdana"/>
                <a:cs typeface="Verdana"/>
              </a:rPr>
              <a:t>−</a:t>
            </a:r>
            <a:r>
              <a:rPr b="0" i="1" spc="-150" dirty="0">
                <a:solidFill>
                  <a:srgbClr val="003476"/>
                </a:solidFill>
                <a:latin typeface="Verdana"/>
                <a:cs typeface="Verdana"/>
              </a:rPr>
              <a:t> </a:t>
            </a:r>
            <a:r>
              <a:rPr b="0" i="1" spc="-225" dirty="0">
                <a:solidFill>
                  <a:srgbClr val="003476"/>
                </a:solidFill>
                <a:latin typeface="Arial"/>
                <a:cs typeface="Arial"/>
              </a:rPr>
              <a:t>ω</a:t>
            </a:r>
            <a:r>
              <a:rPr b="0" i="1" spc="20" dirty="0">
                <a:solidFill>
                  <a:srgbClr val="003476"/>
                </a:solidFill>
                <a:latin typeface="Arial"/>
                <a:cs typeface="Arial"/>
              </a:rPr>
              <a:t> </a:t>
            </a:r>
            <a:r>
              <a:rPr spc="-60" dirty="0">
                <a:solidFill>
                  <a:srgbClr val="003476"/>
                </a:solidFill>
              </a:rPr>
              <a:t>Model</a:t>
            </a:r>
          </a:p>
          <a:p>
            <a:pPr marL="12700">
              <a:lnSpc>
                <a:spcPts val="1040"/>
              </a:lnSpc>
            </a:pPr>
            <a:r>
              <a:rPr sz="900" b="0" spc="-180" dirty="0">
                <a:solidFill>
                  <a:srgbClr val="003476"/>
                </a:solidFill>
                <a:latin typeface="Tahoma"/>
                <a:cs typeface="Tahoma"/>
              </a:rPr>
              <a:t>1</a:t>
            </a:r>
            <a:r>
              <a:rPr sz="900" b="0" spc="114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b="0" spc="-35" dirty="0">
                <a:solidFill>
                  <a:srgbClr val="003476"/>
                </a:solidFill>
                <a:latin typeface="Tahoma"/>
                <a:cs typeface="Tahoma"/>
              </a:rPr>
              <a:t>Initial</a:t>
            </a:r>
            <a:r>
              <a:rPr sz="900" b="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b="0" spc="-10" dirty="0">
                <a:solidFill>
                  <a:srgbClr val="003476"/>
                </a:solidFill>
                <a:latin typeface="Tahoma"/>
                <a:cs typeface="Tahoma"/>
              </a:rPr>
              <a:t>Problem</a:t>
            </a:r>
            <a:endParaRPr sz="900">
              <a:latin typeface="Tahom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321894" y="3016594"/>
            <a:ext cx="236854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7</a:t>
            </a:fld>
            <a:r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5524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34"/>
              </a:spcBef>
            </a:pPr>
            <a:r>
              <a:rPr spc="-120" dirty="0"/>
              <a:t>Addressing</a:t>
            </a:r>
            <a:r>
              <a:rPr spc="-20" dirty="0"/>
              <a:t> </a:t>
            </a:r>
            <a:r>
              <a:rPr spc="-135" dirty="0"/>
              <a:t>Near-</a:t>
            </a:r>
            <a:r>
              <a:rPr spc="-120" dirty="0"/>
              <a:t>Wall</a:t>
            </a:r>
            <a:r>
              <a:rPr spc="-15" dirty="0"/>
              <a:t> </a:t>
            </a:r>
            <a:r>
              <a:rPr spc="-10" dirty="0"/>
              <a:t>Errors:</a:t>
            </a:r>
          </a:p>
          <a:p>
            <a:pPr marL="289560" marR="5080" indent="-138430">
              <a:lnSpc>
                <a:spcPct val="102600"/>
              </a:lnSpc>
              <a:spcBef>
                <a:spcPts val="300"/>
              </a:spcBef>
              <a:buClr>
                <a:srgbClr val="003476"/>
              </a:buClr>
              <a:buChar char="•"/>
              <a:tabLst>
                <a:tab pos="289560" algn="l"/>
              </a:tabLst>
            </a:pPr>
            <a:r>
              <a:rPr b="0" spc="-100" dirty="0">
                <a:latin typeface="Tahoma"/>
                <a:cs typeface="Tahoma"/>
              </a:rPr>
              <a:t>In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40" dirty="0">
                <a:latin typeface="Tahoma"/>
                <a:cs typeface="Tahoma"/>
              </a:rPr>
              <a:t>order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30" dirty="0">
                <a:latin typeface="Tahoma"/>
                <a:cs typeface="Tahoma"/>
              </a:rPr>
              <a:t>to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40" dirty="0">
                <a:latin typeface="Tahoma"/>
                <a:cs typeface="Tahoma"/>
              </a:rPr>
              <a:t>fix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50" dirty="0">
                <a:latin typeface="Tahoma"/>
                <a:cs typeface="Tahoma"/>
              </a:rPr>
              <a:t>near-</a:t>
            </a:r>
            <a:r>
              <a:rPr b="0" spc="-45" dirty="0">
                <a:latin typeface="Tahoma"/>
                <a:cs typeface="Tahoma"/>
              </a:rPr>
              <a:t>wall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errors</a:t>
            </a:r>
            <a:r>
              <a:rPr b="0" spc="-70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present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30" dirty="0">
                <a:latin typeface="Tahoma"/>
                <a:cs typeface="Tahoma"/>
              </a:rPr>
              <a:t>in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i="1" dirty="0">
                <a:latin typeface="Cambria"/>
                <a:cs typeface="Cambria"/>
              </a:rPr>
              <a:t>k</a:t>
            </a:r>
            <a:r>
              <a:rPr b="0" i="1" spc="20" dirty="0">
                <a:latin typeface="Cambria"/>
                <a:cs typeface="Cambria"/>
              </a:rPr>
              <a:t> </a:t>
            </a:r>
            <a:r>
              <a:rPr b="0" i="1" spc="-60" dirty="0">
                <a:latin typeface="Verdana"/>
                <a:cs typeface="Verdana"/>
              </a:rPr>
              <a:t>−</a:t>
            </a:r>
            <a:r>
              <a:rPr b="0" i="1" spc="-120" dirty="0">
                <a:latin typeface="Verdana"/>
                <a:cs typeface="Verdana"/>
              </a:rPr>
              <a:t> </a:t>
            </a:r>
            <a:r>
              <a:rPr b="0" i="1" spc="-55" dirty="0">
                <a:latin typeface="Arial"/>
                <a:cs typeface="Arial"/>
              </a:rPr>
              <a:t>ϵ</a:t>
            </a:r>
            <a:r>
              <a:rPr b="0" i="1" spc="-35" dirty="0">
                <a:latin typeface="Arial"/>
                <a:cs typeface="Arial"/>
              </a:rPr>
              <a:t> </a:t>
            </a:r>
            <a:r>
              <a:rPr b="0" spc="-45" dirty="0">
                <a:latin typeface="Tahoma"/>
                <a:cs typeface="Tahoma"/>
              </a:rPr>
              <a:t>formulations,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35" dirty="0">
                <a:latin typeface="Tahoma"/>
                <a:cs typeface="Tahoma"/>
              </a:rPr>
              <a:t>the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i="1" dirty="0">
                <a:latin typeface="Cambria"/>
                <a:cs typeface="Cambria"/>
              </a:rPr>
              <a:t>k</a:t>
            </a:r>
            <a:r>
              <a:rPr b="0" i="1" spc="20" dirty="0">
                <a:latin typeface="Cambria"/>
                <a:cs typeface="Cambria"/>
              </a:rPr>
              <a:t> </a:t>
            </a:r>
            <a:r>
              <a:rPr b="0" i="1" spc="-60" dirty="0">
                <a:latin typeface="Verdana"/>
                <a:cs typeface="Verdana"/>
              </a:rPr>
              <a:t>−</a:t>
            </a:r>
            <a:r>
              <a:rPr b="0" i="1" spc="-120" dirty="0">
                <a:latin typeface="Verdana"/>
                <a:cs typeface="Verdana"/>
              </a:rPr>
              <a:t> </a:t>
            </a:r>
            <a:r>
              <a:rPr b="0" i="1" spc="-195" dirty="0">
                <a:latin typeface="Arial"/>
                <a:cs typeface="Arial"/>
              </a:rPr>
              <a:t>ω</a:t>
            </a:r>
            <a:r>
              <a:rPr b="0" i="1" spc="10" dirty="0">
                <a:latin typeface="Arial"/>
                <a:cs typeface="Arial"/>
              </a:rPr>
              <a:t> </a:t>
            </a:r>
            <a:r>
              <a:rPr b="0" spc="-45" dirty="0">
                <a:latin typeface="Tahoma"/>
                <a:cs typeface="Tahoma"/>
              </a:rPr>
              <a:t>model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25" dirty="0">
                <a:latin typeface="Tahoma"/>
                <a:cs typeface="Tahoma"/>
              </a:rPr>
              <a:t>is </a:t>
            </a:r>
            <a:r>
              <a:rPr b="0" spc="-10" dirty="0">
                <a:latin typeface="Tahoma"/>
                <a:cs typeface="Tahoma"/>
              </a:rPr>
              <a:t>introduced.</a:t>
            </a:r>
          </a:p>
          <a:p>
            <a:pPr marL="12700">
              <a:lnSpc>
                <a:spcPct val="100000"/>
              </a:lnSpc>
              <a:spcBef>
                <a:spcPts val="1185"/>
              </a:spcBef>
            </a:pPr>
            <a:r>
              <a:rPr spc="-130" dirty="0"/>
              <a:t>The</a:t>
            </a:r>
            <a:r>
              <a:rPr spc="-75" dirty="0"/>
              <a:t> </a:t>
            </a:r>
            <a:r>
              <a:rPr b="0" i="1" dirty="0">
                <a:latin typeface="Cambria"/>
                <a:cs typeface="Cambria"/>
              </a:rPr>
              <a:t>k </a:t>
            </a:r>
            <a:r>
              <a:rPr b="0" i="1" spc="-60" dirty="0">
                <a:latin typeface="Verdana"/>
                <a:cs typeface="Verdana"/>
              </a:rPr>
              <a:t>−</a:t>
            </a:r>
            <a:r>
              <a:rPr b="0" i="1" spc="-140" dirty="0">
                <a:latin typeface="Verdana"/>
                <a:cs typeface="Verdana"/>
              </a:rPr>
              <a:t> </a:t>
            </a:r>
            <a:r>
              <a:rPr b="0" i="1" spc="-195" dirty="0">
                <a:latin typeface="Arial"/>
                <a:cs typeface="Arial"/>
              </a:rPr>
              <a:t>ω</a:t>
            </a:r>
            <a:r>
              <a:rPr b="0" i="1" spc="-15" dirty="0">
                <a:latin typeface="Arial"/>
                <a:cs typeface="Arial"/>
              </a:rPr>
              <a:t> </a:t>
            </a:r>
            <a:r>
              <a:rPr spc="-10" dirty="0"/>
              <a:t>Model:</a:t>
            </a:r>
          </a:p>
          <a:p>
            <a:pPr marL="290195" indent="-139065">
              <a:lnSpc>
                <a:spcPct val="100000"/>
              </a:lnSpc>
              <a:spcBef>
                <a:spcPts val="330"/>
              </a:spcBef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b="0" spc="-55" dirty="0">
                <a:latin typeface="Tahoma"/>
                <a:cs typeface="Tahoma"/>
              </a:rPr>
              <a:t>Uses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35" dirty="0">
                <a:latin typeface="Tahoma"/>
                <a:cs typeface="Tahoma"/>
              </a:rPr>
              <a:t>the</a:t>
            </a:r>
            <a:r>
              <a:rPr b="0" spc="-55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specific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40" dirty="0">
                <a:latin typeface="Tahoma"/>
                <a:cs typeface="Tahoma"/>
              </a:rPr>
              <a:t>dissipation</a:t>
            </a:r>
            <a:r>
              <a:rPr b="0" spc="-55" dirty="0">
                <a:latin typeface="Tahoma"/>
                <a:cs typeface="Tahoma"/>
              </a:rPr>
              <a:t> </a:t>
            </a:r>
            <a:r>
              <a:rPr b="0" spc="-50" dirty="0">
                <a:latin typeface="Tahoma"/>
                <a:cs typeface="Tahoma"/>
              </a:rPr>
              <a:t>rate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125" dirty="0">
                <a:latin typeface="Tahoma"/>
                <a:cs typeface="Tahoma"/>
              </a:rPr>
              <a:t>(</a:t>
            </a:r>
            <a:r>
              <a:rPr b="0" i="1" spc="-125" dirty="0">
                <a:latin typeface="Arial"/>
                <a:cs typeface="Arial"/>
              </a:rPr>
              <a:t>ω</a:t>
            </a:r>
            <a:r>
              <a:rPr b="0" spc="-125" dirty="0">
                <a:latin typeface="Tahoma"/>
                <a:cs typeface="Tahoma"/>
              </a:rPr>
              <a:t>)</a:t>
            </a:r>
            <a:r>
              <a:rPr b="0" spc="-55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instead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30" dirty="0">
                <a:latin typeface="Tahoma"/>
                <a:cs typeface="Tahoma"/>
              </a:rPr>
              <a:t>of</a:t>
            </a:r>
            <a:r>
              <a:rPr b="0" spc="-55" dirty="0">
                <a:latin typeface="Tahoma"/>
                <a:cs typeface="Tahoma"/>
              </a:rPr>
              <a:t> </a:t>
            </a:r>
            <a:r>
              <a:rPr b="0" i="1" spc="-25" dirty="0">
                <a:latin typeface="Arial"/>
                <a:cs typeface="Arial"/>
              </a:rPr>
              <a:t>ϵ</a:t>
            </a:r>
            <a:r>
              <a:rPr b="0" spc="-25" dirty="0">
                <a:latin typeface="Tahoma"/>
                <a:cs typeface="Tahoma"/>
              </a:rPr>
              <a:t>.</a:t>
            </a:r>
          </a:p>
          <a:p>
            <a:pPr marL="12700">
              <a:lnSpc>
                <a:spcPct val="100000"/>
              </a:lnSpc>
              <a:spcBef>
                <a:spcPts val="1185"/>
              </a:spcBef>
            </a:pPr>
            <a:r>
              <a:rPr spc="-95" dirty="0"/>
              <a:t>Main</a:t>
            </a:r>
            <a:r>
              <a:rPr spc="-50" dirty="0"/>
              <a:t> </a:t>
            </a:r>
            <a:r>
              <a:rPr spc="-30" dirty="0"/>
              <a:t>Advantage:</a:t>
            </a:r>
          </a:p>
          <a:p>
            <a:pPr marL="290195" indent="-139065">
              <a:lnSpc>
                <a:spcPct val="100000"/>
              </a:lnSpc>
              <a:spcBef>
                <a:spcPts val="335"/>
              </a:spcBef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b="0" spc="-70" dirty="0">
                <a:latin typeface="Tahoma"/>
                <a:cs typeface="Tahoma"/>
              </a:rPr>
              <a:t>The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mathematical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35" dirty="0">
                <a:latin typeface="Tahoma"/>
                <a:cs typeface="Tahoma"/>
              </a:rPr>
              <a:t>equations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do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30" dirty="0">
                <a:latin typeface="Tahoma"/>
                <a:cs typeface="Tahoma"/>
              </a:rPr>
              <a:t>not</a:t>
            </a:r>
            <a:r>
              <a:rPr b="0" spc="-55" dirty="0">
                <a:latin typeface="Tahoma"/>
                <a:cs typeface="Tahoma"/>
              </a:rPr>
              <a:t> become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50" dirty="0">
                <a:latin typeface="Tahoma"/>
                <a:cs typeface="Tahoma"/>
              </a:rPr>
              <a:t>unstable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near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35" dirty="0">
                <a:latin typeface="Tahoma"/>
                <a:cs typeface="Tahoma"/>
              </a:rPr>
              <a:t>solid</a:t>
            </a:r>
            <a:r>
              <a:rPr b="0" spc="-60" dirty="0">
                <a:latin typeface="Tahoma"/>
                <a:cs typeface="Tahoma"/>
              </a:rPr>
              <a:t> </a:t>
            </a:r>
            <a:r>
              <a:rPr b="0" spc="-10" dirty="0">
                <a:latin typeface="Tahoma"/>
                <a:cs typeface="Tahoma"/>
              </a:rPr>
              <a:t>walls.</a:t>
            </a:r>
          </a:p>
          <a:p>
            <a:pPr marL="290195" indent="-139065">
              <a:lnSpc>
                <a:spcPct val="100000"/>
              </a:lnSpc>
              <a:spcBef>
                <a:spcPts val="334"/>
              </a:spcBef>
              <a:buClr>
                <a:srgbClr val="003476"/>
              </a:buClr>
              <a:buChar char="•"/>
              <a:tabLst>
                <a:tab pos="290195" algn="l"/>
              </a:tabLst>
            </a:pPr>
            <a:r>
              <a:rPr b="0" spc="-70" dirty="0">
                <a:latin typeface="Tahoma"/>
                <a:cs typeface="Tahoma"/>
              </a:rPr>
              <a:t>The</a:t>
            </a:r>
            <a:r>
              <a:rPr b="0" spc="-80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model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remains</a:t>
            </a:r>
            <a:r>
              <a:rPr b="0" spc="-80" dirty="0">
                <a:latin typeface="Tahoma"/>
                <a:cs typeface="Tahoma"/>
              </a:rPr>
              <a:t> </a:t>
            </a:r>
            <a:r>
              <a:rPr b="0" spc="-40" dirty="0">
                <a:latin typeface="Tahoma"/>
                <a:cs typeface="Tahoma"/>
              </a:rPr>
              <a:t>robust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60" dirty="0">
                <a:latin typeface="Tahoma"/>
                <a:cs typeface="Tahoma"/>
              </a:rPr>
              <a:t>even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45" dirty="0">
                <a:latin typeface="Tahoma"/>
                <a:cs typeface="Tahoma"/>
              </a:rPr>
              <a:t>when</a:t>
            </a:r>
            <a:r>
              <a:rPr b="0" spc="-80" dirty="0">
                <a:latin typeface="Tahoma"/>
                <a:cs typeface="Tahoma"/>
              </a:rPr>
              <a:t> </a:t>
            </a:r>
            <a:r>
              <a:rPr b="0" i="1" dirty="0">
                <a:latin typeface="Cambria"/>
                <a:cs typeface="Cambria"/>
              </a:rPr>
              <a:t>k</a:t>
            </a:r>
            <a:r>
              <a:rPr b="0" i="1" spc="30" dirty="0">
                <a:latin typeface="Cambria"/>
                <a:cs typeface="Cambria"/>
              </a:rPr>
              <a:t> </a:t>
            </a:r>
            <a:r>
              <a:rPr b="0" spc="-40" dirty="0">
                <a:latin typeface="Tahoma"/>
                <a:cs typeface="Tahoma"/>
              </a:rPr>
              <a:t>is</a:t>
            </a:r>
            <a:r>
              <a:rPr b="0" spc="-75" dirty="0">
                <a:latin typeface="Tahoma"/>
                <a:cs typeface="Tahoma"/>
              </a:rPr>
              <a:t> </a:t>
            </a:r>
            <a:r>
              <a:rPr b="0" spc="-55" dirty="0">
                <a:latin typeface="Tahoma"/>
                <a:cs typeface="Tahoma"/>
              </a:rPr>
              <a:t>very</a:t>
            </a:r>
            <a:r>
              <a:rPr b="0" spc="-80" dirty="0">
                <a:latin typeface="Tahoma"/>
                <a:cs typeface="Tahoma"/>
              </a:rPr>
              <a:t> </a:t>
            </a:r>
            <a:r>
              <a:rPr b="0" spc="-10" dirty="0">
                <a:latin typeface="Tahoma"/>
                <a:cs typeface="Tahoma"/>
              </a:rPr>
              <a:t>small.</a:t>
            </a:r>
          </a:p>
        </p:txBody>
      </p:sp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00347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4" name="object 4" descr="$PPTXTitle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pc="-150" dirty="0"/>
              <a:t>Table</a:t>
            </a:r>
            <a:r>
              <a:rPr spc="-70" dirty="0"/>
              <a:t> </a:t>
            </a:r>
            <a:r>
              <a:rPr spc="-100" dirty="0"/>
              <a:t>of</a:t>
            </a:r>
            <a:r>
              <a:rPr spc="-60" dirty="0"/>
              <a:t> </a:t>
            </a:r>
            <a:r>
              <a:rPr spc="-125" dirty="0"/>
              <a:t>Contents</a:t>
            </a:r>
          </a:p>
          <a:p>
            <a:pPr marL="12700">
              <a:lnSpc>
                <a:spcPts val="1040"/>
              </a:lnSpc>
            </a:pPr>
            <a:r>
              <a:rPr sz="900" b="0" dirty="0">
                <a:latin typeface="Tahoma"/>
                <a:cs typeface="Tahoma"/>
              </a:rPr>
              <a:t>2</a:t>
            </a:r>
            <a:r>
              <a:rPr sz="900" b="0" spc="105" dirty="0">
                <a:latin typeface="Tahoma"/>
                <a:cs typeface="Tahoma"/>
              </a:rPr>
              <a:t> </a:t>
            </a:r>
            <a:r>
              <a:rPr sz="900" b="0" spc="-35" dirty="0">
                <a:latin typeface="Tahoma"/>
                <a:cs typeface="Tahoma"/>
              </a:rPr>
              <a:t>Initializing</a:t>
            </a:r>
            <a:r>
              <a:rPr sz="900" b="0" spc="-60" dirty="0">
                <a:latin typeface="Tahoma"/>
                <a:cs typeface="Tahoma"/>
              </a:rPr>
              <a:t> </a:t>
            </a:r>
            <a:r>
              <a:rPr sz="900" b="0" spc="-30" dirty="0">
                <a:latin typeface="Tahoma"/>
                <a:cs typeface="Tahoma"/>
              </a:rPr>
              <a:t>the</a:t>
            </a:r>
            <a:r>
              <a:rPr sz="900" b="0" spc="-60" dirty="0">
                <a:latin typeface="Tahoma"/>
                <a:cs typeface="Tahoma"/>
              </a:rPr>
              <a:t> </a:t>
            </a:r>
            <a:r>
              <a:rPr sz="900" b="0" spc="-10" dirty="0">
                <a:latin typeface="Tahoma"/>
                <a:cs typeface="Tahoma"/>
              </a:rPr>
              <a:t>Simulation</a:t>
            </a:r>
            <a:endParaRPr sz="9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21894" y="3016594"/>
            <a:ext cx="236854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8</a:t>
            </a:fld>
            <a:r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347294" y="1149170"/>
            <a:ext cx="1585595" cy="1092835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8430">
              <a:lnSpc>
                <a:spcPct val="100000"/>
              </a:lnSpc>
              <a:spcBef>
                <a:spcPts val="90"/>
              </a:spcBef>
              <a:buClr>
                <a:srgbClr val="335D91"/>
              </a:buClr>
              <a:buFont typeface="Lucida Sans Unicode"/>
              <a:buChar char="►"/>
              <a:tabLst>
                <a:tab pos="151130" algn="l"/>
              </a:tabLst>
            </a:pPr>
            <a:r>
              <a:rPr sz="1100" spc="-40" dirty="0">
                <a:solidFill>
                  <a:srgbClr val="335D91"/>
                </a:solidFill>
                <a:latin typeface="Tahoma"/>
                <a:cs typeface="Tahoma"/>
                <a:hlinkClick r:id="rId3" action="ppaction://hlinksldjump"/>
              </a:rPr>
              <a:t>Initial</a:t>
            </a:r>
            <a:r>
              <a:rPr sz="1100" spc="-65" dirty="0">
                <a:solidFill>
                  <a:srgbClr val="335D91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335D91"/>
                </a:solidFill>
                <a:latin typeface="Tahoma"/>
                <a:cs typeface="Tahoma"/>
                <a:hlinkClick r:id="rId3" action="ppaction://hlinksldjump"/>
              </a:rPr>
              <a:t>Problem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894"/>
              </a:spcBef>
              <a:buFont typeface="Lucida Sans Unicode"/>
              <a:buChar char="►"/>
            </a:pPr>
            <a:endParaRPr sz="1100">
              <a:latin typeface="Tahoma"/>
              <a:cs typeface="Tahoma"/>
            </a:endParaRPr>
          </a:p>
          <a:p>
            <a:pPr marL="151130" indent="-138430">
              <a:lnSpc>
                <a:spcPct val="100000"/>
              </a:lnSpc>
              <a:buFont typeface="Lucida Sans Unicode"/>
              <a:buChar char="►"/>
              <a:tabLst>
                <a:tab pos="151130" algn="l"/>
              </a:tabLst>
            </a:pPr>
            <a:r>
              <a:rPr sz="1100" spc="-45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Initializing</a:t>
            </a:r>
            <a:r>
              <a:rPr sz="1100" spc="-40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the</a:t>
            </a:r>
            <a:r>
              <a:rPr sz="1100" spc="-40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5" dirty="0">
                <a:solidFill>
                  <a:srgbClr val="FFFFFF"/>
                </a:solidFill>
                <a:latin typeface="Tahoma"/>
                <a:cs typeface="Tahoma"/>
                <a:hlinkClick r:id="rId4" action="ppaction://hlinksldjump"/>
              </a:rPr>
              <a:t>Simulation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00"/>
              </a:spcBef>
              <a:buFont typeface="Lucida Sans Unicode"/>
              <a:buChar char="►"/>
            </a:pPr>
            <a:endParaRPr sz="1100">
              <a:latin typeface="Tahoma"/>
              <a:cs typeface="Tahoma"/>
            </a:endParaRPr>
          </a:p>
          <a:p>
            <a:pPr marL="151130" indent="-138430">
              <a:lnSpc>
                <a:spcPct val="100000"/>
              </a:lnSpc>
              <a:buFont typeface="Lucida Sans Unicode"/>
              <a:buChar char="►"/>
              <a:tabLst>
                <a:tab pos="151130" algn="l"/>
              </a:tabLst>
            </a:pPr>
            <a:r>
              <a:rPr sz="1100" spc="-10" dirty="0">
                <a:solidFill>
                  <a:srgbClr val="335D91"/>
                </a:solidFill>
                <a:latin typeface="Tahoma"/>
                <a:cs typeface="Tahoma"/>
                <a:hlinkClick r:id="rId5" action="ppaction://hlinksldjump"/>
              </a:rPr>
              <a:t>Results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1067295" y="252930"/>
            <a:ext cx="21380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-155" dirty="0">
                <a:solidFill>
                  <a:srgbClr val="003476"/>
                </a:solidFill>
                <a:latin typeface="Tahoma"/>
                <a:cs typeface="Tahoma"/>
              </a:rPr>
              <a:t>Changing</a:t>
            </a:r>
            <a:r>
              <a:rPr sz="1400" b="1" spc="-4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35" dirty="0">
                <a:solidFill>
                  <a:srgbClr val="003476"/>
                </a:solidFill>
                <a:latin typeface="Tahoma"/>
                <a:cs typeface="Tahoma"/>
              </a:rPr>
              <a:t>Turbulence</a:t>
            </a:r>
            <a:r>
              <a:rPr sz="1400" b="1" spc="-3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65" dirty="0">
                <a:solidFill>
                  <a:srgbClr val="003476"/>
                </a:solidFill>
                <a:latin typeface="Tahoma"/>
                <a:cs typeface="Tahoma"/>
              </a:rPr>
              <a:t>Model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05510" y="460433"/>
            <a:ext cx="4349115" cy="62293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74015">
              <a:lnSpc>
                <a:spcPct val="100000"/>
              </a:lnSpc>
              <a:spcBef>
                <a:spcPts val="95"/>
              </a:spcBef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2</a:t>
            </a:r>
            <a:r>
              <a:rPr sz="900" spc="10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Initializing</a:t>
            </a:r>
            <a:r>
              <a:rPr sz="900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0" dirty="0">
                <a:solidFill>
                  <a:srgbClr val="003476"/>
                </a:solidFill>
                <a:latin typeface="Tahoma"/>
                <a:cs typeface="Tahoma"/>
              </a:rPr>
              <a:t>the</a:t>
            </a:r>
            <a:r>
              <a:rPr sz="900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Simulation</a:t>
            </a:r>
            <a:endParaRPr sz="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950"/>
              </a:spcBef>
            </a:pP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need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to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change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turbulence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model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from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i="1" spc="15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i="1" spc="-60" dirty="0">
                <a:solidFill>
                  <a:srgbClr val="3F3F3F"/>
                </a:solidFill>
                <a:latin typeface="Verdana"/>
                <a:cs typeface="Verdana"/>
              </a:rPr>
              <a:t>−</a:t>
            </a:r>
            <a:r>
              <a:rPr sz="1100" i="1" spc="-125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100" i="1" spc="-55" dirty="0">
                <a:solidFill>
                  <a:srgbClr val="3F3F3F"/>
                </a:solidFill>
                <a:latin typeface="Arial"/>
                <a:cs typeface="Arial"/>
              </a:rPr>
              <a:t>ϵ</a:t>
            </a:r>
            <a:r>
              <a:rPr sz="1100" i="1" spc="-40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RNG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to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i="1" spc="15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i="1" spc="-60" dirty="0">
                <a:solidFill>
                  <a:srgbClr val="3F3F3F"/>
                </a:solidFill>
                <a:latin typeface="Verdana"/>
                <a:cs typeface="Verdana"/>
              </a:rPr>
              <a:t>−</a:t>
            </a:r>
            <a:r>
              <a:rPr sz="1100" i="1" spc="-125" dirty="0">
                <a:solidFill>
                  <a:srgbClr val="3F3F3F"/>
                </a:solidFill>
                <a:latin typeface="Verdana"/>
                <a:cs typeface="Verdana"/>
              </a:rPr>
              <a:t> </a:t>
            </a:r>
            <a:r>
              <a:rPr sz="1100" i="1" spc="-195" dirty="0">
                <a:solidFill>
                  <a:srgbClr val="3F3F3F"/>
                </a:solidFill>
                <a:latin typeface="Arial"/>
                <a:cs typeface="Arial"/>
              </a:rPr>
              <a:t>ω</a:t>
            </a:r>
            <a:r>
              <a:rPr sz="1100" i="1" spc="5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standard.</a:t>
            </a:r>
            <a:endParaRPr sz="11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Then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re-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set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correct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discretization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scheme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for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spc="-25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r>
              <a:rPr sz="1100" spc="-25" dirty="0">
                <a:solidFill>
                  <a:srgbClr val="3F3F3F"/>
                </a:solidFill>
                <a:latin typeface="Tahoma"/>
                <a:cs typeface="Tahoma"/>
              </a:rPr>
              <a:t>.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835202" y="1340995"/>
            <a:ext cx="1209567" cy="1474823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715207" y="1340981"/>
            <a:ext cx="1209568" cy="134942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321894" y="3016594"/>
            <a:ext cx="236854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9</a:t>
            </a:fld>
            <a:r>
              <a:rPr sz="800" spc="-30" dirty="0">
                <a:solidFill>
                  <a:srgbClr val="3F3F3F"/>
                </a:solidFill>
                <a:latin typeface="Tahoma"/>
                <a:cs typeface="Tahoma"/>
              </a:rPr>
              <a:t>/16</a:t>
            </a:r>
            <a:endParaRPr sz="8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/>
          <p:nvPr/>
        </p:nvSpPr>
        <p:spPr>
          <a:xfrm>
            <a:off x="1067295" y="252930"/>
            <a:ext cx="1203960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b="1" spc="-130" dirty="0">
                <a:solidFill>
                  <a:srgbClr val="003476"/>
                </a:solidFill>
                <a:latin typeface="Tahoma"/>
                <a:cs typeface="Tahoma"/>
              </a:rPr>
              <a:t>First</a:t>
            </a:r>
            <a:r>
              <a:rPr sz="1400" b="1" spc="-7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20" dirty="0">
                <a:solidFill>
                  <a:srgbClr val="003476"/>
                </a:solidFill>
                <a:latin typeface="Tahoma"/>
                <a:cs typeface="Tahoma"/>
              </a:rPr>
              <a:t>Simulation</a:t>
            </a:r>
            <a:endParaRPr sz="14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625360" y="407055"/>
            <a:ext cx="4509770" cy="447040"/>
          </a:xfrm>
          <a:prstGeom prst="rect">
            <a:avLst/>
          </a:prstGeom>
        </p:spPr>
        <p:txBody>
          <a:bodyPr vert="horz" wrap="square" lIns="0" tIns="65405" rIns="0" bIns="0" rtlCol="0">
            <a:spAutoFit/>
          </a:bodyPr>
          <a:lstStyle/>
          <a:p>
            <a:pPr marL="454025">
              <a:lnSpc>
                <a:spcPct val="100000"/>
              </a:lnSpc>
              <a:spcBef>
                <a:spcPts val="515"/>
              </a:spcBef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2</a:t>
            </a:r>
            <a:r>
              <a:rPr sz="900" spc="10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Initializing</a:t>
            </a:r>
            <a:r>
              <a:rPr sz="900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0" dirty="0">
                <a:solidFill>
                  <a:srgbClr val="003476"/>
                </a:solidFill>
                <a:latin typeface="Tahoma"/>
                <a:cs typeface="Tahoma"/>
              </a:rPr>
              <a:t>the</a:t>
            </a:r>
            <a:r>
              <a:rPr sz="900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Simulation</a:t>
            </a:r>
            <a:endParaRPr sz="900">
              <a:latin typeface="Tahoma"/>
              <a:cs typeface="Tahoma"/>
            </a:endParaRPr>
          </a:p>
          <a:p>
            <a:pPr marL="25400">
              <a:lnSpc>
                <a:spcPct val="100000"/>
              </a:lnSpc>
              <a:spcBef>
                <a:spcPts val="500"/>
              </a:spcBef>
            </a:pP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behavior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C</a:t>
            </a:r>
            <a:r>
              <a:rPr sz="1200" i="1" baseline="-13888" dirty="0">
                <a:solidFill>
                  <a:srgbClr val="3F3F3F"/>
                </a:solidFill>
                <a:latin typeface="Cambria"/>
                <a:cs typeface="Cambria"/>
              </a:rPr>
              <a:t>l</a:t>
            </a:r>
            <a:r>
              <a:rPr sz="1200" i="1" spc="209" baseline="-13888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confirms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that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flow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is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full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developed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after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3F3F3F"/>
                </a:solidFill>
                <a:latin typeface="Lucida Sans Unicode"/>
                <a:cs typeface="Lucida Sans Unicode"/>
              </a:rPr>
              <a:t>∼</a:t>
            </a:r>
            <a:r>
              <a:rPr sz="1100" spc="-15" dirty="0">
                <a:solidFill>
                  <a:srgbClr val="3F3F3F"/>
                </a:solidFill>
                <a:latin typeface="Lucida Sans Unicode"/>
                <a:cs typeface="Lucida Sans Unicode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5800</a:t>
            </a:r>
            <a:r>
              <a:rPr sz="1100" spc="2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time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steps.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373370" y="905971"/>
            <a:ext cx="3013192" cy="2021372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47294" y="3016594"/>
            <a:ext cx="247015" cy="15430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800" spc="-60" dirty="0">
                <a:solidFill>
                  <a:srgbClr val="3F3F3F"/>
                </a:solidFill>
                <a:latin typeface="Tahoma"/>
                <a:cs typeface="Tahoma"/>
              </a:rPr>
              <a:t>10/16</a:t>
            </a:r>
            <a:endParaRPr sz="800">
              <a:latin typeface="Tahoma"/>
              <a:cs typeface="Tahoma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884819" y="3052298"/>
            <a:ext cx="1990725" cy="19304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0"/>
              </a:spcBef>
            </a:pPr>
            <a:r>
              <a:rPr sz="1000" spc="-55" dirty="0">
                <a:solidFill>
                  <a:srgbClr val="003476"/>
                </a:solidFill>
                <a:latin typeface="Tahoma"/>
                <a:cs typeface="Tahoma"/>
              </a:rPr>
              <a:t>Figure:</a:t>
            </a:r>
            <a:r>
              <a:rPr sz="1000" spc="-6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000" spc="-55" dirty="0">
                <a:solidFill>
                  <a:srgbClr val="3F3F3F"/>
                </a:solidFill>
                <a:latin typeface="Tahoma"/>
                <a:cs typeface="Tahoma"/>
              </a:rPr>
              <a:t>Values</a:t>
            </a:r>
            <a:r>
              <a:rPr sz="10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20" dirty="0">
                <a:solidFill>
                  <a:srgbClr val="3F3F3F"/>
                </a:solidFill>
                <a:latin typeface="Tahoma"/>
                <a:cs typeface="Tahoma"/>
              </a:rPr>
              <a:t>of</a:t>
            </a:r>
            <a:r>
              <a:rPr sz="10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i="1" dirty="0">
                <a:solidFill>
                  <a:srgbClr val="3F3F3F"/>
                </a:solidFill>
                <a:latin typeface="Cambria"/>
                <a:cs typeface="Cambria"/>
              </a:rPr>
              <a:t>C</a:t>
            </a:r>
            <a:r>
              <a:rPr sz="1050" i="1" baseline="-11904" dirty="0">
                <a:solidFill>
                  <a:srgbClr val="3F3F3F"/>
                </a:solidFill>
                <a:latin typeface="Cambria"/>
                <a:cs typeface="Cambria"/>
              </a:rPr>
              <a:t>l</a:t>
            </a:r>
            <a:r>
              <a:rPr sz="1050" i="1" spc="217" baseline="-11904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000" spc="-30" dirty="0">
                <a:solidFill>
                  <a:srgbClr val="3F3F3F"/>
                </a:solidFill>
                <a:latin typeface="Tahoma"/>
                <a:cs typeface="Tahoma"/>
              </a:rPr>
              <a:t>for</a:t>
            </a:r>
            <a:r>
              <a:rPr sz="10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50" dirty="0">
                <a:solidFill>
                  <a:srgbClr val="3F3F3F"/>
                </a:solidFill>
                <a:latin typeface="Tahoma"/>
                <a:cs typeface="Tahoma"/>
              </a:rPr>
              <a:t>each</a:t>
            </a:r>
            <a:r>
              <a:rPr sz="10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30" dirty="0">
                <a:solidFill>
                  <a:srgbClr val="3F3F3F"/>
                </a:solidFill>
                <a:latin typeface="Tahoma"/>
                <a:cs typeface="Tahoma"/>
              </a:rPr>
              <a:t>time</a:t>
            </a:r>
            <a:r>
              <a:rPr sz="10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F3F3F"/>
                </a:solidFill>
                <a:latin typeface="Tahoma"/>
                <a:cs typeface="Tahoma"/>
              </a:rPr>
              <a:t>step.</a:t>
            </a:r>
            <a:endParaRPr sz="1000" dirty="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 descr="$PPTXTitle"/>
          <p:cNvSpPr txBox="1">
            <a:spLocks noGrp="1"/>
          </p:cNvSpPr>
          <p:nvPr>
            <p:ph type="title"/>
          </p:nvPr>
        </p:nvSpPr>
        <p:spPr>
          <a:xfrm>
            <a:off x="1067295" y="252930"/>
            <a:ext cx="18992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pc="-130" dirty="0">
                <a:solidFill>
                  <a:srgbClr val="003476"/>
                </a:solidFill>
              </a:rPr>
              <a:t>Simulation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spc="-100" dirty="0">
                <a:solidFill>
                  <a:srgbClr val="003476"/>
                </a:solidFill>
              </a:rPr>
              <a:t>of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spc="-114" dirty="0">
                <a:solidFill>
                  <a:srgbClr val="003476"/>
                </a:solidFill>
              </a:rPr>
              <a:t>one</a:t>
            </a:r>
            <a:r>
              <a:rPr spc="-65" dirty="0">
                <a:solidFill>
                  <a:srgbClr val="003476"/>
                </a:solidFill>
              </a:rPr>
              <a:t> </a:t>
            </a:r>
            <a:r>
              <a:rPr spc="-85" dirty="0">
                <a:solidFill>
                  <a:srgbClr val="003476"/>
                </a:solidFill>
              </a:rPr>
              <a:t>period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377685" y="407055"/>
            <a:ext cx="5005070" cy="619125"/>
          </a:xfrm>
          <a:prstGeom prst="rect">
            <a:avLst/>
          </a:prstGeom>
        </p:spPr>
        <p:txBody>
          <a:bodyPr vert="horz" wrap="square" lIns="0" tIns="65405" rIns="0" bIns="0" rtlCol="0">
            <a:spAutoFit/>
          </a:bodyPr>
          <a:lstStyle/>
          <a:p>
            <a:pPr marL="702310">
              <a:lnSpc>
                <a:spcPct val="100000"/>
              </a:lnSpc>
              <a:spcBef>
                <a:spcPts val="515"/>
              </a:spcBef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2</a:t>
            </a:r>
            <a:r>
              <a:rPr sz="900" spc="10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5" dirty="0">
                <a:solidFill>
                  <a:srgbClr val="003476"/>
                </a:solidFill>
                <a:latin typeface="Tahoma"/>
                <a:cs typeface="Tahoma"/>
              </a:rPr>
              <a:t>Initializing</a:t>
            </a:r>
            <a:r>
              <a:rPr sz="900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30" dirty="0">
                <a:solidFill>
                  <a:srgbClr val="003476"/>
                </a:solidFill>
                <a:latin typeface="Tahoma"/>
                <a:cs typeface="Tahoma"/>
              </a:rPr>
              <a:t>the</a:t>
            </a:r>
            <a:r>
              <a:rPr sz="900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Simulation</a:t>
            </a:r>
            <a:endParaRPr sz="900">
              <a:latin typeface="Tahoma"/>
              <a:cs typeface="Tahoma"/>
            </a:endParaRPr>
          </a:p>
          <a:p>
            <a:pPr algn="ctr">
              <a:lnSpc>
                <a:spcPct val="100000"/>
              </a:lnSpc>
              <a:spcBef>
                <a:spcPts val="500"/>
              </a:spcBef>
            </a:pP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For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a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clean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simulation,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perform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an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additional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161</a:t>
            </a:r>
            <a:r>
              <a:rPr sz="1100" spc="25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steps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in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order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to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finish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with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C</a:t>
            </a:r>
            <a:r>
              <a:rPr sz="1200" i="1" baseline="-13888" dirty="0">
                <a:solidFill>
                  <a:srgbClr val="3F3F3F"/>
                </a:solidFill>
                <a:latin typeface="Cambria"/>
                <a:cs typeface="Cambria"/>
              </a:rPr>
              <a:t>l</a:t>
            </a:r>
            <a:r>
              <a:rPr sz="1200" i="1" spc="315" baseline="-13888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Cambria"/>
                <a:cs typeface="Cambria"/>
              </a:rPr>
              <a:t>0</a:t>
            </a:r>
            <a:endParaRPr sz="1100">
              <a:latin typeface="Cambria"/>
              <a:cs typeface="Cambria"/>
            </a:endParaRPr>
          </a:p>
          <a:p>
            <a:pPr algn="ctr">
              <a:lnSpc>
                <a:spcPct val="100000"/>
              </a:lnSpc>
              <a:spcBef>
                <a:spcPts val="35"/>
              </a:spcBef>
            </a:pP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Then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proceed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with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dirty="0">
                <a:solidFill>
                  <a:srgbClr val="3F3F3F"/>
                </a:solidFill>
                <a:latin typeface="Cambria"/>
                <a:cs typeface="Cambria"/>
              </a:rPr>
              <a:t>363</a:t>
            </a:r>
            <a:r>
              <a:rPr sz="1100" spc="3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steps,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which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cover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a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5" dirty="0">
                <a:solidFill>
                  <a:srgbClr val="3F3F3F"/>
                </a:solidFill>
                <a:latin typeface="Tahoma"/>
                <a:cs typeface="Tahoma"/>
              </a:rPr>
              <a:t>complete</a:t>
            </a:r>
            <a:r>
              <a:rPr sz="1100" spc="-7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period</a:t>
            </a:r>
            <a:endParaRPr sz="110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24471" y="1075391"/>
            <a:ext cx="2510973" cy="167696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1824240" y="2878256"/>
            <a:ext cx="2112010" cy="17780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000" spc="-55" dirty="0">
                <a:solidFill>
                  <a:srgbClr val="003476"/>
                </a:solidFill>
                <a:latin typeface="Tahoma"/>
                <a:cs typeface="Tahoma"/>
              </a:rPr>
              <a:t>Figure: </a:t>
            </a:r>
            <a:r>
              <a:rPr sz="1000" i="1" dirty="0">
                <a:solidFill>
                  <a:srgbClr val="3F3F3F"/>
                </a:solidFill>
                <a:latin typeface="Cambria"/>
                <a:cs typeface="Cambria"/>
              </a:rPr>
              <a:t>C</a:t>
            </a:r>
            <a:r>
              <a:rPr sz="1050" i="1" baseline="-11904" dirty="0">
                <a:solidFill>
                  <a:srgbClr val="3F3F3F"/>
                </a:solidFill>
                <a:latin typeface="Cambria"/>
                <a:cs typeface="Cambria"/>
              </a:rPr>
              <a:t>l</a:t>
            </a:r>
            <a:r>
              <a:rPr sz="1050" i="1" spc="232" baseline="-11904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000" spc="-50" dirty="0">
                <a:solidFill>
                  <a:srgbClr val="3F3F3F"/>
                </a:solidFill>
                <a:latin typeface="Tahoma"/>
                <a:cs typeface="Tahoma"/>
              </a:rPr>
              <a:t>values</a:t>
            </a:r>
            <a:r>
              <a:rPr sz="10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40" dirty="0">
                <a:solidFill>
                  <a:srgbClr val="3F3F3F"/>
                </a:solidFill>
                <a:latin typeface="Tahoma"/>
                <a:cs typeface="Tahoma"/>
              </a:rPr>
              <a:t>throughout</a:t>
            </a:r>
            <a:r>
              <a:rPr sz="1000" spc="-5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35" dirty="0">
                <a:solidFill>
                  <a:srgbClr val="3F3F3F"/>
                </a:solidFill>
                <a:latin typeface="Tahoma"/>
                <a:cs typeface="Tahoma"/>
              </a:rPr>
              <a:t>one</a:t>
            </a:r>
            <a:r>
              <a:rPr sz="1000" spc="-5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000" spc="-10" dirty="0">
                <a:solidFill>
                  <a:srgbClr val="3F3F3F"/>
                </a:solidFill>
                <a:latin typeface="Tahoma"/>
                <a:cs typeface="Tahoma"/>
              </a:rPr>
              <a:t>period</a:t>
            </a:r>
            <a:endParaRPr sz="1000" dirty="0">
              <a:latin typeface="Tahoma"/>
              <a:cs typeface="Tahom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11</a:t>
            </a:fld>
            <a:r>
              <a:rPr spc="-65" dirty="0"/>
              <a:t>/16</a:t>
            </a:r>
          </a:p>
        </p:txBody>
      </p:sp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0" y="0"/>
            <a:ext cx="5760085" cy="3240405"/>
          </a:xfrm>
          <a:custGeom>
            <a:avLst/>
            <a:gdLst/>
            <a:ahLst/>
            <a:cxnLst/>
            <a:rect l="l" t="t" r="r" b="b"/>
            <a:pathLst>
              <a:path w="5760085" h="3240405">
                <a:moveTo>
                  <a:pt x="5759996" y="0"/>
                </a:moveTo>
                <a:lnTo>
                  <a:pt x="0" y="0"/>
                </a:lnTo>
                <a:lnTo>
                  <a:pt x="0" y="3239998"/>
                </a:lnTo>
                <a:lnTo>
                  <a:pt x="5759996" y="3239998"/>
                </a:lnTo>
                <a:lnTo>
                  <a:pt x="5759996" y="0"/>
                </a:lnTo>
                <a:close/>
              </a:path>
            </a:pathLst>
          </a:custGeom>
          <a:solidFill>
            <a:srgbClr val="003476"/>
          </a:solidFill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45579" y="3"/>
            <a:ext cx="518378" cy="617051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1067295" y="252930"/>
            <a:ext cx="1339215" cy="3695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z="1400" b="1" spc="-150" dirty="0">
                <a:solidFill>
                  <a:srgbClr val="FFFFFF"/>
                </a:solidFill>
                <a:latin typeface="Tahoma"/>
                <a:cs typeface="Tahoma"/>
              </a:rPr>
              <a:t>Table</a:t>
            </a:r>
            <a:r>
              <a:rPr sz="1400" b="1" spc="-7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b="1" spc="-100" dirty="0">
                <a:solidFill>
                  <a:srgbClr val="FFFFFF"/>
                </a:solidFill>
                <a:latin typeface="Tahoma"/>
                <a:cs typeface="Tahoma"/>
              </a:rPr>
              <a:t>of</a:t>
            </a:r>
            <a:r>
              <a:rPr sz="1400" b="1" spc="-6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1400" b="1" spc="-125" dirty="0">
                <a:solidFill>
                  <a:srgbClr val="FFFFFF"/>
                </a:solidFill>
                <a:latin typeface="Tahoma"/>
                <a:cs typeface="Tahoma"/>
              </a:rPr>
              <a:t>Contents</a:t>
            </a:r>
            <a:endParaRPr sz="1400">
              <a:latin typeface="Tahoma"/>
              <a:cs typeface="Tahoma"/>
            </a:endParaRPr>
          </a:p>
          <a:p>
            <a:pPr marL="12700">
              <a:lnSpc>
                <a:spcPts val="1040"/>
              </a:lnSpc>
            </a:pPr>
            <a:r>
              <a:rPr sz="900" dirty="0">
                <a:solidFill>
                  <a:srgbClr val="FFFFFF"/>
                </a:solidFill>
                <a:latin typeface="Tahoma"/>
                <a:cs typeface="Tahoma"/>
              </a:rPr>
              <a:t>3</a:t>
            </a:r>
            <a:r>
              <a:rPr sz="900" spc="20" dirty="0">
                <a:solidFill>
                  <a:srgbClr val="FFFFFF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FFFFFF"/>
                </a:solidFill>
                <a:latin typeface="Tahoma"/>
                <a:cs typeface="Tahoma"/>
              </a:rPr>
              <a:t>Results</a:t>
            </a:r>
            <a:endParaRPr sz="900">
              <a:latin typeface="Tahoma"/>
              <a:cs typeface="Tahoma"/>
            </a:endParaRPr>
          </a:p>
        </p:txBody>
      </p:sp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12</a:t>
            </a:fld>
            <a:r>
              <a:rPr spc="-65" dirty="0"/>
              <a:t>/16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47294" y="1143646"/>
            <a:ext cx="1585595" cy="109474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51130" indent="-138430">
              <a:lnSpc>
                <a:spcPct val="100000"/>
              </a:lnSpc>
              <a:spcBef>
                <a:spcPts val="90"/>
              </a:spcBef>
              <a:buClr>
                <a:srgbClr val="335D91"/>
              </a:buClr>
              <a:buFont typeface="Lucida Sans Unicode"/>
              <a:buChar char="►"/>
              <a:tabLst>
                <a:tab pos="151130" algn="l"/>
              </a:tabLst>
            </a:pPr>
            <a:r>
              <a:rPr sz="1100" spc="-40" dirty="0">
                <a:solidFill>
                  <a:srgbClr val="335D91"/>
                </a:solidFill>
                <a:latin typeface="Tahoma"/>
                <a:cs typeface="Tahoma"/>
                <a:hlinkClick r:id="rId3" action="ppaction://hlinksldjump"/>
              </a:rPr>
              <a:t>Initial</a:t>
            </a:r>
            <a:r>
              <a:rPr sz="1100" spc="-65" dirty="0">
                <a:solidFill>
                  <a:srgbClr val="335D91"/>
                </a:solidFill>
                <a:latin typeface="Tahoma"/>
                <a:cs typeface="Tahoma"/>
                <a:hlinkClick r:id="rId3" action="ppaction://hlinksldjump"/>
              </a:rPr>
              <a:t> </a:t>
            </a:r>
            <a:r>
              <a:rPr sz="1100" spc="-10" dirty="0">
                <a:solidFill>
                  <a:srgbClr val="335D91"/>
                </a:solidFill>
                <a:latin typeface="Tahoma"/>
                <a:cs typeface="Tahoma"/>
                <a:hlinkClick r:id="rId3" action="ppaction://hlinksldjump"/>
              </a:rPr>
              <a:t>Problem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05"/>
              </a:spcBef>
              <a:buFont typeface="Lucida Sans Unicode"/>
              <a:buChar char="►"/>
            </a:pPr>
            <a:endParaRPr sz="1100">
              <a:latin typeface="Tahoma"/>
              <a:cs typeface="Tahoma"/>
            </a:endParaRPr>
          </a:p>
          <a:p>
            <a:pPr marL="151130" indent="-138430">
              <a:lnSpc>
                <a:spcPct val="100000"/>
              </a:lnSpc>
              <a:buFont typeface="Lucida Sans Unicode"/>
              <a:buChar char="►"/>
              <a:tabLst>
                <a:tab pos="151130" algn="l"/>
              </a:tabLst>
            </a:pPr>
            <a:r>
              <a:rPr sz="1100" spc="-45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Initializing</a:t>
            </a:r>
            <a:r>
              <a:rPr sz="1100" spc="-40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5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the</a:t>
            </a:r>
            <a:r>
              <a:rPr sz="1100" spc="-40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 </a:t>
            </a:r>
            <a:r>
              <a:rPr sz="1100" spc="-35" dirty="0">
                <a:solidFill>
                  <a:srgbClr val="335D91"/>
                </a:solidFill>
                <a:latin typeface="Tahoma"/>
                <a:cs typeface="Tahoma"/>
                <a:hlinkClick r:id="rId4" action="ppaction://hlinksldjump"/>
              </a:rPr>
              <a:t>Simulation</a:t>
            </a:r>
            <a:endParaRPr sz="1100">
              <a:latin typeface="Tahoma"/>
              <a:cs typeface="Tahoma"/>
            </a:endParaRPr>
          </a:p>
          <a:p>
            <a:pPr>
              <a:lnSpc>
                <a:spcPct val="100000"/>
              </a:lnSpc>
              <a:spcBef>
                <a:spcPts val="910"/>
              </a:spcBef>
              <a:buFont typeface="Lucida Sans Unicode"/>
              <a:buChar char="►"/>
            </a:pPr>
            <a:endParaRPr sz="1100">
              <a:latin typeface="Tahoma"/>
              <a:cs typeface="Tahoma"/>
            </a:endParaRPr>
          </a:p>
          <a:p>
            <a:pPr marL="151130" indent="-138430">
              <a:lnSpc>
                <a:spcPct val="100000"/>
              </a:lnSpc>
              <a:buFont typeface="Lucida Sans Unicode"/>
              <a:buChar char="►"/>
              <a:tabLst>
                <a:tab pos="151130" algn="l"/>
              </a:tabLst>
            </a:pPr>
            <a:r>
              <a:rPr sz="1100" spc="-10" dirty="0">
                <a:solidFill>
                  <a:srgbClr val="FFFFFF"/>
                </a:solidFill>
                <a:latin typeface="Tahoma"/>
                <a:cs typeface="Tahoma"/>
                <a:hlinkClick r:id="rId5" action="ppaction://hlinksldjump"/>
              </a:rPr>
              <a:t>Results</a:t>
            </a:r>
            <a:endParaRPr sz="1100">
              <a:latin typeface="Tahoma"/>
              <a:cs typeface="Tahoma"/>
            </a:endParaRP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067295" y="252930"/>
            <a:ext cx="1149350" cy="3695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z="1400" b="1" spc="-135" dirty="0">
                <a:solidFill>
                  <a:srgbClr val="003476"/>
                </a:solidFill>
                <a:latin typeface="Tahoma"/>
                <a:cs typeface="Tahoma"/>
              </a:rPr>
              <a:t>Retrieved</a:t>
            </a:r>
            <a:r>
              <a:rPr sz="1400" b="1" spc="-1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20" dirty="0">
                <a:solidFill>
                  <a:srgbClr val="003476"/>
                </a:solidFill>
                <a:latin typeface="Tahoma"/>
                <a:cs typeface="Tahoma"/>
              </a:rPr>
              <a:t>Data</a:t>
            </a:r>
            <a:endParaRPr sz="1400">
              <a:latin typeface="Tahoma"/>
              <a:cs typeface="Tahoma"/>
            </a:endParaRPr>
          </a:p>
          <a:p>
            <a:pPr marL="12700">
              <a:lnSpc>
                <a:spcPts val="1040"/>
              </a:lnSpc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3</a:t>
            </a:r>
            <a:r>
              <a:rPr sz="900" spc="2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Results</a:t>
            </a:r>
            <a:endParaRPr sz="900">
              <a:latin typeface="Tahoma"/>
              <a:cs typeface="Tahoma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1542541" y="1031060"/>
            <a:ext cx="267525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After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simulation,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get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following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data:</a:t>
            </a:r>
            <a:endParaRPr sz="1100">
              <a:latin typeface="Tahoma"/>
              <a:cs typeface="Tahoma"/>
            </a:endParaRP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076820" y="1288237"/>
          <a:ext cx="875030" cy="104139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8750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6530">
                <a:tc>
                  <a:txBody>
                    <a:bodyPr/>
                    <a:lstStyle/>
                    <a:p>
                      <a:pPr marL="75565">
                        <a:lnSpc>
                          <a:spcPts val="1190"/>
                        </a:lnSpc>
                      </a:pPr>
                      <a:r>
                        <a:rPr sz="1100" b="1" spc="-1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Reports</a:t>
                      </a:r>
                      <a:endParaRPr sz="110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L w="6350">
                      <a:solidFill>
                        <a:srgbClr val="3F3F3F"/>
                      </a:solidFill>
                      <a:prstDash val="solid"/>
                    </a:lnL>
                    <a:lnR w="6350">
                      <a:solidFill>
                        <a:srgbClr val="3F3F3F"/>
                      </a:solidFill>
                      <a:prstDash val="solid"/>
                    </a:lnR>
                    <a:lnT w="6350">
                      <a:solidFill>
                        <a:srgbClr val="3F3F3F"/>
                      </a:solidFill>
                      <a:prstDash val="solid"/>
                    </a:lnT>
                    <a:lnB w="6350">
                      <a:solidFill>
                        <a:srgbClr val="3F3F3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64869">
                <a:tc>
                  <a:txBody>
                    <a:bodyPr/>
                    <a:lstStyle/>
                    <a:p>
                      <a:pPr marL="75565">
                        <a:lnSpc>
                          <a:spcPts val="1190"/>
                        </a:lnSpc>
                      </a:pPr>
                      <a:r>
                        <a:rPr sz="1100" i="1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C</a:t>
                      </a:r>
                      <a:r>
                        <a:rPr sz="1200" i="1" spc="-37" baseline="-13888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l</a:t>
                      </a:r>
                      <a:endParaRPr sz="1200" baseline="-13888">
                        <a:latin typeface="Cambria"/>
                        <a:cs typeface="Cambria"/>
                      </a:endParaRPr>
                    </a:p>
                    <a:p>
                      <a:pPr marL="75565" marR="635635">
                        <a:lnSpc>
                          <a:spcPct val="102600"/>
                        </a:lnSpc>
                      </a:pPr>
                      <a:r>
                        <a:rPr sz="1100" i="1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C</a:t>
                      </a:r>
                      <a:r>
                        <a:rPr sz="1200" i="1" spc="-37" baseline="-13888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d</a:t>
                      </a:r>
                      <a:r>
                        <a:rPr sz="1200" i="1" spc="750" baseline="-13888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i="1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C</a:t>
                      </a:r>
                      <a:r>
                        <a:rPr sz="1200" i="1" spc="-37" baseline="-10416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m</a:t>
                      </a:r>
                      <a:endParaRPr sz="1200" baseline="-10416">
                        <a:latin typeface="Cambria"/>
                        <a:cs typeface="Cambria"/>
                      </a:endParaRPr>
                    </a:p>
                    <a:p>
                      <a:pPr marL="7556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u</a:t>
                      </a:r>
                      <a:r>
                        <a:rPr sz="1100" i="1" spc="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spc="-4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on</a:t>
                      </a:r>
                      <a:r>
                        <a:rPr sz="1100" spc="-9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1100" i="1" spc="7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=</a:t>
                      </a:r>
                      <a:r>
                        <a:rPr sz="1100" spc="-3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spc="-5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1100">
                        <a:latin typeface="Cambria"/>
                        <a:cs typeface="Cambria"/>
                      </a:endParaRPr>
                    </a:p>
                    <a:p>
                      <a:pPr marL="7556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u</a:t>
                      </a:r>
                      <a:r>
                        <a:rPr sz="1100" i="1" spc="1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spc="-4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on</a:t>
                      </a:r>
                      <a:r>
                        <a:rPr sz="1100" spc="-9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y</a:t>
                      </a:r>
                      <a:r>
                        <a:rPr sz="1100" i="1" spc="7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=</a:t>
                      </a:r>
                      <a:r>
                        <a:rPr sz="1100" spc="-2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0</a:t>
                      </a:r>
                      <a:r>
                        <a:rPr sz="1100" i="1" spc="-25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1100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5</a:t>
                      </a:r>
                      <a:endParaRPr sz="1100">
                        <a:latin typeface="Cambria"/>
                        <a:cs typeface="Cambria"/>
                      </a:endParaRPr>
                    </a:p>
                  </a:txBody>
                  <a:tcPr marL="0" marR="0" marT="0" marB="0">
                    <a:lnL w="6350">
                      <a:solidFill>
                        <a:srgbClr val="3F3F3F"/>
                      </a:solidFill>
                      <a:prstDash val="solid"/>
                    </a:lnL>
                    <a:lnR w="6350">
                      <a:solidFill>
                        <a:srgbClr val="3F3F3F"/>
                      </a:solidFill>
                      <a:prstDash val="solid"/>
                    </a:lnR>
                    <a:lnT w="6350">
                      <a:solidFill>
                        <a:srgbClr val="3F3F3F"/>
                      </a:solidFill>
                      <a:prstDash val="solid"/>
                    </a:lnT>
                    <a:lnB w="6350">
                      <a:solidFill>
                        <a:srgbClr val="3F3F3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5" name="object 5"/>
          <p:cNvSpPr/>
          <p:nvPr/>
        </p:nvSpPr>
        <p:spPr>
          <a:xfrm>
            <a:off x="3562248" y="1651012"/>
            <a:ext cx="138430" cy="0"/>
          </a:xfrm>
          <a:custGeom>
            <a:avLst/>
            <a:gdLst/>
            <a:ahLst/>
            <a:cxnLst/>
            <a:rect l="l" t="t" r="r" b="b"/>
            <a:pathLst>
              <a:path w="138429">
                <a:moveTo>
                  <a:pt x="0" y="0"/>
                </a:moveTo>
                <a:lnTo>
                  <a:pt x="138023" y="0"/>
                </a:lnTo>
              </a:path>
            </a:pathLst>
          </a:custGeom>
          <a:ln w="5537">
            <a:solidFill>
              <a:srgbClr val="3F3F3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6" name="object 6"/>
          <p:cNvGraphicFramePr>
            <a:graphicFrameLocks noGrp="1"/>
          </p:cNvGraphicFramePr>
          <p:nvPr/>
        </p:nvGraphicFramePr>
        <p:xfrm>
          <a:off x="3483800" y="1288237"/>
          <a:ext cx="1513840" cy="6972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13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176530">
                <a:tc>
                  <a:txBody>
                    <a:bodyPr/>
                    <a:lstStyle/>
                    <a:p>
                      <a:pPr marL="75565">
                        <a:lnSpc>
                          <a:spcPts val="1190"/>
                        </a:lnSpc>
                      </a:pPr>
                      <a:r>
                        <a:rPr sz="1100" b="1" spc="-2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Statistics</a:t>
                      </a:r>
                      <a:endParaRPr sz="1100">
                        <a:latin typeface="Tahoma"/>
                        <a:cs typeface="Tahoma"/>
                      </a:endParaRPr>
                    </a:p>
                  </a:txBody>
                  <a:tcPr marL="0" marR="0" marT="0" marB="0">
                    <a:lnL w="6350">
                      <a:solidFill>
                        <a:srgbClr val="3F3F3F"/>
                      </a:solidFill>
                      <a:prstDash val="solid"/>
                    </a:lnL>
                    <a:lnR w="6350">
                      <a:solidFill>
                        <a:srgbClr val="3F3F3F"/>
                      </a:solidFill>
                      <a:prstDash val="solid"/>
                    </a:lnR>
                    <a:lnT w="6350">
                      <a:solidFill>
                        <a:srgbClr val="3F3F3F"/>
                      </a:solidFill>
                      <a:prstDash val="solid"/>
                    </a:lnT>
                    <a:lnB w="6350">
                      <a:solidFill>
                        <a:srgbClr val="3F3F3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0700">
                <a:tc>
                  <a:txBody>
                    <a:bodyPr/>
                    <a:lstStyle/>
                    <a:p>
                      <a:pPr marL="75565">
                        <a:lnSpc>
                          <a:spcPts val="1190"/>
                        </a:lnSpc>
                      </a:pPr>
                      <a:r>
                        <a:rPr sz="1100" i="1" spc="-1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u</a:t>
                      </a:r>
                      <a:r>
                        <a:rPr sz="1100" i="1" spc="-10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,</a:t>
                      </a:r>
                      <a:r>
                        <a:rPr sz="1100" i="1" spc="-110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v</a:t>
                      </a:r>
                      <a:r>
                        <a:rPr sz="1100" i="1" spc="2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spc="-4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statistics</a:t>
                      </a:r>
                      <a:r>
                        <a:rPr sz="1100" spc="-8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spc="-4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on</a:t>
                      </a:r>
                      <a:r>
                        <a:rPr sz="1100" spc="-7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x</a:t>
                      </a:r>
                      <a:r>
                        <a:rPr sz="1100" i="1" spc="8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=</a:t>
                      </a:r>
                      <a:r>
                        <a:rPr sz="1100" spc="-1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spc="-5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0</a:t>
                      </a:r>
                      <a:endParaRPr sz="1100">
                        <a:latin typeface="Cambria"/>
                        <a:cs typeface="Cambria"/>
                      </a:endParaRPr>
                    </a:p>
                    <a:p>
                      <a:pPr marL="7556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C</a:t>
                      </a:r>
                      <a:r>
                        <a:rPr sz="1200" i="1" baseline="-10416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P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,</a:t>
                      </a:r>
                      <a:r>
                        <a:rPr sz="1100" i="1" spc="-105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spc="-45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σ</a:t>
                      </a:r>
                      <a:r>
                        <a:rPr sz="1100" i="1" spc="-55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spc="-2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(</a:t>
                      </a:r>
                      <a:r>
                        <a:rPr sz="1100" i="1" spc="-2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C</a:t>
                      </a:r>
                      <a:r>
                        <a:rPr sz="1200" i="1" spc="-30" baseline="-10416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p</a:t>
                      </a:r>
                      <a:r>
                        <a:rPr sz="1100" spc="-2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)</a:t>
                      </a:r>
                      <a:endParaRPr sz="1100">
                        <a:latin typeface="Tahoma"/>
                        <a:cs typeface="Tahoma"/>
                      </a:endParaRPr>
                    </a:p>
                    <a:p>
                      <a:pPr marL="75565">
                        <a:lnSpc>
                          <a:spcPct val="100000"/>
                        </a:lnSpc>
                        <a:spcBef>
                          <a:spcPts val="35"/>
                        </a:spcBef>
                      </a:pPr>
                      <a:r>
                        <a:rPr sz="1100" i="1" spc="-10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u</a:t>
                      </a:r>
                      <a:r>
                        <a:rPr sz="1100" i="1" spc="-10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,</a:t>
                      </a:r>
                      <a:r>
                        <a:rPr sz="1100" i="1" spc="-110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v</a:t>
                      </a:r>
                      <a:r>
                        <a:rPr sz="1100" i="1" spc="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spc="-4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statistics</a:t>
                      </a:r>
                      <a:r>
                        <a:rPr sz="1100" spc="-7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spc="-4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on</a:t>
                      </a:r>
                      <a:r>
                        <a:rPr sz="1100" spc="-7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i="1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y</a:t>
                      </a:r>
                      <a:r>
                        <a:rPr sz="1100" i="1" spc="8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 </a:t>
                      </a:r>
                      <a:r>
                        <a:rPr sz="1100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=</a:t>
                      </a:r>
                      <a:r>
                        <a:rPr sz="1100" spc="-5" dirty="0">
                          <a:solidFill>
                            <a:srgbClr val="3F3F3F"/>
                          </a:solidFill>
                          <a:latin typeface="Tahoma"/>
                          <a:cs typeface="Tahoma"/>
                        </a:rPr>
                        <a:t> </a:t>
                      </a:r>
                      <a:r>
                        <a:rPr sz="1100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0</a:t>
                      </a:r>
                      <a:r>
                        <a:rPr sz="1100" i="1" spc="-25" dirty="0">
                          <a:solidFill>
                            <a:srgbClr val="3F3F3F"/>
                          </a:solidFill>
                          <a:latin typeface="Arial"/>
                          <a:cs typeface="Arial"/>
                        </a:rPr>
                        <a:t>.</a:t>
                      </a:r>
                      <a:r>
                        <a:rPr sz="1100" spc="-25" dirty="0">
                          <a:solidFill>
                            <a:srgbClr val="3F3F3F"/>
                          </a:solidFill>
                          <a:latin typeface="Cambria"/>
                          <a:cs typeface="Cambria"/>
                        </a:rPr>
                        <a:t>5</a:t>
                      </a:r>
                      <a:endParaRPr sz="1100">
                        <a:latin typeface="Cambria"/>
                        <a:cs typeface="Cambria"/>
                      </a:endParaRPr>
                    </a:p>
                  </a:txBody>
                  <a:tcPr marL="0" marR="0" marT="0" marB="0">
                    <a:lnL w="6350">
                      <a:solidFill>
                        <a:srgbClr val="3F3F3F"/>
                      </a:solidFill>
                      <a:prstDash val="solid"/>
                    </a:lnL>
                    <a:lnR w="6350">
                      <a:solidFill>
                        <a:srgbClr val="3F3F3F"/>
                      </a:solidFill>
                      <a:prstDash val="solid"/>
                    </a:lnR>
                    <a:lnT w="6350">
                      <a:solidFill>
                        <a:srgbClr val="3F3F3F"/>
                      </a:solidFill>
                      <a:prstDash val="solid"/>
                    </a:lnT>
                    <a:lnB w="6350">
                      <a:solidFill>
                        <a:srgbClr val="3F3F3F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13</a:t>
            </a:fld>
            <a:r>
              <a:rPr spc="-65" dirty="0"/>
              <a:t>/16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animation-vorticity">
            <a:hlinkClick r:id="" action="ppaction://media"/>
            <a:extLst>
              <a:ext uri="{FF2B5EF4-FFF2-40B4-BE49-F238E27FC236}">
                <a16:creationId xmlns:a16="http://schemas.microsoft.com/office/drawing/2014/main" id="{F8B1CB50-FF0A-6699-3537-09D4BE3A379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6"/>
          <a:srcRect r="33624"/>
          <a:stretch>
            <a:fillRect/>
          </a:stretch>
        </p:blipFill>
        <p:spPr>
          <a:xfrm>
            <a:off x="304306" y="1000340"/>
            <a:ext cx="2502517" cy="1244170"/>
          </a:xfrm>
          <a:prstGeom prst="rect">
            <a:avLst/>
          </a:prstGeom>
        </p:spPr>
      </p:pic>
      <p:pic>
        <p:nvPicPr>
          <p:cNvPr id="4" name="animation-k">
            <a:hlinkClick r:id="" action="ppaction://media"/>
            <a:extLst>
              <a:ext uri="{FF2B5EF4-FFF2-40B4-BE49-F238E27FC236}">
                <a16:creationId xmlns:a16="http://schemas.microsoft.com/office/drawing/2014/main" id="{A7FA55A7-008A-A452-BF52-8730D8E14C3C}"/>
              </a:ext>
            </a:extLst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7"/>
          <a:srcRect l="-1654" r="31528"/>
          <a:stretch>
            <a:fillRect/>
          </a:stretch>
        </p:blipFill>
        <p:spPr>
          <a:xfrm>
            <a:off x="2882900" y="1000340"/>
            <a:ext cx="2578594" cy="1244170"/>
          </a:xfrm>
          <a:prstGeom prst="rect">
            <a:avLst/>
          </a:prstGeom>
        </p:spPr>
      </p:pic>
      <p:sp>
        <p:nvSpPr>
          <p:cNvPr id="5" name="object 2">
            <a:extLst>
              <a:ext uri="{FF2B5EF4-FFF2-40B4-BE49-F238E27FC236}">
                <a16:creationId xmlns:a16="http://schemas.microsoft.com/office/drawing/2014/main" id="{80F5B5A5-2CC4-6F31-3913-5BC8E7F378D8}"/>
              </a:ext>
            </a:extLst>
          </p:cNvPr>
          <p:cNvSpPr txBox="1"/>
          <p:nvPr/>
        </p:nvSpPr>
        <p:spPr>
          <a:xfrm>
            <a:off x="1067295" y="252930"/>
            <a:ext cx="1055370" cy="36957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ts val="1639"/>
              </a:lnSpc>
              <a:spcBef>
                <a:spcPts val="135"/>
              </a:spcBef>
            </a:pPr>
            <a:r>
              <a:rPr sz="1400" b="1" spc="-130" dirty="0">
                <a:solidFill>
                  <a:srgbClr val="003476"/>
                </a:solidFill>
                <a:latin typeface="Tahoma"/>
                <a:cs typeface="Tahoma"/>
              </a:rPr>
              <a:t>Contour</a:t>
            </a:r>
            <a:r>
              <a:rPr sz="1400" b="1" spc="-4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95" dirty="0">
                <a:solidFill>
                  <a:srgbClr val="003476"/>
                </a:solidFill>
                <a:latin typeface="Tahoma"/>
                <a:cs typeface="Tahoma"/>
              </a:rPr>
              <a:t>plots</a:t>
            </a:r>
            <a:endParaRPr sz="1400" dirty="0">
              <a:latin typeface="Tahoma"/>
              <a:cs typeface="Tahoma"/>
            </a:endParaRPr>
          </a:p>
          <a:p>
            <a:pPr marL="12700">
              <a:lnSpc>
                <a:spcPts val="1040"/>
              </a:lnSpc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3</a:t>
            </a:r>
            <a:r>
              <a:rPr sz="900" spc="2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Results</a:t>
            </a:r>
            <a:endParaRPr sz="900" dirty="0">
              <a:latin typeface="Tahoma"/>
              <a:cs typeface="Tahoma"/>
            </a:endParaRPr>
          </a:p>
        </p:txBody>
      </p:sp>
      <p:sp>
        <p:nvSpPr>
          <p:cNvPr id="9" name="object 5">
            <a:extLst>
              <a:ext uri="{FF2B5EF4-FFF2-40B4-BE49-F238E27FC236}">
                <a16:creationId xmlns:a16="http://schemas.microsoft.com/office/drawing/2014/main" id="{CFD5EDB8-CF1B-0AE9-39C4-4973D490A029}"/>
              </a:ext>
            </a:extLst>
          </p:cNvPr>
          <p:cNvSpPr txBox="1"/>
          <p:nvPr/>
        </p:nvSpPr>
        <p:spPr>
          <a:xfrm>
            <a:off x="538975" y="2308225"/>
            <a:ext cx="1962925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it-IT" sz="1000" spc="-55" dirty="0">
                <a:solidFill>
                  <a:srgbClr val="003476"/>
                </a:solidFill>
                <a:latin typeface="Tahoma"/>
                <a:cs typeface="Tahoma"/>
              </a:rPr>
              <a:t>Movie 1</a:t>
            </a:r>
            <a:r>
              <a:rPr sz="1000" spc="-55" dirty="0">
                <a:solidFill>
                  <a:srgbClr val="003476"/>
                </a:solidFill>
                <a:latin typeface="Tahoma"/>
                <a:cs typeface="Tahoma"/>
              </a:rPr>
              <a:t>:</a:t>
            </a:r>
            <a:r>
              <a:rPr lang="en-US" sz="100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lang="en-US" sz="1000" spc="-50" dirty="0">
                <a:solidFill>
                  <a:srgbClr val="3F3F3F"/>
                </a:solidFill>
                <a:latin typeface="Tahoma"/>
                <a:cs typeface="Tahoma"/>
              </a:rPr>
              <a:t>Contour plot of the vorticity</a:t>
            </a:r>
            <a:endParaRPr sz="1000" dirty="0">
              <a:latin typeface="Tahoma"/>
              <a:cs typeface="Tahoma"/>
            </a:endParaRPr>
          </a:p>
        </p:txBody>
      </p:sp>
      <p:sp>
        <p:nvSpPr>
          <p:cNvPr id="11" name="object 5">
            <a:extLst>
              <a:ext uri="{FF2B5EF4-FFF2-40B4-BE49-F238E27FC236}">
                <a16:creationId xmlns:a16="http://schemas.microsoft.com/office/drawing/2014/main" id="{4A1F1079-B00C-CE91-503E-A6B845D50AFA}"/>
              </a:ext>
            </a:extLst>
          </p:cNvPr>
          <p:cNvSpPr txBox="1"/>
          <p:nvPr/>
        </p:nvSpPr>
        <p:spPr>
          <a:xfrm>
            <a:off x="3487914" y="2308225"/>
            <a:ext cx="1368566" cy="166071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it-IT" sz="1000" spc="-55" dirty="0">
                <a:solidFill>
                  <a:srgbClr val="003476"/>
                </a:solidFill>
                <a:latin typeface="Tahoma"/>
                <a:cs typeface="Tahoma"/>
              </a:rPr>
              <a:t>Movie 2</a:t>
            </a:r>
            <a:r>
              <a:rPr sz="1000" spc="-55" dirty="0">
                <a:solidFill>
                  <a:srgbClr val="003476"/>
                </a:solidFill>
                <a:latin typeface="Tahoma"/>
                <a:cs typeface="Tahoma"/>
              </a:rPr>
              <a:t>:</a:t>
            </a:r>
            <a:r>
              <a:rPr lang="en-US" sz="1000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lang="en-US" sz="1000" spc="-50" dirty="0">
                <a:solidFill>
                  <a:srgbClr val="3F3F3F"/>
                </a:solidFill>
                <a:latin typeface="Tahoma"/>
                <a:cs typeface="Tahoma"/>
              </a:rPr>
              <a:t>Contour plot of </a:t>
            </a:r>
            <a:r>
              <a:rPr lang="it-IT" sz="1000" i="1" dirty="0">
                <a:solidFill>
                  <a:srgbClr val="3F3F3F"/>
                </a:solidFill>
                <a:latin typeface="Cambria"/>
                <a:cs typeface="Cambria"/>
              </a:rPr>
              <a:t>k</a:t>
            </a:r>
            <a:endParaRPr sz="1000" dirty="0"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3791465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2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200"/>
                            </p:stCondLst>
                            <p:childTnLst>
                              <p:par>
                                <p:cTn id="8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9" dur="1200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10" repeatCount="indefinite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11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2" fill="hold">
                      <p:stCondLst>
                        <p:cond delay="0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5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  <p:video>
              <p:cMediaNode vol="80000">
                <p:cTn id="16" repeatCount="indefinite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17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18" fill="hold">
                      <p:stCondLst>
                        <p:cond delay="0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21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/>
          <p:nvPr/>
        </p:nvSpPr>
        <p:spPr>
          <a:xfrm>
            <a:off x="2719235" y="706310"/>
            <a:ext cx="134620" cy="0"/>
          </a:xfrm>
          <a:custGeom>
            <a:avLst/>
            <a:gdLst/>
            <a:ahLst/>
            <a:cxnLst/>
            <a:rect l="l" t="t" r="r" b="b"/>
            <a:pathLst>
              <a:path w="134619">
                <a:moveTo>
                  <a:pt x="0" y="0"/>
                </a:moveTo>
                <a:lnTo>
                  <a:pt x="134480" y="0"/>
                </a:lnTo>
              </a:path>
            </a:pathLst>
          </a:custGeom>
          <a:ln w="5537">
            <a:solidFill>
              <a:srgbClr val="3F3F3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object 3"/>
          <p:cNvSpPr txBox="1"/>
          <p:nvPr/>
        </p:nvSpPr>
        <p:spPr>
          <a:xfrm>
            <a:off x="321894" y="252930"/>
            <a:ext cx="3197860" cy="605790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57555">
              <a:lnSpc>
                <a:spcPts val="1639"/>
              </a:lnSpc>
              <a:spcBef>
                <a:spcPts val="135"/>
              </a:spcBef>
            </a:pPr>
            <a:r>
              <a:rPr sz="1400" b="1" spc="-130" dirty="0">
                <a:solidFill>
                  <a:srgbClr val="003476"/>
                </a:solidFill>
                <a:latin typeface="Tahoma"/>
                <a:cs typeface="Tahoma"/>
              </a:rPr>
              <a:t>Comparison</a:t>
            </a:r>
            <a:r>
              <a:rPr sz="1400" b="1" spc="-6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25" dirty="0">
                <a:solidFill>
                  <a:srgbClr val="003476"/>
                </a:solidFill>
                <a:latin typeface="Tahoma"/>
                <a:cs typeface="Tahoma"/>
              </a:rPr>
              <a:t>with</a:t>
            </a:r>
            <a:r>
              <a:rPr sz="1400" b="1" spc="-55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003476"/>
                </a:solidFill>
                <a:latin typeface="Tahoma"/>
                <a:cs typeface="Tahoma"/>
              </a:rPr>
              <a:t>DIMAT</a:t>
            </a:r>
            <a:endParaRPr sz="1400" dirty="0">
              <a:latin typeface="Tahoma"/>
              <a:cs typeface="Tahoma"/>
            </a:endParaRPr>
          </a:p>
          <a:p>
            <a:pPr marL="757555">
              <a:lnSpc>
                <a:spcPts val="1040"/>
              </a:lnSpc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3</a:t>
            </a:r>
            <a:r>
              <a:rPr sz="900" spc="2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Results</a:t>
            </a:r>
            <a:endParaRPr sz="900" dirty="0">
              <a:latin typeface="Tahoma"/>
              <a:cs typeface="Tahoma"/>
            </a:endParaRPr>
          </a:p>
          <a:p>
            <a:pPr marL="38100">
              <a:lnSpc>
                <a:spcPct val="100000"/>
              </a:lnSpc>
              <a:spcBef>
                <a:spcPts val="540"/>
              </a:spcBef>
            </a:pP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can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analyze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and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compare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0" dirty="0">
                <a:solidFill>
                  <a:srgbClr val="3F3F3F"/>
                </a:solidFill>
                <a:latin typeface="Tahoma"/>
                <a:cs typeface="Tahoma"/>
              </a:rPr>
              <a:t>data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for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C</a:t>
            </a:r>
            <a:r>
              <a:rPr sz="1200" i="1" baseline="-10416" dirty="0">
                <a:solidFill>
                  <a:srgbClr val="3F3F3F"/>
                </a:solidFill>
                <a:latin typeface="Cambria"/>
                <a:cs typeface="Cambria"/>
              </a:rPr>
              <a:t>p</a:t>
            </a:r>
            <a:r>
              <a:rPr sz="1200" i="1" spc="217" baseline="-10416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and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spc="-45" dirty="0">
                <a:solidFill>
                  <a:srgbClr val="3F3F3F"/>
                </a:solidFill>
                <a:latin typeface="Arial"/>
                <a:cs typeface="Arial"/>
              </a:rPr>
              <a:t>σ</a:t>
            </a:r>
            <a:r>
              <a:rPr sz="1100" i="1" spc="-65" dirty="0">
                <a:solidFill>
                  <a:srgbClr val="3F3F3F"/>
                </a:solidFill>
                <a:latin typeface="Arial"/>
                <a:cs typeface="Arial"/>
              </a:rPr>
              <a:t> 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(</a:t>
            </a:r>
            <a:r>
              <a:rPr sz="1100" i="1" spc="-20" dirty="0">
                <a:solidFill>
                  <a:srgbClr val="3F3F3F"/>
                </a:solidFill>
                <a:latin typeface="Cambria"/>
                <a:cs typeface="Cambria"/>
              </a:rPr>
              <a:t>C</a:t>
            </a:r>
            <a:r>
              <a:rPr sz="1200" i="1" spc="-30" baseline="-10416" dirty="0">
                <a:solidFill>
                  <a:srgbClr val="3F3F3F"/>
                </a:solidFill>
                <a:latin typeface="Cambria"/>
                <a:cs typeface="Cambria"/>
              </a:rPr>
              <a:t>P</a:t>
            </a:r>
            <a:r>
              <a:rPr sz="1100" spc="-20" dirty="0">
                <a:solidFill>
                  <a:srgbClr val="3F3F3F"/>
                </a:solidFill>
                <a:latin typeface="Tahoma"/>
                <a:cs typeface="Tahoma"/>
              </a:rPr>
              <a:t>)</a:t>
            </a:r>
            <a:endParaRPr sz="1100" dirty="0">
              <a:latin typeface="Tahoma"/>
              <a:cs typeface="Tahoma"/>
            </a:endParaRPr>
          </a:p>
        </p:txBody>
      </p:sp>
      <p:pic>
        <p:nvPicPr>
          <p:cNvPr id="4" name="object 4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76124" y="1120639"/>
            <a:ext cx="1927820" cy="1754981"/>
          </a:xfrm>
          <a:prstGeom prst="rect">
            <a:avLst/>
          </a:prstGeom>
        </p:spPr>
      </p:pic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356154" y="1120705"/>
            <a:ext cx="1927613" cy="1757417"/>
          </a:xfrm>
          <a:prstGeom prst="rect">
            <a:avLst/>
          </a:prstGeom>
        </p:spPr>
      </p:pic>
      <p:sp>
        <p:nvSpPr>
          <p:cNvPr id="6" name="object 6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15</a:t>
            </a:fld>
            <a:r>
              <a:rPr spc="-65" dirty="0"/>
              <a:t>/16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347294" y="252930"/>
            <a:ext cx="3070860" cy="63690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732155">
              <a:lnSpc>
                <a:spcPts val="1639"/>
              </a:lnSpc>
              <a:spcBef>
                <a:spcPts val="135"/>
              </a:spcBef>
            </a:pPr>
            <a:r>
              <a:rPr sz="1400" b="1" spc="-140" dirty="0">
                <a:solidFill>
                  <a:srgbClr val="003476"/>
                </a:solidFill>
                <a:latin typeface="Tahoma"/>
                <a:cs typeface="Tahoma"/>
              </a:rPr>
              <a:t>Lateral</a:t>
            </a:r>
            <a:r>
              <a:rPr sz="1400" b="1" spc="-4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1400" b="1" spc="-10" dirty="0">
                <a:solidFill>
                  <a:srgbClr val="003476"/>
                </a:solidFill>
                <a:latin typeface="Tahoma"/>
                <a:cs typeface="Tahoma"/>
              </a:rPr>
              <a:t>Velocity</a:t>
            </a:r>
            <a:endParaRPr sz="1400">
              <a:latin typeface="Tahoma"/>
              <a:cs typeface="Tahoma"/>
            </a:endParaRPr>
          </a:p>
          <a:p>
            <a:pPr marL="732155">
              <a:lnSpc>
                <a:spcPts val="1040"/>
              </a:lnSpc>
            </a:pPr>
            <a:r>
              <a:rPr sz="900" dirty="0">
                <a:solidFill>
                  <a:srgbClr val="003476"/>
                </a:solidFill>
                <a:latin typeface="Tahoma"/>
                <a:cs typeface="Tahoma"/>
              </a:rPr>
              <a:t>3</a:t>
            </a:r>
            <a:r>
              <a:rPr sz="900" spc="20" dirty="0">
                <a:solidFill>
                  <a:srgbClr val="003476"/>
                </a:solidFill>
                <a:latin typeface="Tahoma"/>
                <a:cs typeface="Tahoma"/>
              </a:rPr>
              <a:t> </a:t>
            </a:r>
            <a:r>
              <a:rPr sz="900" spc="-10" dirty="0">
                <a:solidFill>
                  <a:srgbClr val="003476"/>
                </a:solidFill>
                <a:latin typeface="Tahoma"/>
                <a:cs typeface="Tahoma"/>
              </a:rPr>
              <a:t>Results</a:t>
            </a:r>
            <a:endParaRPr sz="900">
              <a:latin typeface="Tahoma"/>
              <a:cs typeface="Tahoma"/>
            </a:endParaRPr>
          </a:p>
          <a:p>
            <a:pPr marL="12700">
              <a:lnSpc>
                <a:spcPct val="100000"/>
              </a:lnSpc>
              <a:spcBef>
                <a:spcPts val="780"/>
              </a:spcBef>
            </a:pP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We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0" dirty="0">
                <a:solidFill>
                  <a:srgbClr val="3F3F3F"/>
                </a:solidFill>
                <a:latin typeface="Tahoma"/>
                <a:cs typeface="Tahoma"/>
              </a:rPr>
              <a:t>can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take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65" dirty="0">
                <a:solidFill>
                  <a:srgbClr val="3F3F3F"/>
                </a:solidFill>
                <a:latin typeface="Tahoma"/>
                <a:cs typeface="Tahoma"/>
              </a:rPr>
              <a:t>a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0" dirty="0">
                <a:solidFill>
                  <a:srgbClr val="3F3F3F"/>
                </a:solidFill>
                <a:latin typeface="Tahoma"/>
                <a:cs typeface="Tahoma"/>
              </a:rPr>
              <a:t>look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at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35" dirty="0">
                <a:solidFill>
                  <a:srgbClr val="3F3F3F"/>
                </a:solidFill>
                <a:latin typeface="Tahoma"/>
                <a:cs typeface="Tahoma"/>
              </a:rPr>
              <a:t>the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mean</a:t>
            </a:r>
            <a:r>
              <a:rPr sz="1100" spc="-75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40" dirty="0">
                <a:solidFill>
                  <a:srgbClr val="3F3F3F"/>
                </a:solidFill>
                <a:latin typeface="Tahoma"/>
                <a:cs typeface="Tahoma"/>
              </a:rPr>
              <a:t>velocity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55" dirty="0">
                <a:solidFill>
                  <a:srgbClr val="3F3F3F"/>
                </a:solidFill>
                <a:latin typeface="Tahoma"/>
                <a:cs typeface="Tahoma"/>
              </a:rPr>
              <a:t>along</a:t>
            </a:r>
            <a:r>
              <a:rPr sz="1100" spc="-8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i="1" dirty="0">
                <a:solidFill>
                  <a:srgbClr val="3F3F3F"/>
                </a:solidFill>
                <a:latin typeface="Cambria"/>
                <a:cs typeface="Cambria"/>
              </a:rPr>
              <a:t>y</a:t>
            </a:r>
            <a:r>
              <a:rPr sz="1100" i="1" spc="80" dirty="0">
                <a:solidFill>
                  <a:srgbClr val="3F3F3F"/>
                </a:solidFill>
                <a:latin typeface="Cambria"/>
                <a:cs typeface="Cambria"/>
              </a:rPr>
              <a:t> </a:t>
            </a:r>
            <a:r>
              <a:rPr sz="1100" dirty="0">
                <a:solidFill>
                  <a:srgbClr val="3F3F3F"/>
                </a:solidFill>
                <a:latin typeface="Tahoma"/>
                <a:cs typeface="Tahoma"/>
              </a:rPr>
              <a:t>=</a:t>
            </a:r>
            <a:r>
              <a:rPr sz="1100" spc="-10" dirty="0">
                <a:solidFill>
                  <a:srgbClr val="3F3F3F"/>
                </a:solidFill>
                <a:latin typeface="Tahoma"/>
                <a:cs typeface="Tahoma"/>
              </a:rPr>
              <a:t> </a:t>
            </a:r>
            <a:r>
              <a:rPr sz="1100" spc="-25" dirty="0">
                <a:solidFill>
                  <a:srgbClr val="3F3F3F"/>
                </a:solidFill>
                <a:latin typeface="Cambria"/>
                <a:cs typeface="Cambria"/>
              </a:rPr>
              <a:t>0</a:t>
            </a:r>
            <a:r>
              <a:rPr sz="1100" i="1" spc="-25" dirty="0">
                <a:solidFill>
                  <a:srgbClr val="3F3F3F"/>
                </a:solidFill>
                <a:latin typeface="Arial"/>
                <a:cs typeface="Arial"/>
              </a:rPr>
              <a:t>.</a:t>
            </a:r>
            <a:r>
              <a:rPr sz="1100" spc="-25" dirty="0">
                <a:solidFill>
                  <a:srgbClr val="3F3F3F"/>
                </a:solidFill>
                <a:latin typeface="Cambria"/>
                <a:cs typeface="Cambria"/>
              </a:rPr>
              <a:t>5</a:t>
            </a:r>
            <a:endParaRPr sz="1100">
              <a:latin typeface="Cambria"/>
              <a:cs typeface="Cambria"/>
            </a:endParaRP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624631" y="1010446"/>
            <a:ext cx="2510667" cy="1706976"/>
          </a:xfrm>
          <a:prstGeom prst="rect">
            <a:avLst/>
          </a:prstGeom>
        </p:spPr>
      </p:pic>
      <p:sp>
        <p:nvSpPr>
          <p:cNvPr id="4" name="object 4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105"/>
              </a:spcBef>
            </a:pPr>
            <a:fld id="{81D60167-4931-47E6-BA6A-407CBD079E47}" type="slidenum">
              <a:rPr spc="-65" dirty="0"/>
              <a:t>16</a:t>
            </a:fld>
            <a:r>
              <a:rPr spc="-65" dirty="0"/>
              <a:t>/16</a:t>
            </a:r>
          </a:p>
        </p:txBody>
      </p:sp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</TotalTime>
  <Words>721</Words>
  <Application>Microsoft Office PowerPoint</Application>
  <PresentationFormat>Personalizzato</PresentationFormat>
  <Paragraphs>129</Paragraphs>
  <Slides>16</Slides>
  <Notes>0</Notes>
  <HiddenSlides>0</HiddenSlides>
  <MMClips>2</MMClips>
  <ScaleCrop>false</ScaleCrop>
  <HeadingPairs>
    <vt:vector size="6" baseType="variant">
      <vt:variant>
        <vt:lpstr>Caratteri utilizzati</vt:lpstr>
      </vt:variant>
      <vt:variant>
        <vt:i4>6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16</vt:i4>
      </vt:variant>
    </vt:vector>
  </HeadingPairs>
  <TitlesOfParts>
    <vt:vector size="23" baseType="lpstr">
      <vt:lpstr>Arial</vt:lpstr>
      <vt:lpstr>Calibri</vt:lpstr>
      <vt:lpstr>Cambria</vt:lpstr>
      <vt:lpstr>Lucida Sans Unicode</vt:lpstr>
      <vt:lpstr>Tahoma</vt:lpstr>
      <vt:lpstr>Verdana</vt:lpstr>
      <vt:lpstr>Office Theme</vt:lpstr>
      <vt:lpstr>Presentazione standard di PowerPoint</vt:lpstr>
      <vt:lpstr>Presentazione standard di PowerPoint</vt:lpstr>
      <vt:lpstr>Project Overview &amp; Objectives</vt:lpstr>
      <vt:lpstr>Flow Configuration &amp; Boundary Setup</vt:lpstr>
      <vt:lpstr>Spatial Discretization 1 Initial Problem</vt:lpstr>
      <vt:lpstr>Turbulence Modeling: RANS &amp; k − ϵ RNG</vt:lpstr>
      <vt:lpstr>Turbulence Modeling: The k − ω Model 1 Initial Problem</vt:lpstr>
      <vt:lpstr>Table of Contents 2 Initializing the Simulation</vt:lpstr>
      <vt:lpstr>Presentazione standard di PowerPoint</vt:lpstr>
      <vt:lpstr>Presentazione standard di PowerPoint</vt:lpstr>
      <vt:lpstr>Simulation of one period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Flow simulation around bluff body:  k- RANS model</dc:title>
  <dc:creator>Maccarone Giovanna s349134, Morandi Simone Domenico s336974</dc:creator>
  <cp:lastModifiedBy>Morandi  Simone Domenico</cp:lastModifiedBy>
  <cp:revision>2</cp:revision>
  <dcterms:created xsi:type="dcterms:W3CDTF">2026-06-13T13:32:05Z</dcterms:created>
  <dcterms:modified xsi:type="dcterms:W3CDTF">2026-06-13T13:39:27Z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v10.0.19910.1</vt:lpwstr>
  </property>
  <property fmtid="{D5CDD505-2E9C-101B-9397-08002B2CF9AE}" pid="3" name="Created">
    <vt:filetime>2026-06-13T00:00:00Z</vt:filetime>
  </property>
  <property fmtid="{D5CDD505-2E9C-101B-9397-08002B2CF9AE}" pid="4" name="Creator">
    <vt:lpwstr>LaTeX with Beamer class</vt:lpwstr>
  </property>
  <property fmtid="{D5CDD505-2E9C-101B-9397-08002B2CF9AE}" pid="5" name="LastSaved">
    <vt:filetime>2026-06-13T00:00:00Z</vt:filetime>
  </property>
  <property fmtid="{D5CDD505-2E9C-101B-9397-08002B2CF9AE}" pid="6" name="PTEX.Fullbanner">
    <vt:lpwstr>This is pdfTeX, Version 3.141592653-2.6-1.40.27 (TeX Live 2025) kpathsea version 6.4.1</vt:lpwstr>
  </property>
  <property fmtid="{D5CDD505-2E9C-101B-9397-08002B2CF9AE}" pid="7" name="Producer">
    <vt:lpwstr>pdfTeX-1.40.27</vt:lpwstr>
  </property>
</Properties>
</file>