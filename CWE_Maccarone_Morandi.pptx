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70" r:id="rId16"/>
    <p:sldId id="271" r:id="rId17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63" d="100"/>
          <a:sy n="163" d="100"/>
        </p:scale>
        <p:origin x="874" y="10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7295" y="252930"/>
            <a:ext cx="213804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3F3F3F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65" dirty="0"/>
              <a:t>‹N›</a:t>
            </a:fld>
            <a:r>
              <a:rPr spc="-65" dirty="0"/>
              <a:t>/16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3F3F3F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65" dirty="0"/>
              <a:t>‹N›</a:t>
            </a:fld>
            <a:r>
              <a:rPr spc="-65" dirty="0"/>
              <a:t>/16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65" dirty="0"/>
              <a:t>‹N›</a:t>
            </a:fld>
            <a:r>
              <a:rPr spc="-65" dirty="0"/>
              <a:t>/16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65" dirty="0"/>
              <a:t>‹N›</a:t>
            </a:fld>
            <a:r>
              <a:rPr spc="-65" dirty="0"/>
              <a:t>/16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65" dirty="0"/>
              <a:t>‹N›</a:t>
            </a:fld>
            <a:r>
              <a:rPr spc="-65" dirty="0"/>
              <a:t>/16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EA1F6AF-F74D-2398-078A-C0D099306A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8290" y="3017710"/>
            <a:ext cx="1326134" cy="276999"/>
          </a:xfrm>
        </p:spPr>
        <p:txBody>
          <a:bodyPr/>
          <a:lstStyle/>
          <a:p>
            <a:fld id="{5A166EBB-33BB-45B9-9240-4E9A4120B5B1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126CC96-B398-6917-CBAC-ABC2721FB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0372" y="3017710"/>
            <a:ext cx="1845056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D01862E-3827-63CE-17D8-9F8EAB34D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894" y="3016594"/>
            <a:ext cx="263525" cy="123111"/>
          </a:xfrm>
        </p:spPr>
        <p:txBody>
          <a:bodyPr/>
          <a:lstStyle/>
          <a:p>
            <a:fld id="{D308EDD6-F3C1-400D-B307-B086D9C0B37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127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5579" y="3"/>
            <a:ext cx="518378" cy="61705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67295" y="253768"/>
            <a:ext cx="3011170" cy="369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7294" y="759317"/>
            <a:ext cx="4779010" cy="1884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3F3F3F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21894" y="3016594"/>
            <a:ext cx="263525" cy="154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65" dirty="0"/>
              <a:t>‹N›</a:t>
            </a:fld>
            <a:r>
              <a:rPr spc="-65" dirty="0"/>
              <a:t>/16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slide" Target="slide12.xml"/><Relationship Id="rId4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2.xml"/><Relationship Id="rId4" Type="http://schemas.openxmlformats.org/officeDocument/2006/relationships/slide" Target="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slide" Target="slide12.xml"/><Relationship Id="rId4" Type="http://schemas.openxmlformats.org/officeDocument/2006/relationships/slide" Target="slide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9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8.png"/><Relationship Id="rId5" Type="http://schemas.openxmlformats.org/officeDocument/2006/relationships/slideLayout" Target="../slideLayouts/slideLayout6.xml"/><Relationship Id="rId4" Type="http://schemas.openxmlformats.org/officeDocument/2006/relationships/video" Target="../media/media2.mp4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5575" y="279"/>
            <a:ext cx="2534420" cy="32397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5579" y="3"/>
            <a:ext cx="518378" cy="61705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1102982"/>
            <a:ext cx="3588385" cy="1078865"/>
          </a:xfrm>
          <a:custGeom>
            <a:avLst/>
            <a:gdLst/>
            <a:ahLst/>
            <a:cxnLst/>
            <a:rect l="l" t="t" r="r" b="b"/>
            <a:pathLst>
              <a:path w="3588385" h="1078864">
                <a:moveTo>
                  <a:pt x="3588130" y="0"/>
                </a:moveTo>
                <a:lnTo>
                  <a:pt x="0" y="0"/>
                </a:lnTo>
                <a:lnTo>
                  <a:pt x="0" y="1078407"/>
                </a:lnTo>
                <a:lnTo>
                  <a:pt x="3588130" y="1078407"/>
                </a:lnTo>
                <a:lnTo>
                  <a:pt x="358813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/>
          <p:nvPr/>
        </p:nvSpPr>
        <p:spPr>
          <a:xfrm>
            <a:off x="361149" y="1161958"/>
            <a:ext cx="2674620" cy="41655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515"/>
              </a:lnSpc>
              <a:spcBef>
                <a:spcPts val="135"/>
              </a:spcBef>
            </a:pPr>
            <a:r>
              <a:rPr sz="1400" b="1" spc="-135" dirty="0">
                <a:solidFill>
                  <a:srgbClr val="003476"/>
                </a:solidFill>
                <a:latin typeface="Tahoma"/>
                <a:cs typeface="Tahoma"/>
              </a:rPr>
              <a:t>Flow</a:t>
            </a:r>
            <a:r>
              <a:rPr sz="1400" b="1" spc="-55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1400" b="1" spc="-125" dirty="0">
                <a:solidFill>
                  <a:srgbClr val="003476"/>
                </a:solidFill>
                <a:latin typeface="Tahoma"/>
                <a:cs typeface="Tahoma"/>
              </a:rPr>
              <a:t>simulation</a:t>
            </a:r>
            <a:r>
              <a:rPr sz="1400" b="1" spc="-55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1400" b="1" spc="-125" dirty="0">
                <a:solidFill>
                  <a:srgbClr val="003476"/>
                </a:solidFill>
                <a:latin typeface="Tahoma"/>
                <a:cs typeface="Tahoma"/>
              </a:rPr>
              <a:t>around</a:t>
            </a:r>
            <a:r>
              <a:rPr sz="1400" b="1" spc="-55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1400" b="1" spc="-114" dirty="0">
                <a:solidFill>
                  <a:srgbClr val="003476"/>
                </a:solidFill>
                <a:latin typeface="Tahoma"/>
                <a:cs typeface="Tahoma"/>
              </a:rPr>
              <a:t>bluff</a:t>
            </a:r>
            <a:r>
              <a:rPr sz="1400" b="1" spc="-55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1400" b="1" spc="-85" dirty="0">
                <a:solidFill>
                  <a:srgbClr val="003476"/>
                </a:solidFill>
                <a:latin typeface="Tahoma"/>
                <a:cs typeface="Tahoma"/>
              </a:rPr>
              <a:t>body: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ts val="1515"/>
              </a:lnSpc>
            </a:pPr>
            <a:r>
              <a:rPr sz="1400" b="1" i="1" spc="-20" dirty="0">
                <a:solidFill>
                  <a:srgbClr val="003476"/>
                </a:solidFill>
                <a:latin typeface="Calibri"/>
                <a:cs typeface="Calibri"/>
              </a:rPr>
              <a:t>k-</a:t>
            </a:r>
            <a:r>
              <a:rPr sz="1400" spc="280" dirty="0">
                <a:solidFill>
                  <a:srgbClr val="003476"/>
                </a:solidFill>
                <a:latin typeface="Lucida Sans Unicode"/>
                <a:cs typeface="Lucida Sans Unicode"/>
              </a:rPr>
              <a:t>ř</a:t>
            </a:r>
            <a:r>
              <a:rPr sz="1400" spc="-110" dirty="0">
                <a:solidFill>
                  <a:srgbClr val="003476"/>
                </a:solidFill>
                <a:latin typeface="Lucida Sans Unicode"/>
                <a:cs typeface="Lucida Sans Unicode"/>
              </a:rPr>
              <a:t> </a:t>
            </a:r>
            <a:r>
              <a:rPr sz="1400" b="1" spc="-170" dirty="0">
                <a:solidFill>
                  <a:srgbClr val="003476"/>
                </a:solidFill>
                <a:latin typeface="Tahoma"/>
                <a:cs typeface="Tahoma"/>
              </a:rPr>
              <a:t>RANS</a:t>
            </a:r>
            <a:r>
              <a:rPr sz="1400" b="1" spc="-75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003476"/>
                </a:solidFill>
                <a:latin typeface="Tahoma"/>
                <a:cs typeface="Tahoma"/>
              </a:rPr>
              <a:t>model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1894" y="3016594"/>
            <a:ext cx="228600" cy="154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z="8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fld>
            <a:r>
              <a:rPr sz="800" spc="-50" dirty="0">
                <a:solidFill>
                  <a:srgbClr val="FFFFFF"/>
                </a:solidFill>
                <a:latin typeface="Tahoma"/>
                <a:cs typeface="Tahoma"/>
              </a:rPr>
              <a:t>/16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1149" y="1520324"/>
            <a:ext cx="2841625" cy="55308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900" spc="-35" dirty="0">
                <a:solidFill>
                  <a:srgbClr val="003476"/>
                </a:solidFill>
                <a:latin typeface="Tahoma"/>
                <a:cs typeface="Tahoma"/>
              </a:rPr>
              <a:t>Computational</a:t>
            </a:r>
            <a:r>
              <a:rPr sz="900" spc="-30" dirty="0">
                <a:solidFill>
                  <a:srgbClr val="003476"/>
                </a:solidFill>
                <a:latin typeface="Tahoma"/>
                <a:cs typeface="Tahoma"/>
              </a:rPr>
              <a:t> Fluid </a:t>
            </a:r>
            <a:r>
              <a:rPr sz="900" spc="-45" dirty="0">
                <a:solidFill>
                  <a:srgbClr val="003476"/>
                </a:solidFill>
                <a:latin typeface="Tahoma"/>
                <a:cs typeface="Tahoma"/>
              </a:rPr>
              <a:t>Dynamics</a:t>
            </a:r>
            <a:r>
              <a:rPr sz="900" spc="-25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900" spc="-45" dirty="0">
                <a:solidFill>
                  <a:srgbClr val="003476"/>
                </a:solidFill>
                <a:latin typeface="Tahoma"/>
                <a:cs typeface="Tahoma"/>
              </a:rPr>
              <a:t>and</a:t>
            </a:r>
            <a:r>
              <a:rPr sz="900" spc="-30" dirty="0">
                <a:solidFill>
                  <a:srgbClr val="003476"/>
                </a:solidFill>
                <a:latin typeface="Tahoma"/>
                <a:cs typeface="Tahoma"/>
              </a:rPr>
              <a:t> Wind</a:t>
            </a:r>
            <a:r>
              <a:rPr sz="900" spc="-25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003476"/>
                </a:solidFill>
                <a:latin typeface="Tahoma"/>
                <a:cs typeface="Tahoma"/>
              </a:rPr>
              <a:t>Engineering</a:t>
            </a: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800" b="1" spc="-85" dirty="0">
                <a:latin typeface="Tahoma"/>
                <a:cs typeface="Tahoma"/>
              </a:rPr>
              <a:t>Maccarone</a:t>
            </a:r>
            <a:r>
              <a:rPr sz="800" b="1" spc="-5" dirty="0">
                <a:latin typeface="Tahoma"/>
                <a:cs typeface="Tahoma"/>
              </a:rPr>
              <a:t> </a:t>
            </a:r>
            <a:r>
              <a:rPr sz="800" b="1" spc="-90" dirty="0">
                <a:latin typeface="Tahoma"/>
                <a:cs typeface="Tahoma"/>
              </a:rPr>
              <a:t>Giovanna</a:t>
            </a:r>
            <a:r>
              <a:rPr sz="800" b="1" spc="-5" dirty="0">
                <a:latin typeface="Tahoma"/>
                <a:cs typeface="Tahoma"/>
              </a:rPr>
              <a:t> </a:t>
            </a:r>
            <a:r>
              <a:rPr sz="800" b="1" spc="-114" dirty="0">
                <a:latin typeface="Tahoma"/>
                <a:cs typeface="Tahoma"/>
              </a:rPr>
              <a:t>s349134,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75" dirty="0">
                <a:latin typeface="Tahoma"/>
                <a:cs typeface="Tahoma"/>
              </a:rPr>
              <a:t>Morandi</a:t>
            </a:r>
            <a:r>
              <a:rPr sz="800" b="1" spc="-5" dirty="0">
                <a:latin typeface="Tahoma"/>
                <a:cs typeface="Tahoma"/>
              </a:rPr>
              <a:t> </a:t>
            </a:r>
            <a:r>
              <a:rPr sz="800" b="1" spc="-95" dirty="0">
                <a:latin typeface="Tahoma"/>
                <a:cs typeface="Tahoma"/>
              </a:rPr>
              <a:t>Simone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90" dirty="0">
                <a:latin typeface="Tahoma"/>
                <a:cs typeface="Tahoma"/>
              </a:rPr>
              <a:t>Domenico</a:t>
            </a:r>
            <a:r>
              <a:rPr sz="800" b="1" spc="-5" dirty="0">
                <a:latin typeface="Tahoma"/>
                <a:cs typeface="Tahoma"/>
              </a:rPr>
              <a:t> </a:t>
            </a:r>
            <a:r>
              <a:rPr sz="800" b="1" spc="-95" dirty="0">
                <a:latin typeface="Tahoma"/>
                <a:cs typeface="Tahoma"/>
              </a:rPr>
              <a:t>s336974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600" spc="-40" dirty="0">
                <a:latin typeface="Tahoma"/>
                <a:cs typeface="Tahoma"/>
              </a:rPr>
              <a:t>June</a:t>
            </a:r>
            <a:r>
              <a:rPr sz="600" spc="-30" dirty="0">
                <a:latin typeface="Tahoma"/>
                <a:cs typeface="Tahoma"/>
              </a:rPr>
              <a:t> </a:t>
            </a:r>
            <a:r>
              <a:rPr sz="600" spc="-70" dirty="0">
                <a:latin typeface="Tahoma"/>
                <a:cs typeface="Tahoma"/>
              </a:rPr>
              <a:t>13,</a:t>
            </a:r>
            <a:r>
              <a:rPr sz="600" spc="-3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2026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00347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5579" y="3"/>
            <a:ext cx="518378" cy="6170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67295" y="252930"/>
            <a:ext cx="1339215" cy="369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639"/>
              </a:lnSpc>
              <a:spcBef>
                <a:spcPts val="135"/>
              </a:spcBef>
            </a:pPr>
            <a:r>
              <a:rPr sz="1400" b="1" spc="-150" dirty="0">
                <a:solidFill>
                  <a:srgbClr val="FFFFFF"/>
                </a:solidFill>
                <a:latin typeface="Tahoma"/>
                <a:cs typeface="Tahoma"/>
              </a:rPr>
              <a:t>Table</a:t>
            </a:r>
            <a:r>
              <a:rPr sz="1400" b="1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400" b="1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25" dirty="0">
                <a:solidFill>
                  <a:srgbClr val="FFFFFF"/>
                </a:solidFill>
                <a:latin typeface="Tahoma"/>
                <a:cs typeface="Tahoma"/>
              </a:rPr>
              <a:t>Contents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ts val="1040"/>
              </a:lnSpc>
            </a:pPr>
            <a:r>
              <a:rPr sz="900" spc="-18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900" spc="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35" dirty="0">
                <a:solidFill>
                  <a:srgbClr val="FFFFFF"/>
                </a:solidFill>
                <a:latin typeface="Tahoma"/>
                <a:cs typeface="Tahoma"/>
              </a:rPr>
              <a:t>Initial</a:t>
            </a:r>
            <a:r>
              <a:rPr sz="9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Problem</a:t>
            </a:r>
            <a:endParaRPr sz="9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1894" y="3016594"/>
            <a:ext cx="228600" cy="154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z="8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fld>
            <a:r>
              <a:rPr sz="800" spc="-50" dirty="0">
                <a:solidFill>
                  <a:srgbClr val="FFFFFF"/>
                </a:solidFill>
                <a:latin typeface="Tahoma"/>
                <a:cs typeface="Tahoma"/>
              </a:rPr>
              <a:t>/16</a:t>
            </a:r>
            <a:endParaRPr sz="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7294" y="1136178"/>
            <a:ext cx="1585595" cy="1098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1130" indent="-138430">
              <a:lnSpc>
                <a:spcPct val="100000"/>
              </a:lnSpc>
              <a:spcBef>
                <a:spcPts val="90"/>
              </a:spcBef>
              <a:buClr>
                <a:srgbClr val="FFFFFF"/>
              </a:buClr>
              <a:buFont typeface="Lucida Sans Unicode"/>
              <a:buChar char="►"/>
              <a:tabLst>
                <a:tab pos="151130" algn="l"/>
              </a:tabLst>
            </a:pPr>
            <a:r>
              <a:rPr sz="1100" spc="-4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Initial</a:t>
            </a:r>
            <a:r>
              <a:rPr sz="1100" spc="-6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Problem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19"/>
              </a:spcBef>
              <a:buFont typeface="Lucida Sans Unicode"/>
              <a:buChar char="►"/>
            </a:pPr>
            <a:endParaRPr sz="1100">
              <a:latin typeface="Tahoma"/>
              <a:cs typeface="Tahoma"/>
            </a:endParaRPr>
          </a:p>
          <a:p>
            <a:pPr marL="151130" indent="-138430">
              <a:lnSpc>
                <a:spcPct val="100000"/>
              </a:lnSpc>
              <a:buFont typeface="Lucida Sans Unicode"/>
              <a:buChar char="►"/>
              <a:tabLst>
                <a:tab pos="151130" algn="l"/>
              </a:tabLst>
            </a:pPr>
            <a:r>
              <a:rPr sz="1100" spc="-45" dirty="0">
                <a:solidFill>
                  <a:srgbClr val="335D91"/>
                </a:solidFill>
                <a:latin typeface="Tahoma"/>
                <a:cs typeface="Tahoma"/>
                <a:hlinkClick r:id="rId4" action="ppaction://hlinksldjump"/>
              </a:rPr>
              <a:t>Initializing</a:t>
            </a:r>
            <a:r>
              <a:rPr sz="1100" spc="-40" dirty="0">
                <a:solidFill>
                  <a:srgbClr val="335D91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spc="-35" dirty="0">
                <a:solidFill>
                  <a:srgbClr val="335D91"/>
                </a:solidFill>
                <a:latin typeface="Tahoma"/>
                <a:cs typeface="Tahoma"/>
                <a:hlinkClick r:id="rId4" action="ppaction://hlinksldjump"/>
              </a:rPr>
              <a:t>the</a:t>
            </a:r>
            <a:r>
              <a:rPr sz="1100" spc="-40" dirty="0">
                <a:solidFill>
                  <a:srgbClr val="335D91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spc="-35" dirty="0">
                <a:solidFill>
                  <a:srgbClr val="335D91"/>
                </a:solidFill>
                <a:latin typeface="Tahoma"/>
                <a:cs typeface="Tahoma"/>
                <a:hlinkClick r:id="rId4" action="ppaction://hlinksldjump"/>
              </a:rPr>
              <a:t>Simulation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19"/>
              </a:spcBef>
              <a:buFont typeface="Lucida Sans Unicode"/>
              <a:buChar char="►"/>
            </a:pPr>
            <a:endParaRPr sz="1100">
              <a:latin typeface="Tahoma"/>
              <a:cs typeface="Tahoma"/>
            </a:endParaRPr>
          </a:p>
          <a:p>
            <a:pPr marL="151130" indent="-138430">
              <a:lnSpc>
                <a:spcPct val="100000"/>
              </a:lnSpc>
              <a:buFont typeface="Lucida Sans Unicode"/>
              <a:buChar char="►"/>
              <a:tabLst>
                <a:tab pos="151130" algn="l"/>
              </a:tabLst>
            </a:pPr>
            <a:r>
              <a:rPr sz="1100" spc="-10" dirty="0">
                <a:solidFill>
                  <a:srgbClr val="335D91"/>
                </a:solidFill>
                <a:latin typeface="Tahoma"/>
                <a:cs typeface="Tahoma"/>
                <a:hlinkClick r:id="rId5" action="ppaction://hlinksldjump"/>
              </a:rPr>
              <a:t>Results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67295" y="252930"/>
            <a:ext cx="23272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35" dirty="0">
                <a:solidFill>
                  <a:srgbClr val="003476"/>
                </a:solidFill>
              </a:rPr>
              <a:t>Project</a:t>
            </a:r>
            <a:r>
              <a:rPr spc="-55" dirty="0">
                <a:solidFill>
                  <a:srgbClr val="003476"/>
                </a:solidFill>
              </a:rPr>
              <a:t> </a:t>
            </a:r>
            <a:r>
              <a:rPr spc="-135" dirty="0">
                <a:solidFill>
                  <a:srgbClr val="003476"/>
                </a:solidFill>
              </a:rPr>
              <a:t>Overview</a:t>
            </a:r>
            <a:r>
              <a:rPr spc="-50" dirty="0">
                <a:solidFill>
                  <a:srgbClr val="003476"/>
                </a:solidFill>
              </a:rPr>
              <a:t> </a:t>
            </a:r>
            <a:r>
              <a:rPr spc="-105" dirty="0">
                <a:solidFill>
                  <a:srgbClr val="003476"/>
                </a:solidFill>
              </a:rPr>
              <a:t>&amp;</a:t>
            </a:r>
            <a:r>
              <a:rPr spc="-50" dirty="0">
                <a:solidFill>
                  <a:srgbClr val="003476"/>
                </a:solidFill>
              </a:rPr>
              <a:t> </a:t>
            </a:r>
            <a:r>
              <a:rPr spc="-114" dirty="0">
                <a:solidFill>
                  <a:srgbClr val="003476"/>
                </a:solidFill>
              </a:rPr>
              <a:t>Objectives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1894" y="3016594"/>
            <a:ext cx="228600" cy="154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z="8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fld>
            <a:r>
              <a:rPr sz="800" spc="-50" dirty="0">
                <a:solidFill>
                  <a:srgbClr val="FFFFFF"/>
                </a:solidFill>
                <a:latin typeface="Tahoma"/>
                <a:cs typeface="Tahoma"/>
              </a:rPr>
              <a:t>/16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294" y="422483"/>
            <a:ext cx="4683125" cy="249809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732155">
              <a:lnSpc>
                <a:spcPct val="100000"/>
              </a:lnSpc>
              <a:spcBef>
                <a:spcPts val="395"/>
              </a:spcBef>
            </a:pPr>
            <a:r>
              <a:rPr sz="900" spc="-180" dirty="0">
                <a:solidFill>
                  <a:srgbClr val="003476"/>
                </a:solidFill>
                <a:latin typeface="Tahoma"/>
                <a:cs typeface="Tahoma"/>
              </a:rPr>
              <a:t>1</a:t>
            </a:r>
            <a:r>
              <a:rPr sz="900" spc="114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900" spc="-35" dirty="0">
                <a:solidFill>
                  <a:srgbClr val="003476"/>
                </a:solidFill>
                <a:latin typeface="Tahoma"/>
                <a:cs typeface="Tahoma"/>
              </a:rPr>
              <a:t>Initial</a:t>
            </a:r>
            <a:r>
              <a:rPr sz="900" spc="-55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003476"/>
                </a:solidFill>
                <a:latin typeface="Tahoma"/>
                <a:cs typeface="Tahoma"/>
              </a:rPr>
              <a:t>Problem</a:t>
            </a: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100" b="1" spc="-125" dirty="0">
                <a:solidFill>
                  <a:srgbClr val="3F3F3F"/>
                </a:solidFill>
                <a:latin typeface="Tahoma"/>
                <a:cs typeface="Tahoma"/>
              </a:rPr>
              <a:t>Flow</a:t>
            </a:r>
            <a:r>
              <a:rPr sz="1100" b="1" spc="-50" dirty="0">
                <a:solidFill>
                  <a:srgbClr val="3F3F3F"/>
                </a:solidFill>
                <a:latin typeface="Tahoma"/>
                <a:cs typeface="Tahoma"/>
              </a:rPr>
              <a:t> Configuration:</a:t>
            </a:r>
            <a:endParaRPr sz="1100">
              <a:latin typeface="Tahoma"/>
              <a:cs typeface="Tahoma"/>
            </a:endParaRPr>
          </a:p>
          <a:p>
            <a:pPr marL="289560" marR="5080" indent="-138430">
              <a:lnSpc>
                <a:spcPct val="102600"/>
              </a:lnSpc>
              <a:spcBef>
                <a:spcPts val="70"/>
              </a:spcBef>
              <a:buClr>
                <a:srgbClr val="003476"/>
              </a:buClr>
              <a:buChar char="•"/>
              <a:tabLst>
                <a:tab pos="289560" algn="l"/>
              </a:tabLst>
            </a:pPr>
            <a:r>
              <a:rPr sz="1100" spc="-80" dirty="0">
                <a:solidFill>
                  <a:srgbClr val="3F3F3F"/>
                </a:solidFill>
                <a:latin typeface="Tahoma"/>
                <a:cs typeface="Tahoma"/>
              </a:rPr>
              <a:t>Two-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dimensional,</a:t>
            </a:r>
            <a:r>
              <a:rPr sz="1100" spc="-45" dirty="0">
                <a:solidFill>
                  <a:srgbClr val="3F3F3F"/>
                </a:solidFill>
                <a:latin typeface="Tahoma"/>
                <a:cs typeface="Tahoma"/>
              </a:rPr>
              <a:t> incompressible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3F3F3F"/>
                </a:solidFill>
                <a:latin typeface="Tahoma"/>
                <a:cs typeface="Tahoma"/>
              </a:rPr>
              <a:t>flow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past</a:t>
            </a:r>
            <a:r>
              <a:rPr sz="1100" spc="-4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3F3F3F"/>
                </a:solidFill>
                <a:latin typeface="Tahoma"/>
                <a:cs typeface="Tahoma"/>
              </a:rPr>
              <a:t>a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3F3F3F"/>
                </a:solidFill>
                <a:latin typeface="Tahoma"/>
                <a:cs typeface="Tahoma"/>
              </a:rPr>
              <a:t>sharp-edged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square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 cylinder</a:t>
            </a:r>
            <a:r>
              <a:rPr sz="1100" spc="-4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3F3F3F"/>
                </a:solidFill>
                <a:latin typeface="Tahoma"/>
                <a:cs typeface="Tahoma"/>
              </a:rPr>
              <a:t>in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a 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subcritic</a:t>
            </a:r>
            <a:r>
              <a:rPr sz="1100" spc="-2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Tahoma"/>
                <a:cs typeface="Tahoma"/>
              </a:rPr>
              <a:t>regime.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ts val="1295"/>
              </a:lnSpc>
              <a:spcBef>
                <a:spcPts val="1235"/>
              </a:spcBef>
            </a:pPr>
            <a:r>
              <a:rPr sz="1100" b="1" spc="-125" dirty="0">
                <a:solidFill>
                  <a:srgbClr val="3F3F3F"/>
                </a:solidFill>
                <a:latin typeface="Tahoma"/>
                <a:cs typeface="Tahoma"/>
              </a:rPr>
              <a:t>Physical</a:t>
            </a:r>
            <a:r>
              <a:rPr sz="1100" b="1" spc="-4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b="1" spc="-25" dirty="0">
                <a:solidFill>
                  <a:srgbClr val="3F3F3F"/>
                </a:solidFill>
                <a:latin typeface="Tahoma"/>
                <a:cs typeface="Tahoma"/>
              </a:rPr>
              <a:t>Challenge:</a:t>
            </a:r>
            <a:endParaRPr sz="1100">
              <a:latin typeface="Tahoma"/>
              <a:cs typeface="Tahoma"/>
            </a:endParaRPr>
          </a:p>
          <a:p>
            <a:pPr marL="290195" indent="-139065">
              <a:lnSpc>
                <a:spcPts val="1290"/>
              </a:lnSpc>
              <a:buClr>
                <a:srgbClr val="003476"/>
              </a:buClr>
              <a:buChar char="•"/>
              <a:tabLst>
                <a:tab pos="290195" algn="l"/>
              </a:tabLst>
            </a:pP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Accurately</a:t>
            </a:r>
            <a:r>
              <a:rPr sz="1100" spc="-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Tahoma"/>
                <a:cs typeface="Tahoma"/>
              </a:rPr>
              <a:t>predicting:</a:t>
            </a:r>
            <a:endParaRPr sz="1100">
              <a:latin typeface="Tahoma"/>
              <a:cs typeface="Tahoma"/>
            </a:endParaRPr>
          </a:p>
          <a:p>
            <a:pPr marL="566420" lvl="1" indent="-183515">
              <a:lnSpc>
                <a:spcPts val="1195"/>
              </a:lnSpc>
              <a:buClr>
                <a:srgbClr val="003476"/>
              </a:buClr>
              <a:buChar char="—"/>
              <a:tabLst>
                <a:tab pos="566420" algn="l"/>
              </a:tabLst>
            </a:pPr>
            <a:r>
              <a:rPr sz="1000" spc="-60" dirty="0">
                <a:solidFill>
                  <a:srgbClr val="3F3F3F"/>
                </a:solidFill>
                <a:latin typeface="Tahoma"/>
                <a:cs typeface="Tahoma"/>
              </a:rPr>
              <a:t>Shear</a:t>
            </a:r>
            <a:r>
              <a:rPr sz="1000" spc="-5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3F3F3F"/>
                </a:solidFill>
                <a:latin typeface="Tahoma"/>
                <a:cs typeface="Tahoma"/>
              </a:rPr>
              <a:t>layer </a:t>
            </a:r>
            <a:r>
              <a:rPr sz="1000" spc="-10" dirty="0">
                <a:solidFill>
                  <a:srgbClr val="3F3F3F"/>
                </a:solidFill>
                <a:latin typeface="Tahoma"/>
                <a:cs typeface="Tahoma"/>
              </a:rPr>
              <a:t>separation</a:t>
            </a:r>
            <a:endParaRPr sz="1000">
              <a:latin typeface="Tahoma"/>
              <a:cs typeface="Tahoma"/>
            </a:endParaRPr>
          </a:p>
          <a:p>
            <a:pPr marL="566420" lvl="1" indent="-183515">
              <a:lnSpc>
                <a:spcPts val="1195"/>
              </a:lnSpc>
              <a:buClr>
                <a:srgbClr val="003476"/>
              </a:buClr>
              <a:buChar char="—"/>
              <a:tabLst>
                <a:tab pos="566420" algn="l"/>
              </a:tabLst>
            </a:pPr>
            <a:r>
              <a:rPr sz="1000" spc="-35" dirty="0">
                <a:solidFill>
                  <a:srgbClr val="3F3F3F"/>
                </a:solidFill>
                <a:latin typeface="Tahoma"/>
                <a:cs typeface="Tahoma"/>
              </a:rPr>
              <a:t>Flow</a:t>
            </a:r>
            <a:r>
              <a:rPr sz="1000" spc="-6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3F3F3F"/>
                </a:solidFill>
                <a:latin typeface="Tahoma"/>
                <a:cs typeface="Tahoma"/>
              </a:rPr>
              <a:t>reattachment</a:t>
            </a:r>
            <a:endParaRPr sz="1000">
              <a:latin typeface="Tahoma"/>
              <a:cs typeface="Tahoma"/>
            </a:endParaRPr>
          </a:p>
          <a:p>
            <a:pPr marL="566420" lvl="1" indent="-183515">
              <a:lnSpc>
                <a:spcPts val="1200"/>
              </a:lnSpc>
              <a:buClr>
                <a:srgbClr val="003476"/>
              </a:buClr>
              <a:buChar char="—"/>
              <a:tabLst>
                <a:tab pos="566420" algn="l"/>
              </a:tabLst>
            </a:pPr>
            <a:r>
              <a:rPr sz="1000" spc="-45" dirty="0">
                <a:solidFill>
                  <a:srgbClr val="3F3F3F"/>
                </a:solidFill>
                <a:latin typeface="Tahoma"/>
                <a:cs typeface="Tahoma"/>
              </a:rPr>
              <a:t>Unsteady</a:t>
            </a:r>
            <a:r>
              <a:rPr sz="1000" spc="-4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000" spc="-60" dirty="0">
                <a:solidFill>
                  <a:srgbClr val="3F3F3F"/>
                </a:solidFill>
                <a:latin typeface="Tahoma"/>
                <a:cs typeface="Tahoma"/>
              </a:rPr>
              <a:t>wake</a:t>
            </a:r>
            <a:r>
              <a:rPr sz="1000" spc="-4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3F3F3F"/>
                </a:solidFill>
                <a:latin typeface="Tahoma"/>
                <a:cs typeface="Tahoma"/>
              </a:rPr>
              <a:t>dynamics</a:t>
            </a:r>
            <a:r>
              <a:rPr sz="1000" spc="-4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000" spc="-55" dirty="0">
                <a:solidFill>
                  <a:srgbClr val="3F3F3F"/>
                </a:solidFill>
                <a:latin typeface="Tahoma"/>
                <a:cs typeface="Tahoma"/>
              </a:rPr>
              <a:t>(vortex</a:t>
            </a:r>
            <a:r>
              <a:rPr sz="1000" spc="-3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3F3F3F"/>
                </a:solidFill>
                <a:latin typeface="Tahoma"/>
                <a:cs typeface="Tahoma"/>
              </a:rPr>
              <a:t>shedding)</a:t>
            </a:r>
            <a:endParaRPr sz="10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003476"/>
              </a:buClr>
              <a:buFont typeface="Tahoma"/>
              <a:buChar char="—"/>
            </a:pPr>
            <a:endParaRPr sz="1000">
              <a:latin typeface="Tahoma"/>
              <a:cs typeface="Tahoma"/>
            </a:endParaRPr>
          </a:p>
          <a:p>
            <a:pPr marL="12700">
              <a:lnSpc>
                <a:spcPts val="1295"/>
              </a:lnSpc>
              <a:spcBef>
                <a:spcPts val="5"/>
              </a:spcBef>
            </a:pPr>
            <a:r>
              <a:rPr sz="1100" b="1" spc="-120" dirty="0">
                <a:solidFill>
                  <a:srgbClr val="3F3F3F"/>
                </a:solidFill>
                <a:latin typeface="Tahoma"/>
                <a:cs typeface="Tahoma"/>
              </a:rPr>
              <a:t>Project</a:t>
            </a:r>
            <a:r>
              <a:rPr sz="1100" b="1" spc="-2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3F3F3F"/>
                </a:solidFill>
                <a:latin typeface="Tahoma"/>
                <a:cs typeface="Tahoma"/>
              </a:rPr>
              <a:t>Objective:</a:t>
            </a:r>
            <a:endParaRPr sz="1100">
              <a:latin typeface="Tahoma"/>
              <a:cs typeface="Tahoma"/>
            </a:endParaRPr>
          </a:p>
          <a:p>
            <a:pPr marL="290195" indent="-139065">
              <a:lnSpc>
                <a:spcPts val="1290"/>
              </a:lnSpc>
              <a:buClr>
                <a:srgbClr val="003476"/>
              </a:buClr>
              <a:buChar char="•"/>
              <a:tabLst>
                <a:tab pos="290195" algn="l"/>
              </a:tabLst>
            </a:pPr>
            <a:r>
              <a:rPr sz="1100" spc="-60" dirty="0">
                <a:solidFill>
                  <a:srgbClr val="3F3F3F"/>
                </a:solidFill>
                <a:latin typeface="Tahoma"/>
                <a:cs typeface="Tahoma"/>
              </a:rPr>
              <a:t>Compare </a:t>
            </a:r>
            <a:r>
              <a:rPr sz="1100" spc="-35" dirty="0">
                <a:solidFill>
                  <a:srgbClr val="3F3F3F"/>
                </a:solidFill>
                <a:latin typeface="Tahoma"/>
                <a:cs typeface="Tahoma"/>
              </a:rPr>
              <a:t>the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3F3F3F"/>
                </a:solidFill>
                <a:latin typeface="Tahoma"/>
                <a:cs typeface="Tahoma"/>
              </a:rPr>
              <a:t>performance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3F3F3F"/>
                </a:solidFill>
                <a:latin typeface="Tahoma"/>
                <a:cs typeface="Tahoma"/>
              </a:rPr>
              <a:t>of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3F3F3F"/>
                </a:solidFill>
                <a:latin typeface="Tahoma"/>
                <a:cs typeface="Tahoma"/>
              </a:rPr>
              <a:t>two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80" dirty="0">
                <a:solidFill>
                  <a:srgbClr val="3F3F3F"/>
                </a:solidFill>
                <a:latin typeface="Tahoma"/>
                <a:cs typeface="Tahoma"/>
              </a:rPr>
              <a:t>RANS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turbulence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Tahoma"/>
                <a:cs typeface="Tahoma"/>
              </a:rPr>
              <a:t>models:</a:t>
            </a:r>
            <a:endParaRPr sz="1100">
              <a:latin typeface="Tahoma"/>
              <a:cs typeface="Tahoma"/>
            </a:endParaRPr>
          </a:p>
          <a:p>
            <a:pPr marL="566420" lvl="1" indent="-183515">
              <a:lnSpc>
                <a:spcPts val="1195"/>
              </a:lnSpc>
              <a:buClr>
                <a:srgbClr val="003476"/>
              </a:buClr>
              <a:buFont typeface="Tahoma"/>
              <a:buChar char="—"/>
              <a:tabLst>
                <a:tab pos="566420" algn="l"/>
              </a:tabLst>
            </a:pPr>
            <a:r>
              <a:rPr sz="1000" i="1" dirty="0">
                <a:solidFill>
                  <a:srgbClr val="3F3F3F"/>
                </a:solidFill>
                <a:latin typeface="Cambria"/>
                <a:cs typeface="Cambria"/>
              </a:rPr>
              <a:t>k </a:t>
            </a:r>
            <a:r>
              <a:rPr sz="1000" i="1" spc="-50" dirty="0">
                <a:solidFill>
                  <a:srgbClr val="3F3F3F"/>
                </a:solidFill>
                <a:latin typeface="Verdana"/>
                <a:cs typeface="Verdana"/>
              </a:rPr>
              <a:t>−</a:t>
            </a:r>
            <a:r>
              <a:rPr sz="1000" i="1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000" i="1" spc="-35" dirty="0">
                <a:solidFill>
                  <a:srgbClr val="3F3F3F"/>
                </a:solidFill>
                <a:latin typeface="Arial"/>
                <a:cs typeface="Arial"/>
              </a:rPr>
              <a:t>ϵ</a:t>
            </a:r>
            <a:r>
              <a:rPr sz="1000" i="1" spc="-5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3F3F3F"/>
                </a:solidFill>
                <a:latin typeface="Tahoma"/>
                <a:cs typeface="Tahoma"/>
              </a:rPr>
              <a:t>RNG</a:t>
            </a:r>
            <a:endParaRPr sz="1000">
              <a:latin typeface="Tahoma"/>
              <a:cs typeface="Tahoma"/>
            </a:endParaRPr>
          </a:p>
          <a:p>
            <a:pPr marL="566420" lvl="1" indent="-183515">
              <a:lnSpc>
                <a:spcPts val="1200"/>
              </a:lnSpc>
              <a:buClr>
                <a:srgbClr val="003476"/>
              </a:buClr>
              <a:buFont typeface="Tahoma"/>
              <a:buChar char="—"/>
              <a:tabLst>
                <a:tab pos="566420" algn="l"/>
              </a:tabLst>
            </a:pPr>
            <a:r>
              <a:rPr sz="1000" i="1" dirty="0">
                <a:solidFill>
                  <a:srgbClr val="3F3F3F"/>
                </a:solidFill>
                <a:latin typeface="Cambria"/>
                <a:cs typeface="Cambria"/>
              </a:rPr>
              <a:t>k </a:t>
            </a:r>
            <a:r>
              <a:rPr sz="1000" i="1" spc="-50" dirty="0">
                <a:solidFill>
                  <a:srgbClr val="3F3F3F"/>
                </a:solidFill>
                <a:latin typeface="Verdana"/>
                <a:cs typeface="Verdana"/>
              </a:rPr>
              <a:t>−</a:t>
            </a:r>
            <a:r>
              <a:rPr sz="1000" i="1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000" i="1" spc="-170" dirty="0">
                <a:solidFill>
                  <a:srgbClr val="3F3F3F"/>
                </a:solidFill>
                <a:latin typeface="Arial"/>
                <a:cs typeface="Arial"/>
              </a:rPr>
              <a:t>ω</a:t>
            </a:r>
            <a:r>
              <a:rPr sz="1000" i="1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3F3F3F"/>
                </a:solidFill>
                <a:latin typeface="Tahoma"/>
                <a:cs typeface="Tahoma"/>
              </a:rPr>
              <a:t>Standard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67295" y="252930"/>
            <a:ext cx="28784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35" dirty="0">
                <a:solidFill>
                  <a:srgbClr val="003476"/>
                </a:solidFill>
              </a:rPr>
              <a:t>Flow</a:t>
            </a:r>
            <a:r>
              <a:rPr spc="-55" dirty="0">
                <a:solidFill>
                  <a:srgbClr val="003476"/>
                </a:solidFill>
              </a:rPr>
              <a:t> </a:t>
            </a:r>
            <a:r>
              <a:rPr spc="-130" dirty="0">
                <a:solidFill>
                  <a:srgbClr val="003476"/>
                </a:solidFill>
              </a:rPr>
              <a:t>Configuration</a:t>
            </a:r>
            <a:r>
              <a:rPr spc="-45" dirty="0">
                <a:solidFill>
                  <a:srgbClr val="003476"/>
                </a:solidFill>
              </a:rPr>
              <a:t> </a:t>
            </a:r>
            <a:r>
              <a:rPr spc="-105" dirty="0">
                <a:solidFill>
                  <a:srgbClr val="003476"/>
                </a:solidFill>
              </a:rPr>
              <a:t>&amp;</a:t>
            </a:r>
            <a:r>
              <a:rPr spc="-50" dirty="0">
                <a:solidFill>
                  <a:srgbClr val="003476"/>
                </a:solidFill>
              </a:rPr>
              <a:t> </a:t>
            </a:r>
            <a:r>
              <a:rPr spc="-135" dirty="0">
                <a:solidFill>
                  <a:srgbClr val="003476"/>
                </a:solidFill>
              </a:rPr>
              <a:t>Boundary</a:t>
            </a:r>
            <a:r>
              <a:rPr spc="-55" dirty="0">
                <a:solidFill>
                  <a:srgbClr val="003476"/>
                </a:solidFill>
              </a:rPr>
              <a:t> </a:t>
            </a:r>
            <a:r>
              <a:rPr spc="-100" dirty="0">
                <a:solidFill>
                  <a:srgbClr val="003476"/>
                </a:solidFill>
              </a:rPr>
              <a:t>Setup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1894" y="3016594"/>
            <a:ext cx="236854" cy="154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z="800" spc="-30" dirty="0">
                <a:solidFill>
                  <a:srgbClr val="3F3F3F"/>
                </a:solidFill>
                <a:latin typeface="Tahoma"/>
                <a:cs typeface="Tahoma"/>
              </a:rPr>
              <a:t>4</a:t>
            </a:fld>
            <a:r>
              <a:rPr sz="800" spc="-30" dirty="0">
                <a:solidFill>
                  <a:srgbClr val="3F3F3F"/>
                </a:solidFill>
                <a:latin typeface="Tahoma"/>
                <a:cs typeface="Tahoma"/>
              </a:rPr>
              <a:t>/16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4594" y="422483"/>
            <a:ext cx="4794885" cy="248031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744855">
              <a:lnSpc>
                <a:spcPct val="100000"/>
              </a:lnSpc>
              <a:spcBef>
                <a:spcPts val="395"/>
              </a:spcBef>
            </a:pPr>
            <a:r>
              <a:rPr sz="900" spc="-180" dirty="0">
                <a:solidFill>
                  <a:srgbClr val="003476"/>
                </a:solidFill>
                <a:latin typeface="Tahoma"/>
                <a:cs typeface="Tahoma"/>
              </a:rPr>
              <a:t>1</a:t>
            </a:r>
            <a:r>
              <a:rPr sz="900" spc="114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900" spc="-35" dirty="0">
                <a:solidFill>
                  <a:srgbClr val="003476"/>
                </a:solidFill>
                <a:latin typeface="Tahoma"/>
                <a:cs typeface="Tahoma"/>
              </a:rPr>
              <a:t>Initial</a:t>
            </a:r>
            <a:r>
              <a:rPr sz="900" spc="-55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003476"/>
                </a:solidFill>
                <a:latin typeface="Tahoma"/>
                <a:cs typeface="Tahoma"/>
              </a:rPr>
              <a:t>Problem</a:t>
            </a:r>
            <a:endParaRPr sz="9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355"/>
              </a:spcBef>
            </a:pPr>
            <a:r>
              <a:rPr sz="1100" b="1" spc="-125" dirty="0">
                <a:solidFill>
                  <a:srgbClr val="3F3F3F"/>
                </a:solidFill>
                <a:latin typeface="Tahoma"/>
                <a:cs typeface="Tahoma"/>
              </a:rPr>
              <a:t>Flow</a:t>
            </a:r>
            <a:r>
              <a:rPr sz="1100" b="1" spc="-5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b="1" spc="-20" dirty="0">
                <a:solidFill>
                  <a:srgbClr val="3F3F3F"/>
                </a:solidFill>
                <a:latin typeface="Tahoma"/>
                <a:cs typeface="Tahoma"/>
              </a:rPr>
              <a:t>Properties:</a:t>
            </a:r>
            <a:endParaRPr sz="1100">
              <a:latin typeface="Tahoma"/>
              <a:cs typeface="Tahoma"/>
            </a:endParaRPr>
          </a:p>
          <a:p>
            <a:pPr marL="302895" indent="-139065">
              <a:lnSpc>
                <a:spcPct val="100000"/>
              </a:lnSpc>
              <a:spcBef>
                <a:spcPts val="155"/>
              </a:spcBef>
              <a:buClr>
                <a:srgbClr val="003476"/>
              </a:buClr>
              <a:buChar char="•"/>
              <a:tabLst>
                <a:tab pos="302895" algn="l"/>
              </a:tabLst>
            </a:pPr>
            <a:r>
              <a:rPr sz="1100" spc="-60" dirty="0">
                <a:solidFill>
                  <a:srgbClr val="3F3F3F"/>
                </a:solidFill>
                <a:latin typeface="Tahoma"/>
                <a:cs typeface="Tahoma"/>
              </a:rPr>
              <a:t>Unsteady, </a:t>
            </a:r>
            <a:r>
              <a:rPr sz="1100" spc="-80" dirty="0">
                <a:solidFill>
                  <a:srgbClr val="3F3F3F"/>
                </a:solidFill>
                <a:latin typeface="Tahoma"/>
                <a:cs typeface="Tahoma"/>
              </a:rPr>
              <a:t>2D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3F3F3F"/>
                </a:solidFill>
                <a:latin typeface="Tahoma"/>
                <a:cs typeface="Tahoma"/>
              </a:rPr>
              <a:t>flow</a:t>
            </a:r>
            <a:r>
              <a:rPr sz="1100" spc="-6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past </a:t>
            </a:r>
            <a:r>
              <a:rPr sz="1100" spc="-65" dirty="0">
                <a:solidFill>
                  <a:srgbClr val="3F3F3F"/>
                </a:solidFill>
                <a:latin typeface="Tahoma"/>
                <a:cs typeface="Tahoma"/>
              </a:rPr>
              <a:t>a</a:t>
            </a:r>
            <a:r>
              <a:rPr sz="1100" spc="-6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square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cylinder</a:t>
            </a:r>
            <a:r>
              <a:rPr sz="1100" spc="-6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(reference 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dimension</a:t>
            </a:r>
            <a:r>
              <a:rPr sz="1100" spc="-6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i="1" spc="-25" dirty="0">
                <a:solidFill>
                  <a:srgbClr val="3F3F3F"/>
                </a:solidFill>
                <a:latin typeface="Cambria"/>
                <a:cs typeface="Cambria"/>
              </a:rPr>
              <a:t>B</a:t>
            </a:r>
            <a:r>
              <a:rPr sz="1100" spc="-25" dirty="0">
                <a:solidFill>
                  <a:srgbClr val="3F3F3F"/>
                </a:solidFill>
                <a:latin typeface="Tahoma"/>
                <a:cs typeface="Tahoma"/>
              </a:rPr>
              <a:t>).</a:t>
            </a:r>
            <a:endParaRPr sz="1100">
              <a:latin typeface="Tahoma"/>
              <a:cs typeface="Tahoma"/>
            </a:endParaRPr>
          </a:p>
          <a:p>
            <a:pPr marL="302895" indent="-139065">
              <a:lnSpc>
                <a:spcPct val="100000"/>
              </a:lnSpc>
              <a:spcBef>
                <a:spcPts val="120"/>
              </a:spcBef>
              <a:buClr>
                <a:srgbClr val="003476"/>
              </a:buClr>
              <a:buChar char="•"/>
              <a:tabLst>
                <a:tab pos="302895" algn="l"/>
              </a:tabLst>
            </a:pPr>
            <a:r>
              <a:rPr sz="1100" spc="-45" dirty="0">
                <a:solidFill>
                  <a:srgbClr val="3F3F3F"/>
                </a:solidFill>
                <a:latin typeface="Tahoma"/>
                <a:cs typeface="Tahoma"/>
              </a:rPr>
              <a:t>Subcritical</a:t>
            </a:r>
            <a:r>
              <a:rPr sz="1100" spc="-9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regime: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3F3F3F"/>
                </a:solidFill>
                <a:latin typeface="Cambria"/>
                <a:cs typeface="Cambria"/>
              </a:rPr>
              <a:t>Re</a:t>
            </a:r>
            <a:r>
              <a:rPr sz="1100" i="1" spc="75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1100" i="1" spc="-60" dirty="0">
                <a:solidFill>
                  <a:srgbClr val="3F3F3F"/>
                </a:solidFill>
                <a:latin typeface="Verdana"/>
                <a:cs typeface="Verdana"/>
              </a:rPr>
              <a:t>≈</a:t>
            </a:r>
            <a:r>
              <a:rPr sz="1100" i="1" spc="-7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F3F3F"/>
                </a:solidFill>
                <a:latin typeface="Cambria"/>
                <a:cs typeface="Cambria"/>
              </a:rPr>
              <a:t>2</a:t>
            </a:r>
            <a:r>
              <a:rPr sz="1100" i="1" dirty="0">
                <a:solidFill>
                  <a:srgbClr val="3F3F3F"/>
                </a:solidFill>
                <a:latin typeface="Arial"/>
                <a:cs typeface="Arial"/>
              </a:rPr>
              <a:t>.</a:t>
            </a:r>
            <a:r>
              <a:rPr sz="1100" dirty="0">
                <a:solidFill>
                  <a:srgbClr val="3F3F3F"/>
                </a:solidFill>
                <a:latin typeface="Cambria"/>
                <a:cs typeface="Cambria"/>
              </a:rPr>
              <a:t>2</a:t>
            </a:r>
            <a:r>
              <a:rPr sz="1100" spc="10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1100" i="1" spc="-60" dirty="0">
                <a:solidFill>
                  <a:srgbClr val="3F3F3F"/>
                </a:solidFill>
                <a:latin typeface="Verdana"/>
                <a:cs typeface="Verdana"/>
              </a:rPr>
              <a:t>×</a:t>
            </a:r>
            <a:r>
              <a:rPr sz="1100" i="1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F3F3F"/>
                </a:solidFill>
                <a:latin typeface="Cambria"/>
                <a:cs typeface="Cambria"/>
              </a:rPr>
              <a:t>10</a:t>
            </a:r>
            <a:r>
              <a:rPr sz="1200" spc="-30" baseline="27777" dirty="0">
                <a:solidFill>
                  <a:srgbClr val="3F3F3F"/>
                </a:solidFill>
                <a:latin typeface="Cambria"/>
                <a:cs typeface="Cambria"/>
              </a:rPr>
              <a:t>4</a:t>
            </a:r>
            <a:r>
              <a:rPr sz="1100" spc="-20" dirty="0">
                <a:solidFill>
                  <a:srgbClr val="3F3F3F"/>
                </a:solidFill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302895" indent="-139065">
              <a:lnSpc>
                <a:spcPct val="100000"/>
              </a:lnSpc>
              <a:spcBef>
                <a:spcPts val="120"/>
              </a:spcBef>
              <a:buClr>
                <a:srgbClr val="003476"/>
              </a:buClr>
              <a:buChar char="•"/>
              <a:tabLst>
                <a:tab pos="302895" algn="l"/>
              </a:tabLst>
            </a:pP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Non-</a:t>
            </a:r>
            <a:r>
              <a:rPr sz="1100" spc="-45" dirty="0">
                <a:solidFill>
                  <a:srgbClr val="3F3F3F"/>
                </a:solidFill>
                <a:latin typeface="Tahoma"/>
                <a:cs typeface="Tahoma"/>
              </a:rPr>
              <a:t>dimensionalized</a:t>
            </a:r>
            <a:r>
              <a:rPr sz="1100" spc="-7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3F3F3F"/>
                </a:solidFill>
                <a:latin typeface="Tahoma"/>
                <a:cs typeface="Tahoma"/>
              </a:rPr>
              <a:t>using</a:t>
            </a:r>
            <a:r>
              <a:rPr sz="1100" spc="-7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3F3F3F"/>
                </a:solidFill>
                <a:latin typeface="Arial"/>
                <a:cs typeface="Arial"/>
              </a:rPr>
              <a:t>ρ</a:t>
            </a:r>
            <a:r>
              <a:rPr sz="1100" i="1" spc="3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F3F3F"/>
                </a:solidFill>
                <a:latin typeface="Tahoma"/>
                <a:cs typeface="Tahoma"/>
              </a:rPr>
              <a:t>=</a:t>
            </a:r>
            <a:r>
              <a:rPr sz="1100" spc="-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3F3F3F"/>
                </a:solidFill>
                <a:latin typeface="Cambria"/>
                <a:cs typeface="Cambria"/>
              </a:rPr>
              <a:t>1</a:t>
            </a:r>
            <a:r>
              <a:rPr sz="1100" spc="30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1100" spc="-45" dirty="0">
                <a:solidFill>
                  <a:srgbClr val="3F3F3F"/>
                </a:solidFill>
                <a:latin typeface="Tahoma"/>
                <a:cs typeface="Tahoma"/>
              </a:rPr>
              <a:t>kg/m</a:t>
            </a:r>
            <a:r>
              <a:rPr sz="1200" spc="-67" baseline="27777" dirty="0">
                <a:solidFill>
                  <a:srgbClr val="3F3F3F"/>
                </a:solidFill>
                <a:latin typeface="Cambria"/>
                <a:cs typeface="Cambria"/>
              </a:rPr>
              <a:t>3</a:t>
            </a:r>
            <a:r>
              <a:rPr sz="1100" spc="-45" dirty="0">
                <a:solidFill>
                  <a:srgbClr val="3F3F3F"/>
                </a:solidFill>
                <a:latin typeface="Tahoma"/>
                <a:cs typeface="Tahoma"/>
              </a:rPr>
              <a:t>,</a:t>
            </a:r>
            <a:r>
              <a:rPr sz="1100" spc="-7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3F3F3F"/>
                </a:solidFill>
                <a:latin typeface="Arial"/>
                <a:cs typeface="Arial"/>
              </a:rPr>
              <a:t>ν</a:t>
            </a:r>
            <a:r>
              <a:rPr sz="1100" i="1" spc="11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F3F3F"/>
                </a:solidFill>
                <a:latin typeface="Tahoma"/>
                <a:cs typeface="Tahoma"/>
              </a:rPr>
              <a:t>=</a:t>
            </a:r>
            <a:r>
              <a:rPr sz="1100" spc="-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3F3F3F"/>
                </a:solidFill>
                <a:latin typeface="Cambria"/>
                <a:cs typeface="Cambria"/>
              </a:rPr>
              <a:t>4</a:t>
            </a:r>
            <a:r>
              <a:rPr sz="1100" i="1" dirty="0">
                <a:solidFill>
                  <a:srgbClr val="3F3F3F"/>
                </a:solidFill>
                <a:latin typeface="Arial"/>
                <a:cs typeface="Arial"/>
              </a:rPr>
              <a:t>.</a:t>
            </a:r>
            <a:r>
              <a:rPr sz="1100" dirty="0">
                <a:solidFill>
                  <a:srgbClr val="3F3F3F"/>
                </a:solidFill>
                <a:latin typeface="Cambria"/>
                <a:cs typeface="Cambria"/>
              </a:rPr>
              <a:t>545</a:t>
            </a:r>
            <a:r>
              <a:rPr sz="1100" spc="20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1100" i="1" spc="-60" dirty="0">
                <a:solidFill>
                  <a:srgbClr val="3F3F3F"/>
                </a:solidFill>
                <a:latin typeface="Verdana"/>
                <a:cs typeface="Verdana"/>
              </a:rPr>
              <a:t>×</a:t>
            </a:r>
            <a:r>
              <a:rPr sz="1100" i="1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F3F3F"/>
                </a:solidFill>
                <a:latin typeface="Cambria"/>
                <a:cs typeface="Cambria"/>
              </a:rPr>
              <a:t>10</a:t>
            </a:r>
            <a:r>
              <a:rPr sz="1200" i="1" baseline="27777" dirty="0">
                <a:solidFill>
                  <a:srgbClr val="3F3F3F"/>
                </a:solidFill>
                <a:latin typeface="Arial"/>
                <a:cs typeface="Arial"/>
              </a:rPr>
              <a:t>−</a:t>
            </a:r>
            <a:r>
              <a:rPr sz="1200" baseline="27777" dirty="0">
                <a:solidFill>
                  <a:srgbClr val="3F3F3F"/>
                </a:solidFill>
                <a:latin typeface="Cambria"/>
                <a:cs typeface="Cambria"/>
              </a:rPr>
              <a:t>5</a:t>
            </a:r>
            <a:r>
              <a:rPr sz="1200" spc="232" baseline="27777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kg/(m</a:t>
            </a:r>
            <a:r>
              <a:rPr sz="1100" i="1" spc="-75" dirty="0">
                <a:solidFill>
                  <a:srgbClr val="3F3F3F"/>
                </a:solidFill>
                <a:latin typeface="Verdana"/>
                <a:cs typeface="Verdana"/>
              </a:rPr>
              <a:t>·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s),</a:t>
            </a:r>
            <a:r>
              <a:rPr sz="1100" spc="-7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and</a:t>
            </a:r>
            <a:r>
              <a:rPr sz="1100" spc="-7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i="1" spc="50" dirty="0">
                <a:solidFill>
                  <a:srgbClr val="3F3F3F"/>
                </a:solidFill>
                <a:latin typeface="Cambria"/>
                <a:cs typeface="Cambria"/>
              </a:rPr>
              <a:t>U</a:t>
            </a:r>
            <a:r>
              <a:rPr sz="1200" i="1" spc="75" baseline="-10416" dirty="0">
                <a:solidFill>
                  <a:srgbClr val="3F3F3F"/>
                </a:solidFill>
                <a:latin typeface="Arial"/>
                <a:cs typeface="Arial"/>
              </a:rPr>
              <a:t>∞</a:t>
            </a:r>
            <a:r>
              <a:rPr sz="1100" spc="50" dirty="0">
                <a:solidFill>
                  <a:srgbClr val="3F3F3F"/>
                </a:solidFill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1005"/>
              </a:spcBef>
            </a:pPr>
            <a:r>
              <a:rPr sz="1100" b="1" spc="-120" dirty="0">
                <a:solidFill>
                  <a:srgbClr val="3F3F3F"/>
                </a:solidFill>
                <a:latin typeface="Tahoma"/>
                <a:cs typeface="Tahoma"/>
              </a:rPr>
              <a:t>Boundary</a:t>
            </a:r>
            <a:r>
              <a:rPr sz="1100" b="1" spc="-3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b="1" spc="-20" dirty="0">
                <a:solidFill>
                  <a:srgbClr val="3F3F3F"/>
                </a:solidFill>
                <a:latin typeface="Tahoma"/>
                <a:cs typeface="Tahoma"/>
              </a:rPr>
              <a:t>Conditions:</a:t>
            </a:r>
            <a:endParaRPr sz="1100">
              <a:latin typeface="Tahoma"/>
              <a:cs typeface="Tahoma"/>
            </a:endParaRPr>
          </a:p>
          <a:p>
            <a:pPr marL="302895" indent="-139065">
              <a:lnSpc>
                <a:spcPct val="100000"/>
              </a:lnSpc>
              <a:spcBef>
                <a:spcPts val="155"/>
              </a:spcBef>
              <a:buClr>
                <a:srgbClr val="003476"/>
              </a:buClr>
              <a:buFont typeface="Tahoma"/>
              <a:buChar char="•"/>
              <a:tabLst>
                <a:tab pos="302895" algn="l"/>
              </a:tabLst>
            </a:pPr>
            <a:r>
              <a:rPr sz="1100" b="1" spc="-130" dirty="0">
                <a:solidFill>
                  <a:srgbClr val="3F3F3F"/>
                </a:solidFill>
                <a:latin typeface="Tahoma"/>
                <a:cs typeface="Tahoma"/>
              </a:rPr>
              <a:t>Inlet:</a:t>
            </a:r>
            <a:r>
              <a:rPr sz="1100" b="1" spc="2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3F3F3F"/>
                </a:solidFill>
                <a:latin typeface="Tahoma"/>
                <a:cs typeface="Tahoma"/>
              </a:rPr>
              <a:t>Velocity-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inlet,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3F3F3F"/>
                </a:solidFill>
                <a:latin typeface="Tahoma"/>
                <a:cs typeface="Tahoma"/>
              </a:rPr>
              <a:t>Turbulence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Intensity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265" dirty="0">
                <a:solidFill>
                  <a:srgbClr val="3F3F3F"/>
                </a:solidFill>
                <a:latin typeface="Tahoma"/>
                <a:cs typeface="Tahoma"/>
              </a:rPr>
              <a:t>=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90" dirty="0">
                <a:solidFill>
                  <a:srgbClr val="3F3F3F"/>
                </a:solidFill>
                <a:latin typeface="Cambria"/>
                <a:cs typeface="Cambria"/>
              </a:rPr>
              <a:t>2</a:t>
            </a:r>
            <a:r>
              <a:rPr sz="1100" spc="-90" dirty="0">
                <a:solidFill>
                  <a:srgbClr val="3F3F3F"/>
                </a:solidFill>
                <a:latin typeface="Tahoma"/>
                <a:cs typeface="Tahoma"/>
              </a:rPr>
              <a:t>%,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3F3F3F"/>
                </a:solidFill>
                <a:latin typeface="Tahoma"/>
                <a:cs typeface="Tahoma"/>
              </a:rPr>
              <a:t>Length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3F3F3F"/>
                </a:solidFill>
                <a:latin typeface="Tahoma"/>
                <a:cs typeface="Tahoma"/>
              </a:rPr>
              <a:t>Scale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265" dirty="0">
                <a:solidFill>
                  <a:srgbClr val="3F3F3F"/>
                </a:solidFill>
                <a:latin typeface="Tahoma"/>
                <a:cs typeface="Tahoma"/>
              </a:rPr>
              <a:t>=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mbria"/>
                <a:cs typeface="Cambria"/>
              </a:rPr>
              <a:t>0</a:t>
            </a:r>
            <a:r>
              <a:rPr sz="1100" i="1" spc="-10" dirty="0">
                <a:solidFill>
                  <a:srgbClr val="3F3F3F"/>
                </a:solidFill>
                <a:latin typeface="Arial"/>
                <a:cs typeface="Arial"/>
              </a:rPr>
              <a:t>.</a:t>
            </a:r>
            <a:r>
              <a:rPr sz="1100" spc="-10" dirty="0">
                <a:solidFill>
                  <a:srgbClr val="3F3F3F"/>
                </a:solidFill>
                <a:latin typeface="Cambria"/>
                <a:cs typeface="Cambria"/>
              </a:rPr>
              <a:t>5</a:t>
            </a:r>
            <a:r>
              <a:rPr sz="1100" i="1" spc="-10" dirty="0">
                <a:solidFill>
                  <a:srgbClr val="3F3F3F"/>
                </a:solidFill>
                <a:latin typeface="Cambria"/>
                <a:cs typeface="Cambria"/>
              </a:rPr>
              <a:t>B</a:t>
            </a:r>
            <a:r>
              <a:rPr sz="1100" spc="-10" dirty="0">
                <a:solidFill>
                  <a:srgbClr val="3F3F3F"/>
                </a:solidFill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302895" indent="-139065">
              <a:lnSpc>
                <a:spcPct val="100000"/>
              </a:lnSpc>
              <a:spcBef>
                <a:spcPts val="120"/>
              </a:spcBef>
              <a:buClr>
                <a:srgbClr val="003476"/>
              </a:buClr>
              <a:buFont typeface="Tahoma"/>
              <a:buChar char="•"/>
              <a:tabLst>
                <a:tab pos="302895" algn="l"/>
              </a:tabLst>
            </a:pPr>
            <a:r>
              <a:rPr sz="1100" b="1" spc="-110" dirty="0">
                <a:solidFill>
                  <a:srgbClr val="3F3F3F"/>
                </a:solidFill>
                <a:latin typeface="Tahoma"/>
                <a:cs typeface="Tahoma"/>
              </a:rPr>
              <a:t>Outlet:</a:t>
            </a:r>
            <a:r>
              <a:rPr sz="1100" b="1" spc="-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3F3F3F"/>
                </a:solidFill>
                <a:latin typeface="Tahoma"/>
                <a:cs typeface="Tahoma"/>
              </a:rPr>
              <a:t>Dirichlet</a:t>
            </a:r>
            <a:r>
              <a:rPr sz="1100" spc="-7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3F3F3F"/>
                </a:solidFill>
                <a:latin typeface="Tahoma"/>
                <a:cs typeface="Tahoma"/>
              </a:rPr>
              <a:t>condition</a:t>
            </a:r>
            <a:r>
              <a:rPr sz="1100" spc="-7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3F3F3F"/>
                </a:solidFill>
                <a:latin typeface="Tahoma"/>
                <a:cs typeface="Tahoma"/>
              </a:rPr>
              <a:t>on</a:t>
            </a:r>
            <a:r>
              <a:rPr sz="1100" spc="-7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pressure</a:t>
            </a:r>
            <a:r>
              <a:rPr sz="1100" spc="-7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Tahoma"/>
                <a:cs typeface="Tahoma"/>
              </a:rPr>
              <a:t>(</a:t>
            </a:r>
            <a:r>
              <a:rPr sz="1100" i="1" spc="-10" dirty="0">
                <a:solidFill>
                  <a:srgbClr val="3F3F3F"/>
                </a:solidFill>
                <a:latin typeface="Cambria"/>
                <a:cs typeface="Cambria"/>
              </a:rPr>
              <a:t>p</a:t>
            </a:r>
            <a:r>
              <a:rPr sz="1200" i="1" spc="-15" baseline="-13888" dirty="0">
                <a:solidFill>
                  <a:srgbClr val="3F3F3F"/>
                </a:solidFill>
                <a:latin typeface="Cambria"/>
                <a:cs typeface="Cambria"/>
              </a:rPr>
              <a:t>rel</a:t>
            </a:r>
            <a:r>
              <a:rPr sz="1200" i="1" spc="322" baseline="-13888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3F3F3F"/>
                </a:solidFill>
                <a:latin typeface="Tahoma"/>
                <a:cs typeface="Tahoma"/>
              </a:rPr>
              <a:t>= </a:t>
            </a:r>
            <a:r>
              <a:rPr sz="1100" spc="-25" dirty="0">
                <a:solidFill>
                  <a:srgbClr val="3F3F3F"/>
                </a:solidFill>
                <a:latin typeface="Cambria"/>
                <a:cs typeface="Cambria"/>
              </a:rPr>
              <a:t>0</a:t>
            </a:r>
            <a:r>
              <a:rPr sz="1100" spc="-25" dirty="0">
                <a:solidFill>
                  <a:srgbClr val="3F3F3F"/>
                </a:solidFill>
                <a:latin typeface="Tahoma"/>
                <a:cs typeface="Tahoma"/>
              </a:rPr>
              <a:t>).</a:t>
            </a:r>
            <a:endParaRPr sz="1100">
              <a:latin typeface="Tahoma"/>
              <a:cs typeface="Tahoma"/>
            </a:endParaRPr>
          </a:p>
          <a:p>
            <a:pPr marL="302895" indent="-139065">
              <a:lnSpc>
                <a:spcPct val="100000"/>
              </a:lnSpc>
              <a:spcBef>
                <a:spcPts val="120"/>
              </a:spcBef>
              <a:buClr>
                <a:srgbClr val="003476"/>
              </a:buClr>
              <a:buFont typeface="Tahoma"/>
              <a:buChar char="•"/>
              <a:tabLst>
                <a:tab pos="302895" algn="l"/>
              </a:tabLst>
            </a:pPr>
            <a:r>
              <a:rPr sz="1100" b="1" spc="-130" dirty="0">
                <a:solidFill>
                  <a:srgbClr val="3F3F3F"/>
                </a:solidFill>
                <a:latin typeface="Tahoma"/>
                <a:cs typeface="Tahoma"/>
              </a:rPr>
              <a:t>Upper/Lower</a:t>
            </a:r>
            <a:r>
              <a:rPr sz="1100" b="1" spc="-4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b="1" spc="-114" dirty="0">
                <a:solidFill>
                  <a:srgbClr val="3F3F3F"/>
                </a:solidFill>
                <a:latin typeface="Tahoma"/>
                <a:cs typeface="Tahoma"/>
              </a:rPr>
              <a:t>Limits:</a:t>
            </a:r>
            <a:r>
              <a:rPr sz="1100" b="1" spc="2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Periodic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Tahoma"/>
                <a:cs typeface="Tahoma"/>
              </a:rPr>
              <a:t>conditions.</a:t>
            </a:r>
            <a:endParaRPr sz="1100">
              <a:latin typeface="Tahoma"/>
              <a:cs typeface="Tahoma"/>
            </a:endParaRPr>
          </a:p>
          <a:p>
            <a:pPr marL="302895" indent="-139065">
              <a:lnSpc>
                <a:spcPct val="100000"/>
              </a:lnSpc>
              <a:spcBef>
                <a:spcPts val="120"/>
              </a:spcBef>
              <a:buClr>
                <a:srgbClr val="003476"/>
              </a:buClr>
              <a:buFont typeface="Tahoma"/>
              <a:buChar char="•"/>
              <a:tabLst>
                <a:tab pos="302895" algn="l"/>
              </a:tabLst>
            </a:pPr>
            <a:r>
              <a:rPr sz="1100" b="1" spc="-114" dirty="0">
                <a:solidFill>
                  <a:srgbClr val="3F3F3F"/>
                </a:solidFill>
                <a:latin typeface="Tahoma"/>
                <a:cs typeface="Tahoma"/>
              </a:rPr>
              <a:t>Cylinder</a:t>
            </a:r>
            <a:r>
              <a:rPr sz="1100" b="1" spc="-6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b="1" spc="-130" dirty="0">
                <a:solidFill>
                  <a:srgbClr val="3F3F3F"/>
                </a:solidFill>
                <a:latin typeface="Tahoma"/>
                <a:cs typeface="Tahoma"/>
              </a:rPr>
              <a:t>Surface:</a:t>
            </a:r>
            <a:r>
              <a:rPr sz="1100" b="1" spc="-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Smooth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3F3F3F"/>
                </a:solidFill>
                <a:latin typeface="Tahoma"/>
                <a:cs typeface="Tahoma"/>
              </a:rPr>
              <a:t>edge</a:t>
            </a:r>
            <a:r>
              <a:rPr sz="1100" spc="-8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3F3F3F"/>
                </a:solidFill>
                <a:latin typeface="Tahoma"/>
                <a:cs typeface="Tahoma"/>
              </a:rPr>
              <a:t>(roughness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265" dirty="0">
                <a:solidFill>
                  <a:srgbClr val="3F3F3F"/>
                </a:solidFill>
                <a:latin typeface="Tahoma"/>
                <a:cs typeface="Tahoma"/>
              </a:rPr>
              <a:t>=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3F3F3F"/>
                </a:solidFill>
                <a:latin typeface="Cambria"/>
                <a:cs typeface="Cambria"/>
              </a:rPr>
              <a:t>0</a:t>
            </a:r>
            <a:r>
              <a:rPr sz="1100" spc="-65" dirty="0">
                <a:solidFill>
                  <a:srgbClr val="3F3F3F"/>
                </a:solidFill>
                <a:latin typeface="Tahoma"/>
                <a:cs typeface="Tahoma"/>
              </a:rPr>
              <a:t>),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no-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slip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3F3F3F"/>
                </a:solidFill>
                <a:latin typeface="Tahoma"/>
                <a:cs typeface="Tahoma"/>
              </a:rPr>
              <a:t>(</a:t>
            </a:r>
            <a:r>
              <a:rPr sz="1100" i="1" dirty="0">
                <a:solidFill>
                  <a:srgbClr val="3F3F3F"/>
                </a:solidFill>
                <a:latin typeface="Cambria"/>
                <a:cs typeface="Cambria"/>
              </a:rPr>
              <a:t>u</a:t>
            </a:r>
            <a:r>
              <a:rPr sz="1100" i="1" spc="85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3F3F3F"/>
                </a:solidFill>
                <a:latin typeface="Tahoma"/>
                <a:cs typeface="Tahoma"/>
              </a:rPr>
              <a:t>=</a:t>
            </a:r>
            <a:r>
              <a:rPr sz="1100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3F3F3F"/>
                </a:solidFill>
                <a:latin typeface="Cambria"/>
                <a:cs typeface="Cambria"/>
              </a:rPr>
              <a:t>v</a:t>
            </a:r>
            <a:r>
              <a:rPr sz="1100" i="1" spc="85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3F3F3F"/>
                </a:solidFill>
                <a:latin typeface="Tahoma"/>
                <a:cs typeface="Tahoma"/>
              </a:rPr>
              <a:t>=</a:t>
            </a:r>
            <a:r>
              <a:rPr sz="1100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3F3F3F"/>
                </a:solidFill>
                <a:latin typeface="Cambria"/>
                <a:cs typeface="Cambria"/>
              </a:rPr>
              <a:t>0</a:t>
            </a:r>
            <a:r>
              <a:rPr sz="1100" spc="-25" dirty="0">
                <a:solidFill>
                  <a:srgbClr val="3F3F3F"/>
                </a:solidFill>
                <a:latin typeface="Tahoma"/>
                <a:cs typeface="Tahoma"/>
              </a:rPr>
              <a:t>).</a:t>
            </a:r>
            <a:endParaRPr sz="11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1010"/>
              </a:spcBef>
            </a:pPr>
            <a:r>
              <a:rPr sz="1100" b="1" spc="-50" dirty="0">
                <a:solidFill>
                  <a:srgbClr val="3F3F3F"/>
                </a:solidFill>
                <a:latin typeface="Tahoma"/>
                <a:cs typeface="Tahoma"/>
              </a:rPr>
              <a:t>Initialization:</a:t>
            </a:r>
            <a:endParaRPr sz="1100">
              <a:latin typeface="Tahoma"/>
              <a:cs typeface="Tahoma"/>
            </a:endParaRPr>
          </a:p>
          <a:p>
            <a:pPr marL="302895" indent="-139065">
              <a:lnSpc>
                <a:spcPct val="100000"/>
              </a:lnSpc>
              <a:spcBef>
                <a:spcPts val="155"/>
              </a:spcBef>
              <a:buClr>
                <a:srgbClr val="003476"/>
              </a:buClr>
              <a:buChar char="•"/>
              <a:tabLst>
                <a:tab pos="302895" algn="l"/>
              </a:tabLst>
            </a:pP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Uniform</a:t>
            </a:r>
            <a:r>
              <a:rPr sz="1100" spc="-6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3F3F3F"/>
                </a:solidFill>
                <a:latin typeface="Tahoma"/>
                <a:cs typeface="Tahoma"/>
              </a:rPr>
              <a:t>initial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3F3F3F"/>
                </a:solidFill>
                <a:latin typeface="Tahoma"/>
                <a:cs typeface="Tahoma"/>
              </a:rPr>
              <a:t>condition</a:t>
            </a:r>
            <a:r>
              <a:rPr sz="1100" spc="-6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matching </a:t>
            </a:r>
            <a:r>
              <a:rPr sz="1100" spc="-25" dirty="0">
                <a:solidFill>
                  <a:srgbClr val="3F3F3F"/>
                </a:solidFill>
                <a:latin typeface="Tahoma"/>
                <a:cs typeface="Tahoma"/>
              </a:rPr>
              <a:t>inlet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 values</a:t>
            </a:r>
            <a:r>
              <a:rPr sz="1100" spc="-60" dirty="0">
                <a:solidFill>
                  <a:srgbClr val="3F3F3F"/>
                </a:solidFill>
                <a:latin typeface="Tahoma"/>
                <a:cs typeface="Tahoma"/>
              </a:rPr>
              <a:t> across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3F3F3F"/>
                </a:solidFill>
                <a:latin typeface="Tahoma"/>
                <a:cs typeface="Tahoma"/>
              </a:rPr>
              <a:t>the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3F3F3F"/>
                </a:solidFill>
                <a:latin typeface="Tahoma"/>
                <a:cs typeface="Tahoma"/>
              </a:rPr>
              <a:t>entire</a:t>
            </a:r>
            <a:r>
              <a:rPr sz="1100" spc="-6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Tahoma"/>
                <a:cs typeface="Tahoma"/>
              </a:rPr>
              <a:t>domain.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639"/>
              </a:lnSpc>
              <a:spcBef>
                <a:spcPts val="135"/>
              </a:spcBef>
            </a:pPr>
            <a:r>
              <a:rPr spc="-130" dirty="0">
                <a:solidFill>
                  <a:srgbClr val="003476"/>
                </a:solidFill>
              </a:rPr>
              <a:t>Spatial</a:t>
            </a:r>
            <a:r>
              <a:rPr spc="-50" dirty="0">
                <a:solidFill>
                  <a:srgbClr val="003476"/>
                </a:solidFill>
              </a:rPr>
              <a:t> </a:t>
            </a:r>
            <a:r>
              <a:rPr spc="-120" dirty="0">
                <a:solidFill>
                  <a:srgbClr val="003476"/>
                </a:solidFill>
              </a:rPr>
              <a:t>Discretization</a:t>
            </a:r>
          </a:p>
          <a:p>
            <a:pPr marL="12700">
              <a:lnSpc>
                <a:spcPts val="1040"/>
              </a:lnSpc>
            </a:pPr>
            <a:r>
              <a:rPr sz="900" b="0" spc="-180" dirty="0">
                <a:solidFill>
                  <a:srgbClr val="003476"/>
                </a:solidFill>
                <a:latin typeface="Tahoma"/>
                <a:cs typeface="Tahoma"/>
              </a:rPr>
              <a:t>1</a:t>
            </a:r>
            <a:r>
              <a:rPr sz="900" b="0" spc="114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900" b="0" spc="-35" dirty="0">
                <a:solidFill>
                  <a:srgbClr val="003476"/>
                </a:solidFill>
                <a:latin typeface="Tahoma"/>
                <a:cs typeface="Tahoma"/>
              </a:rPr>
              <a:t>Initial</a:t>
            </a:r>
            <a:r>
              <a:rPr sz="900" b="0" spc="-55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900" b="0" spc="-10" dirty="0">
                <a:solidFill>
                  <a:srgbClr val="003476"/>
                </a:solidFill>
                <a:latin typeface="Tahoma"/>
                <a:cs typeface="Tahoma"/>
              </a:rPr>
              <a:t>Problem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1894" y="3016594"/>
            <a:ext cx="236854" cy="154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z="800" spc="-30" dirty="0">
                <a:solidFill>
                  <a:srgbClr val="3F3F3F"/>
                </a:solidFill>
                <a:latin typeface="Tahoma"/>
                <a:cs typeface="Tahoma"/>
              </a:rPr>
              <a:t>5</a:t>
            </a:fld>
            <a:r>
              <a:rPr sz="800" spc="-30" dirty="0">
                <a:solidFill>
                  <a:srgbClr val="3F3F3F"/>
                </a:solidFill>
                <a:latin typeface="Tahoma"/>
                <a:cs typeface="Tahoma"/>
              </a:rPr>
              <a:t>/16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294" y="969261"/>
            <a:ext cx="5065395" cy="135763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spc="-130" dirty="0">
                <a:solidFill>
                  <a:srgbClr val="3F3F3F"/>
                </a:solidFill>
                <a:latin typeface="Tahoma"/>
                <a:cs typeface="Tahoma"/>
              </a:rPr>
              <a:t>Domain</a:t>
            </a:r>
            <a:r>
              <a:rPr sz="1100" b="1" spc="-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b="1" spc="-40" dirty="0">
                <a:solidFill>
                  <a:srgbClr val="3F3F3F"/>
                </a:solidFill>
                <a:latin typeface="Tahoma"/>
                <a:cs typeface="Tahoma"/>
              </a:rPr>
              <a:t>Partitioning:</a:t>
            </a:r>
            <a:endParaRPr sz="1100">
              <a:latin typeface="Tahoma"/>
              <a:cs typeface="Tahoma"/>
            </a:endParaRPr>
          </a:p>
          <a:p>
            <a:pPr marL="290195" indent="-139065">
              <a:lnSpc>
                <a:spcPct val="100000"/>
              </a:lnSpc>
              <a:spcBef>
                <a:spcPts val="334"/>
              </a:spcBef>
              <a:buClr>
                <a:srgbClr val="003476"/>
              </a:buClr>
              <a:buChar char="•"/>
              <a:tabLst>
                <a:tab pos="290195" algn="l"/>
              </a:tabLst>
            </a:pPr>
            <a:r>
              <a:rPr sz="1100" spc="-70" dirty="0">
                <a:solidFill>
                  <a:srgbClr val="3F3F3F"/>
                </a:solidFill>
                <a:latin typeface="Tahoma"/>
                <a:cs typeface="Tahoma"/>
              </a:rPr>
              <a:t>The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computational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3F3F3F"/>
                </a:solidFill>
                <a:latin typeface="Tahoma"/>
                <a:cs typeface="Tahoma"/>
              </a:rPr>
              <a:t>domain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is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3F3F3F"/>
                </a:solidFill>
                <a:latin typeface="Tahoma"/>
                <a:cs typeface="Tahoma"/>
              </a:rPr>
              <a:t>divided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3F3F3F"/>
                </a:solidFill>
                <a:latin typeface="Tahoma"/>
                <a:cs typeface="Tahoma"/>
              </a:rPr>
              <a:t>into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3F3F3F"/>
                </a:solidFill>
                <a:latin typeface="Tahoma"/>
                <a:cs typeface="Tahoma"/>
              </a:rPr>
              <a:t>distinct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3F3F3F"/>
                </a:solidFill>
                <a:latin typeface="Tahoma"/>
                <a:cs typeface="Tahoma"/>
              </a:rPr>
              <a:t>macro-</a:t>
            </a:r>
            <a:r>
              <a:rPr sz="1100" spc="-10" dirty="0">
                <a:solidFill>
                  <a:srgbClr val="3F3F3F"/>
                </a:solidFill>
                <a:latin typeface="Tahoma"/>
                <a:cs typeface="Tahoma"/>
              </a:rPr>
              <a:t>zones.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100" b="1" spc="-100" dirty="0">
                <a:solidFill>
                  <a:srgbClr val="3F3F3F"/>
                </a:solidFill>
                <a:latin typeface="Tahoma"/>
                <a:cs typeface="Tahoma"/>
              </a:rPr>
              <a:t>Mesh</a:t>
            </a:r>
            <a:r>
              <a:rPr sz="1100" b="1" spc="-6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b="1" spc="-25" dirty="0">
                <a:solidFill>
                  <a:srgbClr val="3F3F3F"/>
                </a:solidFill>
                <a:latin typeface="Tahoma"/>
                <a:cs typeface="Tahoma"/>
              </a:rPr>
              <a:t>Strategy:</a:t>
            </a:r>
            <a:endParaRPr sz="1100">
              <a:latin typeface="Tahoma"/>
              <a:cs typeface="Tahoma"/>
            </a:endParaRPr>
          </a:p>
          <a:p>
            <a:pPr marL="290195" indent="-139065">
              <a:lnSpc>
                <a:spcPct val="100000"/>
              </a:lnSpc>
              <a:spcBef>
                <a:spcPts val="330"/>
              </a:spcBef>
              <a:buClr>
                <a:srgbClr val="003476"/>
              </a:buClr>
              <a:buFont typeface="Tahoma"/>
              <a:buChar char="•"/>
              <a:tabLst>
                <a:tab pos="290195" algn="l"/>
              </a:tabLst>
            </a:pPr>
            <a:r>
              <a:rPr sz="1100" b="1" spc="-114" dirty="0">
                <a:solidFill>
                  <a:srgbClr val="3F3F3F"/>
                </a:solidFill>
                <a:latin typeface="Tahoma"/>
                <a:cs typeface="Tahoma"/>
              </a:rPr>
              <a:t>Outer</a:t>
            </a:r>
            <a:r>
              <a:rPr sz="1100" b="1" spc="-3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b="1" spc="-114" dirty="0">
                <a:solidFill>
                  <a:srgbClr val="3F3F3F"/>
                </a:solidFill>
                <a:latin typeface="Tahoma"/>
                <a:cs typeface="Tahoma"/>
              </a:rPr>
              <a:t>Area</a:t>
            </a:r>
            <a:r>
              <a:rPr sz="1100" b="1" spc="-3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b="1" spc="-150" dirty="0">
                <a:solidFill>
                  <a:srgbClr val="3F3F3F"/>
                </a:solidFill>
                <a:latin typeface="Tahoma"/>
                <a:cs typeface="Tahoma"/>
              </a:rPr>
              <a:t>(EUL</a:t>
            </a:r>
            <a:r>
              <a:rPr sz="1100" b="1" spc="-3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b="1" spc="-140" dirty="0">
                <a:solidFill>
                  <a:srgbClr val="3F3F3F"/>
                </a:solidFill>
                <a:latin typeface="Tahoma"/>
                <a:cs typeface="Tahoma"/>
              </a:rPr>
              <a:t>Region):</a:t>
            </a:r>
            <a:r>
              <a:rPr sz="1100" b="1" spc="2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3F3F3F"/>
                </a:solidFill>
                <a:latin typeface="Tahoma"/>
                <a:cs typeface="Tahoma"/>
              </a:rPr>
              <a:t>Mapped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meshing,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3F3F3F"/>
                </a:solidFill>
                <a:latin typeface="Tahoma"/>
                <a:cs typeface="Tahoma"/>
              </a:rPr>
              <a:t>structured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 grid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3F3F3F"/>
                </a:solidFill>
                <a:latin typeface="Tahoma"/>
                <a:cs typeface="Tahoma"/>
              </a:rPr>
              <a:t>of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quadrilateral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Tahoma"/>
                <a:cs typeface="Tahoma"/>
              </a:rPr>
              <a:t>cells.</a:t>
            </a:r>
            <a:endParaRPr sz="1100">
              <a:latin typeface="Tahoma"/>
              <a:cs typeface="Tahoma"/>
            </a:endParaRPr>
          </a:p>
          <a:p>
            <a:pPr marL="290195" indent="-139065">
              <a:lnSpc>
                <a:spcPct val="100000"/>
              </a:lnSpc>
              <a:spcBef>
                <a:spcPts val="335"/>
              </a:spcBef>
              <a:buClr>
                <a:srgbClr val="003476"/>
              </a:buClr>
              <a:buFont typeface="Tahoma"/>
              <a:buChar char="•"/>
              <a:tabLst>
                <a:tab pos="290195" algn="l"/>
              </a:tabLst>
            </a:pPr>
            <a:r>
              <a:rPr sz="1100" b="1" spc="-140" dirty="0">
                <a:solidFill>
                  <a:srgbClr val="3F3F3F"/>
                </a:solidFill>
                <a:latin typeface="Tahoma"/>
                <a:cs typeface="Tahoma"/>
              </a:rPr>
              <a:t>Inner</a:t>
            </a:r>
            <a:r>
              <a:rPr sz="1100" b="1" spc="-4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b="1" spc="-114" dirty="0">
                <a:solidFill>
                  <a:srgbClr val="3F3F3F"/>
                </a:solidFill>
                <a:latin typeface="Tahoma"/>
                <a:cs typeface="Tahoma"/>
              </a:rPr>
              <a:t>Area</a:t>
            </a:r>
            <a:r>
              <a:rPr sz="1100" b="1" spc="-4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b="1" spc="-145" dirty="0">
                <a:solidFill>
                  <a:srgbClr val="3F3F3F"/>
                </a:solidFill>
                <a:latin typeface="Tahoma"/>
                <a:cs typeface="Tahoma"/>
              </a:rPr>
              <a:t>(ALE</a:t>
            </a:r>
            <a:r>
              <a:rPr sz="1100" b="1" spc="-4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b="1" spc="-135" dirty="0">
                <a:solidFill>
                  <a:srgbClr val="3F3F3F"/>
                </a:solidFill>
                <a:latin typeface="Tahoma"/>
                <a:cs typeface="Tahoma"/>
              </a:rPr>
              <a:t>Region):</a:t>
            </a:r>
            <a:r>
              <a:rPr sz="1100" b="1" spc="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3F3F3F"/>
                </a:solidFill>
                <a:latin typeface="Tahoma"/>
                <a:cs typeface="Tahoma"/>
              </a:rPr>
              <a:t>Unstructured</a:t>
            </a:r>
            <a:r>
              <a:rPr sz="1100" spc="-60" dirty="0">
                <a:solidFill>
                  <a:srgbClr val="3F3F3F"/>
                </a:solidFill>
                <a:latin typeface="Tahoma"/>
                <a:cs typeface="Tahoma"/>
              </a:rPr>
              <a:t> mesh </a:t>
            </a:r>
            <a:r>
              <a:rPr sz="1100" spc="-30" dirty="0">
                <a:solidFill>
                  <a:srgbClr val="3F3F3F"/>
                </a:solidFill>
                <a:latin typeface="Tahoma"/>
                <a:cs typeface="Tahoma"/>
              </a:rPr>
              <a:t>of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triangular</a:t>
            </a:r>
            <a:r>
              <a:rPr sz="1100" spc="-6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Tahoma"/>
                <a:cs typeface="Tahoma"/>
              </a:rPr>
              <a:t>cells.</a:t>
            </a:r>
            <a:endParaRPr sz="1100">
              <a:latin typeface="Tahoma"/>
              <a:cs typeface="Tahoma"/>
            </a:endParaRPr>
          </a:p>
          <a:p>
            <a:pPr marL="290195" indent="-139065">
              <a:lnSpc>
                <a:spcPct val="100000"/>
              </a:lnSpc>
              <a:spcBef>
                <a:spcPts val="335"/>
              </a:spcBef>
              <a:buClr>
                <a:srgbClr val="003476"/>
              </a:buClr>
              <a:buFont typeface="Tahoma"/>
              <a:buChar char="•"/>
              <a:tabLst>
                <a:tab pos="290195" algn="l"/>
              </a:tabLst>
            </a:pPr>
            <a:r>
              <a:rPr sz="1100" b="1" spc="-105" dirty="0">
                <a:solidFill>
                  <a:srgbClr val="3F3F3F"/>
                </a:solidFill>
                <a:latin typeface="Tahoma"/>
                <a:cs typeface="Tahoma"/>
              </a:rPr>
              <a:t>Grid</a:t>
            </a:r>
            <a:r>
              <a:rPr sz="1100" b="1" spc="-4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b="1" spc="-120" dirty="0">
                <a:solidFill>
                  <a:srgbClr val="3F3F3F"/>
                </a:solidFill>
                <a:latin typeface="Tahoma"/>
                <a:cs typeface="Tahoma"/>
              </a:rPr>
              <a:t>Boundary</a:t>
            </a:r>
            <a:r>
              <a:rPr sz="1100" b="1" spc="-4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b="1" spc="-125" dirty="0">
                <a:solidFill>
                  <a:srgbClr val="3F3F3F"/>
                </a:solidFill>
                <a:latin typeface="Tahoma"/>
                <a:cs typeface="Tahoma"/>
              </a:rPr>
              <a:t>Layer:</a:t>
            </a:r>
            <a:r>
              <a:rPr sz="1100" b="1" spc="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Finer</a:t>
            </a:r>
            <a:r>
              <a:rPr sz="1100" spc="-6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layer</a:t>
            </a:r>
            <a:r>
              <a:rPr sz="1100" spc="-6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3F3F3F"/>
                </a:solidFill>
                <a:latin typeface="Tahoma"/>
                <a:cs typeface="Tahoma"/>
              </a:rPr>
              <a:t>of</a:t>
            </a:r>
            <a:r>
              <a:rPr sz="1100" spc="-6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quadrilateral</a:t>
            </a:r>
            <a:r>
              <a:rPr sz="1100" spc="-6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3F3F3F"/>
                </a:solidFill>
                <a:latin typeface="Tahoma"/>
                <a:cs typeface="Tahoma"/>
              </a:rPr>
              <a:t>cells</a:t>
            </a:r>
            <a:r>
              <a:rPr sz="1100" spc="-6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3F3F3F"/>
                </a:solidFill>
                <a:latin typeface="Tahoma"/>
                <a:cs typeface="Tahoma"/>
              </a:rPr>
              <a:t>directly</a:t>
            </a:r>
            <a:r>
              <a:rPr sz="1100" spc="-6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around</a:t>
            </a:r>
            <a:r>
              <a:rPr sz="1100" spc="-6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3F3F3F"/>
                </a:solidFill>
                <a:latin typeface="Tahoma"/>
                <a:cs typeface="Tahoma"/>
              </a:rPr>
              <a:t>the</a:t>
            </a:r>
            <a:r>
              <a:rPr sz="1100" spc="-6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3F3F3F"/>
                </a:solidFill>
                <a:latin typeface="Tahoma"/>
                <a:cs typeface="Tahoma"/>
              </a:rPr>
              <a:t>solid</a:t>
            </a:r>
            <a:r>
              <a:rPr sz="1100" spc="-6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Tahoma"/>
                <a:cs typeface="Tahoma"/>
              </a:rPr>
              <a:t>walls.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67295" y="253768"/>
            <a:ext cx="31216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35" dirty="0">
                <a:solidFill>
                  <a:srgbClr val="003476"/>
                </a:solidFill>
              </a:rPr>
              <a:t>Turbulence</a:t>
            </a:r>
            <a:r>
              <a:rPr spc="-65" dirty="0">
                <a:solidFill>
                  <a:srgbClr val="003476"/>
                </a:solidFill>
              </a:rPr>
              <a:t> </a:t>
            </a:r>
            <a:r>
              <a:rPr spc="-110" dirty="0">
                <a:solidFill>
                  <a:srgbClr val="003476"/>
                </a:solidFill>
              </a:rPr>
              <a:t>Modeling:</a:t>
            </a:r>
            <a:r>
              <a:rPr spc="-5" dirty="0">
                <a:solidFill>
                  <a:srgbClr val="003476"/>
                </a:solidFill>
              </a:rPr>
              <a:t> </a:t>
            </a:r>
            <a:r>
              <a:rPr spc="-170" dirty="0">
                <a:solidFill>
                  <a:srgbClr val="003476"/>
                </a:solidFill>
              </a:rPr>
              <a:t>RANS</a:t>
            </a:r>
            <a:r>
              <a:rPr spc="-65" dirty="0">
                <a:solidFill>
                  <a:srgbClr val="003476"/>
                </a:solidFill>
              </a:rPr>
              <a:t> </a:t>
            </a:r>
            <a:r>
              <a:rPr spc="-105" dirty="0">
                <a:solidFill>
                  <a:srgbClr val="003476"/>
                </a:solidFill>
              </a:rPr>
              <a:t>&amp;</a:t>
            </a:r>
            <a:r>
              <a:rPr spc="-65" dirty="0">
                <a:solidFill>
                  <a:srgbClr val="003476"/>
                </a:solidFill>
              </a:rPr>
              <a:t> </a:t>
            </a:r>
            <a:r>
              <a:rPr b="0" i="1" dirty="0">
                <a:solidFill>
                  <a:srgbClr val="003476"/>
                </a:solidFill>
                <a:latin typeface="Cambria"/>
                <a:cs typeface="Cambria"/>
              </a:rPr>
              <a:t>k</a:t>
            </a:r>
            <a:r>
              <a:rPr b="0" i="1" spc="40" dirty="0">
                <a:solidFill>
                  <a:srgbClr val="003476"/>
                </a:solidFill>
                <a:latin typeface="Cambria"/>
                <a:cs typeface="Cambria"/>
              </a:rPr>
              <a:t> </a:t>
            </a:r>
            <a:r>
              <a:rPr b="0" i="1" spc="-55" dirty="0">
                <a:solidFill>
                  <a:srgbClr val="003476"/>
                </a:solidFill>
                <a:latin typeface="Verdana"/>
                <a:cs typeface="Verdana"/>
              </a:rPr>
              <a:t>−</a:t>
            </a:r>
            <a:r>
              <a:rPr b="0" i="1" spc="-150" dirty="0">
                <a:solidFill>
                  <a:srgbClr val="003476"/>
                </a:solidFill>
                <a:latin typeface="Verdana"/>
                <a:cs typeface="Verdana"/>
              </a:rPr>
              <a:t> </a:t>
            </a:r>
            <a:r>
              <a:rPr b="0" i="1" spc="-55" dirty="0">
                <a:solidFill>
                  <a:srgbClr val="003476"/>
                </a:solidFill>
                <a:latin typeface="Arial"/>
                <a:cs typeface="Arial"/>
              </a:rPr>
              <a:t>ϵ</a:t>
            </a:r>
            <a:r>
              <a:rPr b="0" i="1" spc="-40" dirty="0">
                <a:solidFill>
                  <a:srgbClr val="003476"/>
                </a:solidFill>
                <a:latin typeface="Arial"/>
                <a:cs typeface="Arial"/>
              </a:rPr>
              <a:t> </a:t>
            </a:r>
            <a:r>
              <a:rPr spc="-110" dirty="0">
                <a:solidFill>
                  <a:srgbClr val="003476"/>
                </a:solidFill>
              </a:rPr>
              <a:t>RNG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1894" y="3016594"/>
            <a:ext cx="236854" cy="154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z="800" spc="-30" dirty="0">
                <a:solidFill>
                  <a:srgbClr val="3F3F3F"/>
                </a:solidFill>
                <a:latin typeface="Tahoma"/>
                <a:cs typeface="Tahoma"/>
              </a:rPr>
              <a:t>6</a:t>
            </a:fld>
            <a:r>
              <a:rPr sz="800" spc="-30" dirty="0">
                <a:solidFill>
                  <a:srgbClr val="3F3F3F"/>
                </a:solidFill>
                <a:latin typeface="Tahoma"/>
                <a:cs typeface="Tahoma"/>
              </a:rPr>
              <a:t>/16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294" y="461271"/>
            <a:ext cx="5008245" cy="2322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32155">
              <a:lnSpc>
                <a:spcPct val="100000"/>
              </a:lnSpc>
              <a:spcBef>
                <a:spcPts val="95"/>
              </a:spcBef>
            </a:pPr>
            <a:r>
              <a:rPr sz="900" spc="-180" dirty="0">
                <a:solidFill>
                  <a:srgbClr val="003476"/>
                </a:solidFill>
                <a:latin typeface="Tahoma"/>
                <a:cs typeface="Tahoma"/>
              </a:rPr>
              <a:t>1</a:t>
            </a:r>
            <a:r>
              <a:rPr sz="900" spc="114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900" spc="-35" dirty="0">
                <a:solidFill>
                  <a:srgbClr val="003476"/>
                </a:solidFill>
                <a:latin typeface="Tahoma"/>
                <a:cs typeface="Tahoma"/>
              </a:rPr>
              <a:t>Initial</a:t>
            </a:r>
            <a:r>
              <a:rPr sz="900" spc="-55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003476"/>
                </a:solidFill>
                <a:latin typeface="Tahoma"/>
                <a:cs typeface="Tahoma"/>
              </a:rPr>
              <a:t>Problem</a:t>
            </a: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sz="1100" b="1" spc="-160" dirty="0">
                <a:solidFill>
                  <a:srgbClr val="3F3F3F"/>
                </a:solidFill>
                <a:latin typeface="Tahoma"/>
                <a:cs typeface="Tahoma"/>
              </a:rPr>
              <a:t>RANS</a:t>
            </a:r>
            <a:r>
              <a:rPr sz="1100" b="1" spc="-6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3F3F3F"/>
                </a:solidFill>
                <a:latin typeface="Tahoma"/>
                <a:cs typeface="Tahoma"/>
              </a:rPr>
              <a:t>Approach:</a:t>
            </a:r>
            <a:endParaRPr sz="1100">
              <a:latin typeface="Tahoma"/>
              <a:cs typeface="Tahoma"/>
            </a:endParaRPr>
          </a:p>
          <a:p>
            <a:pPr marL="290195" indent="-139065">
              <a:lnSpc>
                <a:spcPct val="100000"/>
              </a:lnSpc>
              <a:spcBef>
                <a:spcPts val="330"/>
              </a:spcBef>
              <a:buClr>
                <a:srgbClr val="003476"/>
              </a:buClr>
              <a:buChar char="•"/>
              <a:tabLst>
                <a:tab pos="290195" algn="l"/>
              </a:tabLst>
            </a:pPr>
            <a:r>
              <a:rPr sz="1100" spc="-60" dirty="0">
                <a:solidFill>
                  <a:srgbClr val="3F3F3F"/>
                </a:solidFill>
                <a:latin typeface="Tahoma"/>
                <a:cs typeface="Tahoma"/>
              </a:rPr>
              <a:t>Non-</a:t>
            </a:r>
            <a:r>
              <a:rPr sz="1100" spc="-45" dirty="0">
                <a:solidFill>
                  <a:srgbClr val="3F3F3F"/>
                </a:solidFill>
                <a:latin typeface="Tahoma"/>
                <a:cs typeface="Tahoma"/>
              </a:rPr>
              <a:t>scale resolving </a:t>
            </a:r>
            <a:r>
              <a:rPr sz="1100" spc="-10" dirty="0">
                <a:solidFill>
                  <a:srgbClr val="3F3F3F"/>
                </a:solidFill>
                <a:latin typeface="Tahoma"/>
                <a:cs typeface="Tahoma"/>
              </a:rPr>
              <a:t>models.</a:t>
            </a:r>
            <a:endParaRPr sz="1100">
              <a:latin typeface="Tahoma"/>
              <a:cs typeface="Tahoma"/>
            </a:endParaRPr>
          </a:p>
          <a:p>
            <a:pPr marL="289560" marR="5080" indent="-138430">
              <a:lnSpc>
                <a:spcPct val="102600"/>
              </a:lnSpc>
              <a:spcBef>
                <a:spcPts val="300"/>
              </a:spcBef>
              <a:buClr>
                <a:srgbClr val="003476"/>
              </a:buClr>
              <a:buChar char="•"/>
              <a:tabLst>
                <a:tab pos="289560" algn="l"/>
              </a:tabLst>
            </a:pP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Uses </a:t>
            </a:r>
            <a:r>
              <a:rPr sz="1100" spc="-35" dirty="0">
                <a:solidFill>
                  <a:srgbClr val="3F3F3F"/>
                </a:solidFill>
                <a:latin typeface="Tahoma"/>
                <a:cs typeface="Tahoma"/>
              </a:rPr>
              <a:t>the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Boussinesq </a:t>
            </a:r>
            <a:r>
              <a:rPr sz="1100" spc="-45" dirty="0">
                <a:solidFill>
                  <a:srgbClr val="3F3F3F"/>
                </a:solidFill>
                <a:latin typeface="Tahoma"/>
                <a:cs typeface="Tahoma"/>
              </a:rPr>
              <a:t>hypothesis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3F3F3F"/>
                </a:solidFill>
                <a:latin typeface="Tahoma"/>
                <a:cs typeface="Tahoma"/>
              </a:rPr>
              <a:t>to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3F3F3F"/>
                </a:solidFill>
                <a:latin typeface="Tahoma"/>
                <a:cs typeface="Tahoma"/>
              </a:rPr>
              <a:t>estimate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3F3F3F"/>
                </a:solidFill>
                <a:latin typeface="Tahoma"/>
                <a:cs typeface="Tahoma"/>
              </a:rPr>
              <a:t>a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3F3F3F"/>
                </a:solidFill>
                <a:latin typeface="Tahoma"/>
                <a:cs typeface="Tahoma"/>
              </a:rPr>
              <a:t>”turbulent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3F3F3F"/>
                </a:solidFill>
                <a:latin typeface="Tahoma"/>
                <a:cs typeface="Tahoma"/>
              </a:rPr>
              <a:t>viscosity”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representing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3F3F3F"/>
                </a:solidFill>
                <a:latin typeface="Tahoma"/>
                <a:cs typeface="Tahoma"/>
              </a:rPr>
              <a:t>the </a:t>
            </a:r>
            <a:r>
              <a:rPr sz="1100" spc="-70" dirty="0">
                <a:solidFill>
                  <a:srgbClr val="3F3F3F"/>
                </a:solidFill>
                <a:latin typeface="Tahoma"/>
                <a:cs typeface="Tahoma"/>
              </a:rPr>
              <a:t>average</a:t>
            </a:r>
            <a:r>
              <a:rPr sz="1100" spc="-6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3F3F3F"/>
                </a:solidFill>
                <a:latin typeface="Tahoma"/>
                <a:cs typeface="Tahoma"/>
              </a:rPr>
              <a:t>effect</a:t>
            </a:r>
            <a:r>
              <a:rPr sz="1100" spc="-6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3F3F3F"/>
                </a:solidFill>
                <a:latin typeface="Tahoma"/>
                <a:cs typeface="Tahoma"/>
              </a:rPr>
              <a:t>of</a:t>
            </a:r>
            <a:r>
              <a:rPr sz="1100" spc="-6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Tahoma"/>
                <a:cs typeface="Tahoma"/>
              </a:rPr>
              <a:t>turbulence.</a:t>
            </a:r>
            <a:endParaRPr sz="1100">
              <a:latin typeface="Tahoma"/>
              <a:cs typeface="Tahoma"/>
            </a:endParaRPr>
          </a:p>
          <a:p>
            <a:pPr marL="12700" marR="85725">
              <a:lnSpc>
                <a:spcPct val="102600"/>
              </a:lnSpc>
              <a:spcBef>
                <a:spcPts val="870"/>
              </a:spcBef>
            </a:pPr>
            <a:r>
              <a:rPr sz="1100" b="1" spc="-130" dirty="0">
                <a:solidFill>
                  <a:srgbClr val="3F3F3F"/>
                </a:solidFill>
                <a:latin typeface="Tahoma"/>
                <a:cs typeface="Tahoma"/>
              </a:rPr>
              <a:t>The</a:t>
            </a:r>
            <a:r>
              <a:rPr sz="1100" b="1" spc="-4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b="1" spc="-120" dirty="0">
                <a:solidFill>
                  <a:srgbClr val="3F3F3F"/>
                </a:solidFill>
                <a:latin typeface="Tahoma"/>
                <a:cs typeface="Tahoma"/>
              </a:rPr>
              <a:t>Closure</a:t>
            </a:r>
            <a:r>
              <a:rPr sz="1100" b="1" spc="-3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b="1" spc="-114" dirty="0">
                <a:solidFill>
                  <a:srgbClr val="3F3F3F"/>
                </a:solidFill>
                <a:latin typeface="Tahoma"/>
                <a:cs typeface="Tahoma"/>
              </a:rPr>
              <a:t>Problem:</a:t>
            </a:r>
            <a:r>
              <a:rPr sz="1100" b="1" spc="2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Requires 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transport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3F3F3F"/>
                </a:solidFill>
                <a:latin typeface="Tahoma"/>
                <a:cs typeface="Tahoma"/>
              </a:rPr>
              <a:t>equations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for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3F3F3F"/>
                </a:solidFill>
                <a:latin typeface="Tahoma"/>
                <a:cs typeface="Tahoma"/>
              </a:rPr>
              <a:t>turbulent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3F3F3F"/>
                </a:solidFill>
                <a:latin typeface="Tahoma"/>
                <a:cs typeface="Tahoma"/>
              </a:rPr>
              <a:t>kinetic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3F3F3F"/>
                </a:solidFill>
                <a:latin typeface="Tahoma"/>
                <a:cs typeface="Tahoma"/>
              </a:rPr>
              <a:t>energy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(</a:t>
            </a:r>
            <a:r>
              <a:rPr sz="1100" i="1" spc="-75" dirty="0">
                <a:solidFill>
                  <a:srgbClr val="3F3F3F"/>
                </a:solidFill>
                <a:latin typeface="Cambria"/>
                <a:cs typeface="Cambria"/>
              </a:rPr>
              <a:t>k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)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3F3F3F"/>
                </a:solidFill>
                <a:latin typeface="Tahoma"/>
                <a:cs typeface="Tahoma"/>
              </a:rPr>
              <a:t>and </a:t>
            </a:r>
            <a:r>
              <a:rPr sz="1100" spc="-30" dirty="0">
                <a:solidFill>
                  <a:srgbClr val="3F3F3F"/>
                </a:solidFill>
                <a:latin typeface="Tahoma"/>
                <a:cs typeface="Tahoma"/>
              </a:rPr>
              <a:t>its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dissipation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 rate</a:t>
            </a:r>
            <a:r>
              <a:rPr sz="1100" spc="-4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3F3F3F"/>
                </a:solidFill>
                <a:latin typeface="Tahoma"/>
                <a:cs typeface="Tahoma"/>
              </a:rPr>
              <a:t>(</a:t>
            </a:r>
            <a:r>
              <a:rPr sz="1100" i="1" spc="-20" dirty="0">
                <a:solidFill>
                  <a:srgbClr val="3F3F3F"/>
                </a:solidFill>
                <a:latin typeface="Arial"/>
                <a:cs typeface="Arial"/>
              </a:rPr>
              <a:t>ϵ</a:t>
            </a:r>
            <a:r>
              <a:rPr sz="1100" spc="-20" dirty="0">
                <a:solidFill>
                  <a:srgbClr val="3F3F3F"/>
                </a:solidFill>
                <a:latin typeface="Tahoma"/>
                <a:cs typeface="Tahoma"/>
              </a:rPr>
              <a:t>).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b="1" spc="-130" dirty="0">
                <a:solidFill>
                  <a:srgbClr val="3F3F3F"/>
                </a:solidFill>
                <a:latin typeface="Tahoma"/>
                <a:cs typeface="Tahoma"/>
              </a:rPr>
              <a:t>Standard</a:t>
            </a:r>
            <a:r>
              <a:rPr sz="1100" b="1" spc="-6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3F3F3F"/>
                </a:solidFill>
                <a:latin typeface="Cambria"/>
                <a:cs typeface="Cambria"/>
              </a:rPr>
              <a:t>k</a:t>
            </a:r>
            <a:r>
              <a:rPr sz="1100" i="1" spc="10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1100" i="1" spc="-60" dirty="0">
                <a:solidFill>
                  <a:srgbClr val="3F3F3F"/>
                </a:solidFill>
                <a:latin typeface="Verdana"/>
                <a:cs typeface="Verdana"/>
              </a:rPr>
              <a:t>−</a:t>
            </a:r>
            <a:r>
              <a:rPr sz="1100" i="1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100" i="1" spc="-55" dirty="0">
                <a:solidFill>
                  <a:srgbClr val="3F3F3F"/>
                </a:solidFill>
                <a:latin typeface="Arial"/>
                <a:cs typeface="Arial"/>
              </a:rPr>
              <a:t>ϵ</a:t>
            </a:r>
            <a:r>
              <a:rPr sz="1100" i="1" spc="-4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100" b="1" spc="-114" dirty="0">
                <a:solidFill>
                  <a:srgbClr val="3F3F3F"/>
                </a:solidFill>
                <a:latin typeface="Tahoma"/>
                <a:cs typeface="Tahoma"/>
              </a:rPr>
              <a:t>vs.</a:t>
            </a:r>
            <a:r>
              <a:rPr sz="1100" b="1" spc="-1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b="1" spc="-165" dirty="0">
                <a:solidFill>
                  <a:srgbClr val="3F3F3F"/>
                </a:solidFill>
                <a:latin typeface="Tahoma"/>
                <a:cs typeface="Tahoma"/>
              </a:rPr>
              <a:t>RNG</a:t>
            </a:r>
            <a:r>
              <a:rPr sz="1100" b="1" spc="-6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3F3F3F"/>
                </a:solidFill>
                <a:latin typeface="Tahoma"/>
                <a:cs typeface="Tahoma"/>
              </a:rPr>
              <a:t>Variant:</a:t>
            </a:r>
            <a:endParaRPr sz="1100">
              <a:latin typeface="Tahoma"/>
              <a:cs typeface="Tahoma"/>
            </a:endParaRPr>
          </a:p>
          <a:p>
            <a:pPr marL="290195" indent="-139065">
              <a:lnSpc>
                <a:spcPct val="100000"/>
              </a:lnSpc>
              <a:spcBef>
                <a:spcPts val="335"/>
              </a:spcBef>
              <a:buClr>
                <a:srgbClr val="003476"/>
              </a:buClr>
              <a:buFont typeface="Tahoma"/>
              <a:buChar char="•"/>
              <a:tabLst>
                <a:tab pos="290195" algn="l"/>
              </a:tabLst>
            </a:pPr>
            <a:r>
              <a:rPr sz="1100" b="1" spc="-170" dirty="0">
                <a:solidFill>
                  <a:srgbClr val="3F3F3F"/>
                </a:solidFill>
                <a:latin typeface="Tahoma"/>
                <a:cs typeface="Tahoma"/>
              </a:rPr>
              <a:t>STD</a:t>
            </a:r>
            <a:r>
              <a:rPr sz="1100" b="1" spc="-5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b="1" spc="-145" dirty="0">
                <a:solidFill>
                  <a:srgbClr val="3F3F3F"/>
                </a:solidFill>
                <a:latin typeface="Tahoma"/>
                <a:cs typeface="Tahoma"/>
              </a:rPr>
              <a:t>Issue:</a:t>
            </a:r>
            <a:r>
              <a:rPr sz="1100" b="1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Overestimates</a:t>
            </a:r>
            <a:r>
              <a:rPr sz="1100" spc="-6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3F3F3F"/>
                </a:solidFill>
                <a:latin typeface="Cambria"/>
                <a:cs typeface="Cambria"/>
              </a:rPr>
              <a:t>k</a:t>
            </a:r>
            <a:r>
              <a:rPr sz="1100" i="1" spc="30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1100" spc="-45" dirty="0">
                <a:solidFill>
                  <a:srgbClr val="3F3F3F"/>
                </a:solidFill>
                <a:latin typeface="Tahoma"/>
                <a:cs typeface="Tahoma"/>
              </a:rPr>
              <a:t>near</a:t>
            </a:r>
            <a:r>
              <a:rPr sz="1100" spc="-7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3F3F3F"/>
                </a:solidFill>
                <a:latin typeface="Tahoma"/>
                <a:cs typeface="Tahoma"/>
              </a:rPr>
              <a:t>the</a:t>
            </a:r>
            <a:r>
              <a:rPr sz="1100" spc="-6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3F3F3F"/>
                </a:solidFill>
                <a:latin typeface="Tahoma"/>
                <a:cs typeface="Tahoma"/>
              </a:rPr>
              <a:t>front</a:t>
            </a:r>
            <a:r>
              <a:rPr sz="1100" spc="-7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3F3F3F"/>
                </a:solidFill>
                <a:latin typeface="Tahoma"/>
                <a:cs typeface="Tahoma"/>
              </a:rPr>
              <a:t>wall</a:t>
            </a:r>
            <a:r>
              <a:rPr sz="1100" spc="-6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3F3F3F"/>
                </a:solidFill>
                <a:latin typeface="Tahoma"/>
                <a:cs typeface="Tahoma"/>
              </a:rPr>
              <a:t>of</a:t>
            </a:r>
            <a:r>
              <a:rPr sz="1100" spc="-7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bluff</a:t>
            </a:r>
            <a:r>
              <a:rPr sz="1100" spc="-7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Tahoma"/>
                <a:cs typeface="Tahoma"/>
              </a:rPr>
              <a:t>bodies.</a:t>
            </a:r>
            <a:endParaRPr sz="1100">
              <a:latin typeface="Tahoma"/>
              <a:cs typeface="Tahoma"/>
            </a:endParaRPr>
          </a:p>
          <a:p>
            <a:pPr marL="289560" marR="215900" indent="-138430">
              <a:lnSpc>
                <a:spcPct val="102600"/>
              </a:lnSpc>
              <a:spcBef>
                <a:spcPts val="300"/>
              </a:spcBef>
              <a:buClr>
                <a:srgbClr val="003476"/>
              </a:buClr>
              <a:buFont typeface="Tahoma"/>
              <a:buChar char="•"/>
              <a:tabLst>
                <a:tab pos="289560" algn="l"/>
              </a:tabLst>
            </a:pPr>
            <a:r>
              <a:rPr sz="1100" b="1" spc="-165" dirty="0">
                <a:solidFill>
                  <a:srgbClr val="3F3F3F"/>
                </a:solidFill>
                <a:latin typeface="Tahoma"/>
                <a:cs typeface="Tahoma"/>
              </a:rPr>
              <a:t>RNG</a:t>
            </a:r>
            <a:r>
              <a:rPr sz="1100" b="1" spc="-5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b="1" spc="-110" dirty="0">
                <a:solidFill>
                  <a:srgbClr val="3F3F3F"/>
                </a:solidFill>
                <a:latin typeface="Tahoma"/>
                <a:cs typeface="Tahoma"/>
              </a:rPr>
              <a:t>Solution:</a:t>
            </a:r>
            <a:r>
              <a:rPr sz="1100" b="1" spc="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3F3F3F"/>
                </a:solidFill>
                <a:latin typeface="Tahoma"/>
                <a:cs typeface="Tahoma"/>
              </a:rPr>
              <a:t>Fixes </a:t>
            </a:r>
            <a:r>
              <a:rPr sz="1100" spc="-35" dirty="0">
                <a:solidFill>
                  <a:srgbClr val="3F3F3F"/>
                </a:solidFill>
                <a:latin typeface="Tahoma"/>
                <a:cs typeface="Tahoma"/>
              </a:rPr>
              <a:t>the</a:t>
            </a:r>
            <a:r>
              <a:rPr sz="1100" spc="-6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coefficients</a:t>
            </a:r>
            <a:r>
              <a:rPr sz="1100" spc="-6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and</a:t>
            </a:r>
            <a:r>
              <a:rPr sz="1100" spc="-65" dirty="0">
                <a:solidFill>
                  <a:srgbClr val="3F3F3F"/>
                </a:solidFill>
                <a:latin typeface="Tahoma"/>
                <a:cs typeface="Tahoma"/>
              </a:rPr>
              <a:t> makes </a:t>
            </a:r>
            <a:r>
              <a:rPr sz="1100" i="1" dirty="0">
                <a:solidFill>
                  <a:srgbClr val="3F3F3F"/>
                </a:solidFill>
                <a:latin typeface="Cambria"/>
                <a:cs typeface="Cambria"/>
              </a:rPr>
              <a:t>k</a:t>
            </a:r>
            <a:r>
              <a:rPr sz="1100" i="1" spc="40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production</a:t>
            </a:r>
            <a:r>
              <a:rPr sz="1100" spc="-6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3F3F3F"/>
                </a:solidFill>
                <a:latin typeface="Tahoma"/>
                <a:cs typeface="Tahoma"/>
              </a:rPr>
              <a:t>dependent</a:t>
            </a:r>
            <a:r>
              <a:rPr sz="1100" spc="-6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3F3F3F"/>
                </a:solidFill>
                <a:latin typeface="Tahoma"/>
                <a:cs typeface="Tahoma"/>
              </a:rPr>
              <a:t>on</a:t>
            </a:r>
            <a:r>
              <a:rPr sz="1100" spc="-6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3F3F3F"/>
                </a:solidFill>
                <a:latin typeface="Tahoma"/>
                <a:cs typeface="Tahoma"/>
              </a:rPr>
              <a:t>flow </a:t>
            </a:r>
            <a:r>
              <a:rPr sz="1100" spc="-10" dirty="0">
                <a:solidFill>
                  <a:srgbClr val="3F3F3F"/>
                </a:solidFill>
                <a:latin typeface="Tahoma"/>
                <a:cs typeface="Tahoma"/>
              </a:rPr>
              <a:t>vorticity.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639"/>
              </a:lnSpc>
              <a:spcBef>
                <a:spcPts val="135"/>
              </a:spcBef>
            </a:pPr>
            <a:r>
              <a:rPr spc="-135" dirty="0">
                <a:solidFill>
                  <a:srgbClr val="003476"/>
                </a:solidFill>
              </a:rPr>
              <a:t>Turbulence</a:t>
            </a:r>
            <a:r>
              <a:rPr spc="-65" dirty="0">
                <a:solidFill>
                  <a:srgbClr val="003476"/>
                </a:solidFill>
              </a:rPr>
              <a:t> </a:t>
            </a:r>
            <a:r>
              <a:rPr spc="-110" dirty="0">
                <a:solidFill>
                  <a:srgbClr val="003476"/>
                </a:solidFill>
              </a:rPr>
              <a:t>Modeling:</a:t>
            </a:r>
            <a:r>
              <a:rPr dirty="0">
                <a:solidFill>
                  <a:srgbClr val="003476"/>
                </a:solidFill>
              </a:rPr>
              <a:t> </a:t>
            </a:r>
            <a:r>
              <a:rPr spc="-140" dirty="0">
                <a:solidFill>
                  <a:srgbClr val="003476"/>
                </a:solidFill>
              </a:rPr>
              <a:t>The</a:t>
            </a:r>
            <a:r>
              <a:rPr spc="-65" dirty="0">
                <a:solidFill>
                  <a:srgbClr val="003476"/>
                </a:solidFill>
              </a:rPr>
              <a:t> </a:t>
            </a:r>
            <a:r>
              <a:rPr b="0" i="1" dirty="0">
                <a:solidFill>
                  <a:srgbClr val="003476"/>
                </a:solidFill>
                <a:latin typeface="Cambria"/>
                <a:cs typeface="Cambria"/>
              </a:rPr>
              <a:t>k</a:t>
            </a:r>
            <a:r>
              <a:rPr b="0" i="1" spc="40" dirty="0">
                <a:solidFill>
                  <a:srgbClr val="003476"/>
                </a:solidFill>
                <a:latin typeface="Cambria"/>
                <a:cs typeface="Cambria"/>
              </a:rPr>
              <a:t> </a:t>
            </a:r>
            <a:r>
              <a:rPr b="0" i="1" spc="-55" dirty="0">
                <a:solidFill>
                  <a:srgbClr val="003476"/>
                </a:solidFill>
                <a:latin typeface="Verdana"/>
                <a:cs typeface="Verdana"/>
              </a:rPr>
              <a:t>−</a:t>
            </a:r>
            <a:r>
              <a:rPr b="0" i="1" spc="-150" dirty="0">
                <a:solidFill>
                  <a:srgbClr val="003476"/>
                </a:solidFill>
                <a:latin typeface="Verdana"/>
                <a:cs typeface="Verdana"/>
              </a:rPr>
              <a:t> </a:t>
            </a:r>
            <a:r>
              <a:rPr b="0" i="1" spc="-225" dirty="0">
                <a:solidFill>
                  <a:srgbClr val="003476"/>
                </a:solidFill>
                <a:latin typeface="Arial"/>
                <a:cs typeface="Arial"/>
              </a:rPr>
              <a:t>ω</a:t>
            </a:r>
            <a:r>
              <a:rPr b="0" i="1" spc="20" dirty="0">
                <a:solidFill>
                  <a:srgbClr val="003476"/>
                </a:solidFill>
                <a:latin typeface="Arial"/>
                <a:cs typeface="Arial"/>
              </a:rPr>
              <a:t> </a:t>
            </a:r>
            <a:r>
              <a:rPr spc="-60" dirty="0">
                <a:solidFill>
                  <a:srgbClr val="003476"/>
                </a:solidFill>
              </a:rPr>
              <a:t>Model</a:t>
            </a:r>
          </a:p>
          <a:p>
            <a:pPr marL="12700">
              <a:lnSpc>
                <a:spcPts val="1040"/>
              </a:lnSpc>
            </a:pPr>
            <a:r>
              <a:rPr sz="900" b="0" spc="-180" dirty="0">
                <a:solidFill>
                  <a:srgbClr val="003476"/>
                </a:solidFill>
                <a:latin typeface="Tahoma"/>
                <a:cs typeface="Tahoma"/>
              </a:rPr>
              <a:t>1</a:t>
            </a:r>
            <a:r>
              <a:rPr sz="900" b="0" spc="114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900" b="0" spc="-35" dirty="0">
                <a:solidFill>
                  <a:srgbClr val="003476"/>
                </a:solidFill>
                <a:latin typeface="Tahoma"/>
                <a:cs typeface="Tahoma"/>
              </a:rPr>
              <a:t>Initial</a:t>
            </a:r>
            <a:r>
              <a:rPr sz="900" b="0" spc="-55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900" b="0" spc="-10" dirty="0">
                <a:solidFill>
                  <a:srgbClr val="003476"/>
                </a:solidFill>
                <a:latin typeface="Tahoma"/>
                <a:cs typeface="Tahoma"/>
              </a:rPr>
              <a:t>Problem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1894" y="3016594"/>
            <a:ext cx="236854" cy="154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z="800" spc="-30" dirty="0">
                <a:solidFill>
                  <a:srgbClr val="3F3F3F"/>
                </a:solidFill>
                <a:latin typeface="Tahoma"/>
                <a:cs typeface="Tahoma"/>
              </a:rPr>
              <a:t>7</a:t>
            </a:fld>
            <a:r>
              <a:rPr sz="800" spc="-30" dirty="0">
                <a:solidFill>
                  <a:srgbClr val="3F3F3F"/>
                </a:solidFill>
                <a:latin typeface="Tahoma"/>
                <a:cs typeface="Tahoma"/>
              </a:rPr>
              <a:t>/16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pc="-120" dirty="0"/>
              <a:t>Addressing</a:t>
            </a:r>
            <a:r>
              <a:rPr spc="-20" dirty="0"/>
              <a:t> </a:t>
            </a:r>
            <a:r>
              <a:rPr spc="-135" dirty="0"/>
              <a:t>Near-</a:t>
            </a:r>
            <a:r>
              <a:rPr spc="-120" dirty="0"/>
              <a:t>Wall</a:t>
            </a:r>
            <a:r>
              <a:rPr spc="-15" dirty="0"/>
              <a:t> </a:t>
            </a:r>
            <a:r>
              <a:rPr spc="-10" dirty="0"/>
              <a:t>Errors:</a:t>
            </a:r>
          </a:p>
          <a:p>
            <a:pPr marL="289560" marR="5080" indent="-138430">
              <a:lnSpc>
                <a:spcPct val="102600"/>
              </a:lnSpc>
              <a:spcBef>
                <a:spcPts val="300"/>
              </a:spcBef>
              <a:buClr>
                <a:srgbClr val="003476"/>
              </a:buClr>
              <a:buChar char="•"/>
              <a:tabLst>
                <a:tab pos="289560" algn="l"/>
              </a:tabLst>
            </a:pPr>
            <a:r>
              <a:rPr b="0" spc="-100" dirty="0">
                <a:latin typeface="Tahoma"/>
                <a:cs typeface="Tahoma"/>
              </a:rPr>
              <a:t>In</a:t>
            </a:r>
            <a:r>
              <a:rPr b="0" spc="-75" dirty="0">
                <a:latin typeface="Tahoma"/>
                <a:cs typeface="Tahoma"/>
              </a:rPr>
              <a:t> </a:t>
            </a:r>
            <a:r>
              <a:rPr b="0" spc="-40" dirty="0">
                <a:latin typeface="Tahoma"/>
                <a:cs typeface="Tahoma"/>
              </a:rPr>
              <a:t>order</a:t>
            </a:r>
            <a:r>
              <a:rPr b="0" spc="-75" dirty="0">
                <a:latin typeface="Tahoma"/>
                <a:cs typeface="Tahoma"/>
              </a:rPr>
              <a:t> </a:t>
            </a:r>
            <a:r>
              <a:rPr b="0" spc="-30" dirty="0">
                <a:latin typeface="Tahoma"/>
                <a:cs typeface="Tahoma"/>
              </a:rPr>
              <a:t>to</a:t>
            </a:r>
            <a:r>
              <a:rPr b="0" spc="-75" dirty="0">
                <a:latin typeface="Tahoma"/>
                <a:cs typeface="Tahoma"/>
              </a:rPr>
              <a:t> </a:t>
            </a:r>
            <a:r>
              <a:rPr b="0" spc="-40" dirty="0">
                <a:latin typeface="Tahoma"/>
                <a:cs typeface="Tahoma"/>
              </a:rPr>
              <a:t>fix</a:t>
            </a:r>
            <a:r>
              <a:rPr b="0" spc="-75" dirty="0">
                <a:latin typeface="Tahoma"/>
                <a:cs typeface="Tahoma"/>
              </a:rPr>
              <a:t> </a:t>
            </a:r>
            <a:r>
              <a:rPr b="0" spc="-50" dirty="0">
                <a:latin typeface="Tahoma"/>
                <a:cs typeface="Tahoma"/>
              </a:rPr>
              <a:t>near-</a:t>
            </a:r>
            <a:r>
              <a:rPr b="0" spc="-45" dirty="0">
                <a:latin typeface="Tahoma"/>
                <a:cs typeface="Tahoma"/>
              </a:rPr>
              <a:t>wall</a:t>
            </a:r>
            <a:r>
              <a:rPr b="0" spc="-75" dirty="0">
                <a:latin typeface="Tahoma"/>
                <a:cs typeface="Tahoma"/>
              </a:rPr>
              <a:t> </a:t>
            </a:r>
            <a:r>
              <a:rPr b="0" spc="-45" dirty="0">
                <a:latin typeface="Tahoma"/>
                <a:cs typeface="Tahoma"/>
              </a:rPr>
              <a:t>errors</a:t>
            </a:r>
            <a:r>
              <a:rPr b="0" spc="-70" dirty="0">
                <a:latin typeface="Tahoma"/>
                <a:cs typeface="Tahoma"/>
              </a:rPr>
              <a:t> </a:t>
            </a:r>
            <a:r>
              <a:rPr b="0" spc="-45" dirty="0">
                <a:latin typeface="Tahoma"/>
                <a:cs typeface="Tahoma"/>
              </a:rPr>
              <a:t>present</a:t>
            </a:r>
            <a:r>
              <a:rPr b="0" spc="-75" dirty="0">
                <a:latin typeface="Tahoma"/>
                <a:cs typeface="Tahoma"/>
              </a:rPr>
              <a:t> </a:t>
            </a:r>
            <a:r>
              <a:rPr b="0" spc="-30" dirty="0">
                <a:latin typeface="Tahoma"/>
                <a:cs typeface="Tahoma"/>
              </a:rPr>
              <a:t>in</a:t>
            </a:r>
            <a:r>
              <a:rPr b="0" spc="-75" dirty="0">
                <a:latin typeface="Tahoma"/>
                <a:cs typeface="Tahoma"/>
              </a:rPr>
              <a:t> </a:t>
            </a:r>
            <a:r>
              <a:rPr b="0" i="1" dirty="0">
                <a:latin typeface="Cambria"/>
                <a:cs typeface="Cambria"/>
              </a:rPr>
              <a:t>k</a:t>
            </a:r>
            <a:r>
              <a:rPr b="0" i="1" spc="20" dirty="0">
                <a:latin typeface="Cambria"/>
                <a:cs typeface="Cambria"/>
              </a:rPr>
              <a:t> </a:t>
            </a:r>
            <a:r>
              <a:rPr b="0" i="1" spc="-60" dirty="0">
                <a:latin typeface="Verdana"/>
                <a:cs typeface="Verdana"/>
              </a:rPr>
              <a:t>−</a:t>
            </a:r>
            <a:r>
              <a:rPr b="0" i="1" spc="-120" dirty="0">
                <a:latin typeface="Verdana"/>
                <a:cs typeface="Verdana"/>
              </a:rPr>
              <a:t> </a:t>
            </a:r>
            <a:r>
              <a:rPr b="0" i="1" spc="-55" dirty="0">
                <a:latin typeface="Arial"/>
                <a:cs typeface="Arial"/>
              </a:rPr>
              <a:t>ϵ</a:t>
            </a:r>
            <a:r>
              <a:rPr b="0" i="1" spc="-35" dirty="0">
                <a:latin typeface="Arial"/>
                <a:cs typeface="Arial"/>
              </a:rPr>
              <a:t> </a:t>
            </a:r>
            <a:r>
              <a:rPr b="0" spc="-45" dirty="0">
                <a:latin typeface="Tahoma"/>
                <a:cs typeface="Tahoma"/>
              </a:rPr>
              <a:t>formulations,</a:t>
            </a:r>
            <a:r>
              <a:rPr b="0" spc="-75" dirty="0">
                <a:latin typeface="Tahoma"/>
                <a:cs typeface="Tahoma"/>
              </a:rPr>
              <a:t> </a:t>
            </a:r>
            <a:r>
              <a:rPr b="0" spc="-35" dirty="0">
                <a:latin typeface="Tahoma"/>
                <a:cs typeface="Tahoma"/>
              </a:rPr>
              <a:t>the</a:t>
            </a:r>
            <a:r>
              <a:rPr b="0" spc="-75" dirty="0">
                <a:latin typeface="Tahoma"/>
                <a:cs typeface="Tahoma"/>
              </a:rPr>
              <a:t> </a:t>
            </a:r>
            <a:r>
              <a:rPr b="0" i="1" dirty="0">
                <a:latin typeface="Cambria"/>
                <a:cs typeface="Cambria"/>
              </a:rPr>
              <a:t>k</a:t>
            </a:r>
            <a:r>
              <a:rPr b="0" i="1" spc="20" dirty="0">
                <a:latin typeface="Cambria"/>
                <a:cs typeface="Cambria"/>
              </a:rPr>
              <a:t> </a:t>
            </a:r>
            <a:r>
              <a:rPr b="0" i="1" spc="-60" dirty="0">
                <a:latin typeface="Verdana"/>
                <a:cs typeface="Verdana"/>
              </a:rPr>
              <a:t>−</a:t>
            </a:r>
            <a:r>
              <a:rPr b="0" i="1" spc="-120" dirty="0">
                <a:latin typeface="Verdana"/>
                <a:cs typeface="Verdana"/>
              </a:rPr>
              <a:t> </a:t>
            </a:r>
            <a:r>
              <a:rPr b="0" i="1" spc="-195" dirty="0">
                <a:latin typeface="Arial"/>
                <a:cs typeface="Arial"/>
              </a:rPr>
              <a:t>ω</a:t>
            </a:r>
            <a:r>
              <a:rPr b="0" i="1" spc="10" dirty="0">
                <a:latin typeface="Arial"/>
                <a:cs typeface="Arial"/>
              </a:rPr>
              <a:t> </a:t>
            </a:r>
            <a:r>
              <a:rPr b="0" spc="-45" dirty="0">
                <a:latin typeface="Tahoma"/>
                <a:cs typeface="Tahoma"/>
              </a:rPr>
              <a:t>model</a:t>
            </a:r>
            <a:r>
              <a:rPr b="0" spc="-75" dirty="0">
                <a:latin typeface="Tahoma"/>
                <a:cs typeface="Tahoma"/>
              </a:rPr>
              <a:t> </a:t>
            </a:r>
            <a:r>
              <a:rPr b="0" spc="-25" dirty="0">
                <a:latin typeface="Tahoma"/>
                <a:cs typeface="Tahoma"/>
              </a:rPr>
              <a:t>is </a:t>
            </a:r>
            <a:r>
              <a:rPr b="0" spc="-10" dirty="0">
                <a:latin typeface="Tahoma"/>
                <a:cs typeface="Tahoma"/>
              </a:rPr>
              <a:t>introduced.</a:t>
            </a: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pc="-130" dirty="0"/>
              <a:t>The</a:t>
            </a:r>
            <a:r>
              <a:rPr spc="-75" dirty="0"/>
              <a:t> </a:t>
            </a:r>
            <a:r>
              <a:rPr b="0" i="1" dirty="0">
                <a:latin typeface="Cambria"/>
                <a:cs typeface="Cambria"/>
              </a:rPr>
              <a:t>k </a:t>
            </a:r>
            <a:r>
              <a:rPr b="0" i="1" spc="-60" dirty="0">
                <a:latin typeface="Verdana"/>
                <a:cs typeface="Verdana"/>
              </a:rPr>
              <a:t>−</a:t>
            </a:r>
            <a:r>
              <a:rPr b="0" i="1" spc="-140" dirty="0">
                <a:latin typeface="Verdana"/>
                <a:cs typeface="Verdana"/>
              </a:rPr>
              <a:t> </a:t>
            </a:r>
            <a:r>
              <a:rPr b="0" i="1" spc="-195" dirty="0">
                <a:latin typeface="Arial"/>
                <a:cs typeface="Arial"/>
              </a:rPr>
              <a:t>ω</a:t>
            </a:r>
            <a:r>
              <a:rPr b="0" i="1" spc="-15" dirty="0">
                <a:latin typeface="Arial"/>
                <a:cs typeface="Arial"/>
              </a:rPr>
              <a:t> </a:t>
            </a:r>
            <a:r>
              <a:rPr spc="-10" dirty="0"/>
              <a:t>Model:</a:t>
            </a:r>
          </a:p>
          <a:p>
            <a:pPr marL="290195" indent="-139065">
              <a:lnSpc>
                <a:spcPct val="100000"/>
              </a:lnSpc>
              <a:spcBef>
                <a:spcPts val="330"/>
              </a:spcBef>
              <a:buClr>
                <a:srgbClr val="003476"/>
              </a:buClr>
              <a:buChar char="•"/>
              <a:tabLst>
                <a:tab pos="290195" algn="l"/>
              </a:tabLst>
            </a:pPr>
            <a:r>
              <a:rPr b="0" spc="-55" dirty="0">
                <a:latin typeface="Tahoma"/>
                <a:cs typeface="Tahoma"/>
              </a:rPr>
              <a:t>Uses</a:t>
            </a:r>
            <a:r>
              <a:rPr b="0" spc="-60" dirty="0">
                <a:latin typeface="Tahoma"/>
                <a:cs typeface="Tahoma"/>
              </a:rPr>
              <a:t> </a:t>
            </a:r>
            <a:r>
              <a:rPr b="0" spc="-35" dirty="0">
                <a:latin typeface="Tahoma"/>
                <a:cs typeface="Tahoma"/>
              </a:rPr>
              <a:t>the</a:t>
            </a:r>
            <a:r>
              <a:rPr b="0" spc="-55" dirty="0">
                <a:latin typeface="Tahoma"/>
                <a:cs typeface="Tahoma"/>
              </a:rPr>
              <a:t> </a:t>
            </a:r>
            <a:r>
              <a:rPr b="0" spc="-45" dirty="0">
                <a:latin typeface="Tahoma"/>
                <a:cs typeface="Tahoma"/>
              </a:rPr>
              <a:t>specific</a:t>
            </a:r>
            <a:r>
              <a:rPr b="0" spc="-60" dirty="0">
                <a:latin typeface="Tahoma"/>
                <a:cs typeface="Tahoma"/>
              </a:rPr>
              <a:t> </a:t>
            </a:r>
            <a:r>
              <a:rPr b="0" spc="-40" dirty="0">
                <a:latin typeface="Tahoma"/>
                <a:cs typeface="Tahoma"/>
              </a:rPr>
              <a:t>dissipation</a:t>
            </a:r>
            <a:r>
              <a:rPr b="0" spc="-55" dirty="0">
                <a:latin typeface="Tahoma"/>
                <a:cs typeface="Tahoma"/>
              </a:rPr>
              <a:t> </a:t>
            </a:r>
            <a:r>
              <a:rPr b="0" spc="-50" dirty="0">
                <a:latin typeface="Tahoma"/>
                <a:cs typeface="Tahoma"/>
              </a:rPr>
              <a:t>rate</a:t>
            </a:r>
            <a:r>
              <a:rPr b="0" spc="-60" dirty="0">
                <a:latin typeface="Tahoma"/>
                <a:cs typeface="Tahoma"/>
              </a:rPr>
              <a:t> </a:t>
            </a:r>
            <a:r>
              <a:rPr b="0" spc="-125" dirty="0">
                <a:latin typeface="Tahoma"/>
                <a:cs typeface="Tahoma"/>
              </a:rPr>
              <a:t>(</a:t>
            </a:r>
            <a:r>
              <a:rPr b="0" i="1" spc="-125" dirty="0">
                <a:latin typeface="Arial"/>
                <a:cs typeface="Arial"/>
              </a:rPr>
              <a:t>ω</a:t>
            </a:r>
            <a:r>
              <a:rPr b="0" spc="-125" dirty="0">
                <a:latin typeface="Tahoma"/>
                <a:cs typeface="Tahoma"/>
              </a:rPr>
              <a:t>)</a:t>
            </a:r>
            <a:r>
              <a:rPr b="0" spc="-55" dirty="0">
                <a:latin typeface="Tahoma"/>
                <a:cs typeface="Tahoma"/>
              </a:rPr>
              <a:t> </a:t>
            </a:r>
            <a:r>
              <a:rPr b="0" spc="-45" dirty="0">
                <a:latin typeface="Tahoma"/>
                <a:cs typeface="Tahoma"/>
              </a:rPr>
              <a:t>instead</a:t>
            </a:r>
            <a:r>
              <a:rPr b="0" spc="-60" dirty="0">
                <a:latin typeface="Tahoma"/>
                <a:cs typeface="Tahoma"/>
              </a:rPr>
              <a:t> </a:t>
            </a:r>
            <a:r>
              <a:rPr b="0" spc="-30" dirty="0">
                <a:latin typeface="Tahoma"/>
                <a:cs typeface="Tahoma"/>
              </a:rPr>
              <a:t>of</a:t>
            </a:r>
            <a:r>
              <a:rPr b="0" spc="-55" dirty="0">
                <a:latin typeface="Tahoma"/>
                <a:cs typeface="Tahoma"/>
              </a:rPr>
              <a:t> </a:t>
            </a:r>
            <a:r>
              <a:rPr b="0" i="1" spc="-25" dirty="0">
                <a:latin typeface="Arial"/>
                <a:cs typeface="Arial"/>
              </a:rPr>
              <a:t>ϵ</a:t>
            </a:r>
            <a:r>
              <a:rPr b="0" spc="-25" dirty="0">
                <a:latin typeface="Tahoma"/>
                <a:cs typeface="Tahoma"/>
              </a:rPr>
              <a:t>.</a:t>
            </a: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pc="-95" dirty="0"/>
              <a:t>Main</a:t>
            </a:r>
            <a:r>
              <a:rPr spc="-50" dirty="0"/>
              <a:t> </a:t>
            </a:r>
            <a:r>
              <a:rPr spc="-30" dirty="0"/>
              <a:t>Advantage:</a:t>
            </a:r>
          </a:p>
          <a:p>
            <a:pPr marL="290195" indent="-139065">
              <a:lnSpc>
                <a:spcPct val="100000"/>
              </a:lnSpc>
              <a:spcBef>
                <a:spcPts val="335"/>
              </a:spcBef>
              <a:buClr>
                <a:srgbClr val="003476"/>
              </a:buClr>
              <a:buChar char="•"/>
              <a:tabLst>
                <a:tab pos="290195" algn="l"/>
              </a:tabLst>
            </a:pPr>
            <a:r>
              <a:rPr b="0" spc="-70" dirty="0">
                <a:latin typeface="Tahoma"/>
                <a:cs typeface="Tahoma"/>
              </a:rPr>
              <a:t>The</a:t>
            </a:r>
            <a:r>
              <a:rPr b="0" spc="-60" dirty="0">
                <a:latin typeface="Tahoma"/>
                <a:cs typeface="Tahoma"/>
              </a:rPr>
              <a:t> </a:t>
            </a:r>
            <a:r>
              <a:rPr b="0" spc="-45" dirty="0">
                <a:latin typeface="Tahoma"/>
                <a:cs typeface="Tahoma"/>
              </a:rPr>
              <a:t>mathematical</a:t>
            </a:r>
            <a:r>
              <a:rPr b="0" spc="-60" dirty="0">
                <a:latin typeface="Tahoma"/>
                <a:cs typeface="Tahoma"/>
              </a:rPr>
              <a:t> </a:t>
            </a:r>
            <a:r>
              <a:rPr b="0" spc="-35" dirty="0">
                <a:latin typeface="Tahoma"/>
                <a:cs typeface="Tahoma"/>
              </a:rPr>
              <a:t>equations</a:t>
            </a:r>
            <a:r>
              <a:rPr b="0" spc="-60" dirty="0">
                <a:latin typeface="Tahoma"/>
                <a:cs typeface="Tahoma"/>
              </a:rPr>
              <a:t> </a:t>
            </a:r>
            <a:r>
              <a:rPr b="0" spc="-45" dirty="0">
                <a:latin typeface="Tahoma"/>
                <a:cs typeface="Tahoma"/>
              </a:rPr>
              <a:t>do</a:t>
            </a:r>
            <a:r>
              <a:rPr b="0" spc="-60" dirty="0">
                <a:latin typeface="Tahoma"/>
                <a:cs typeface="Tahoma"/>
              </a:rPr>
              <a:t> </a:t>
            </a:r>
            <a:r>
              <a:rPr b="0" spc="-30" dirty="0">
                <a:latin typeface="Tahoma"/>
                <a:cs typeface="Tahoma"/>
              </a:rPr>
              <a:t>not</a:t>
            </a:r>
            <a:r>
              <a:rPr b="0" spc="-55" dirty="0">
                <a:latin typeface="Tahoma"/>
                <a:cs typeface="Tahoma"/>
              </a:rPr>
              <a:t> become</a:t>
            </a:r>
            <a:r>
              <a:rPr b="0" spc="-60" dirty="0">
                <a:latin typeface="Tahoma"/>
                <a:cs typeface="Tahoma"/>
              </a:rPr>
              <a:t> </a:t>
            </a:r>
            <a:r>
              <a:rPr b="0" spc="-50" dirty="0">
                <a:latin typeface="Tahoma"/>
                <a:cs typeface="Tahoma"/>
              </a:rPr>
              <a:t>unstable</a:t>
            </a:r>
            <a:r>
              <a:rPr b="0" spc="-60" dirty="0">
                <a:latin typeface="Tahoma"/>
                <a:cs typeface="Tahoma"/>
              </a:rPr>
              <a:t> </a:t>
            </a:r>
            <a:r>
              <a:rPr b="0" spc="-45" dirty="0">
                <a:latin typeface="Tahoma"/>
                <a:cs typeface="Tahoma"/>
              </a:rPr>
              <a:t>near</a:t>
            </a:r>
            <a:r>
              <a:rPr b="0" spc="-60" dirty="0">
                <a:latin typeface="Tahoma"/>
                <a:cs typeface="Tahoma"/>
              </a:rPr>
              <a:t> </a:t>
            </a:r>
            <a:r>
              <a:rPr b="0" spc="-35" dirty="0">
                <a:latin typeface="Tahoma"/>
                <a:cs typeface="Tahoma"/>
              </a:rPr>
              <a:t>solid</a:t>
            </a:r>
            <a:r>
              <a:rPr b="0" spc="-60" dirty="0">
                <a:latin typeface="Tahoma"/>
                <a:cs typeface="Tahoma"/>
              </a:rPr>
              <a:t> </a:t>
            </a:r>
            <a:r>
              <a:rPr b="0" spc="-10" dirty="0">
                <a:latin typeface="Tahoma"/>
                <a:cs typeface="Tahoma"/>
              </a:rPr>
              <a:t>walls.</a:t>
            </a:r>
          </a:p>
          <a:p>
            <a:pPr marL="290195" indent="-139065">
              <a:lnSpc>
                <a:spcPct val="100000"/>
              </a:lnSpc>
              <a:spcBef>
                <a:spcPts val="334"/>
              </a:spcBef>
              <a:buClr>
                <a:srgbClr val="003476"/>
              </a:buClr>
              <a:buChar char="•"/>
              <a:tabLst>
                <a:tab pos="290195" algn="l"/>
              </a:tabLst>
            </a:pPr>
            <a:r>
              <a:rPr b="0" spc="-70" dirty="0">
                <a:latin typeface="Tahoma"/>
                <a:cs typeface="Tahoma"/>
              </a:rPr>
              <a:t>The</a:t>
            </a:r>
            <a:r>
              <a:rPr b="0" spc="-80" dirty="0">
                <a:latin typeface="Tahoma"/>
                <a:cs typeface="Tahoma"/>
              </a:rPr>
              <a:t> </a:t>
            </a:r>
            <a:r>
              <a:rPr b="0" spc="-45" dirty="0">
                <a:latin typeface="Tahoma"/>
                <a:cs typeface="Tahoma"/>
              </a:rPr>
              <a:t>model</a:t>
            </a:r>
            <a:r>
              <a:rPr b="0" spc="-75" dirty="0">
                <a:latin typeface="Tahoma"/>
                <a:cs typeface="Tahoma"/>
              </a:rPr>
              <a:t> </a:t>
            </a:r>
            <a:r>
              <a:rPr b="0" spc="-45" dirty="0">
                <a:latin typeface="Tahoma"/>
                <a:cs typeface="Tahoma"/>
              </a:rPr>
              <a:t>remains</a:t>
            </a:r>
            <a:r>
              <a:rPr b="0" spc="-80" dirty="0">
                <a:latin typeface="Tahoma"/>
                <a:cs typeface="Tahoma"/>
              </a:rPr>
              <a:t> </a:t>
            </a:r>
            <a:r>
              <a:rPr b="0" spc="-40" dirty="0">
                <a:latin typeface="Tahoma"/>
                <a:cs typeface="Tahoma"/>
              </a:rPr>
              <a:t>robust</a:t>
            </a:r>
            <a:r>
              <a:rPr b="0" spc="-75" dirty="0">
                <a:latin typeface="Tahoma"/>
                <a:cs typeface="Tahoma"/>
              </a:rPr>
              <a:t> </a:t>
            </a:r>
            <a:r>
              <a:rPr b="0" spc="-60" dirty="0">
                <a:latin typeface="Tahoma"/>
                <a:cs typeface="Tahoma"/>
              </a:rPr>
              <a:t>even</a:t>
            </a:r>
            <a:r>
              <a:rPr b="0" spc="-75" dirty="0">
                <a:latin typeface="Tahoma"/>
                <a:cs typeface="Tahoma"/>
              </a:rPr>
              <a:t> </a:t>
            </a:r>
            <a:r>
              <a:rPr b="0" spc="-45" dirty="0">
                <a:latin typeface="Tahoma"/>
                <a:cs typeface="Tahoma"/>
              </a:rPr>
              <a:t>when</a:t>
            </a:r>
            <a:r>
              <a:rPr b="0" spc="-80" dirty="0">
                <a:latin typeface="Tahoma"/>
                <a:cs typeface="Tahoma"/>
              </a:rPr>
              <a:t> </a:t>
            </a:r>
            <a:r>
              <a:rPr b="0" i="1" dirty="0">
                <a:latin typeface="Cambria"/>
                <a:cs typeface="Cambria"/>
              </a:rPr>
              <a:t>k</a:t>
            </a:r>
            <a:r>
              <a:rPr b="0" i="1" spc="30" dirty="0">
                <a:latin typeface="Cambria"/>
                <a:cs typeface="Cambria"/>
              </a:rPr>
              <a:t> </a:t>
            </a:r>
            <a:r>
              <a:rPr b="0" spc="-40" dirty="0">
                <a:latin typeface="Tahoma"/>
                <a:cs typeface="Tahoma"/>
              </a:rPr>
              <a:t>is</a:t>
            </a:r>
            <a:r>
              <a:rPr b="0" spc="-75" dirty="0">
                <a:latin typeface="Tahoma"/>
                <a:cs typeface="Tahoma"/>
              </a:rPr>
              <a:t> </a:t>
            </a:r>
            <a:r>
              <a:rPr b="0" spc="-55" dirty="0">
                <a:latin typeface="Tahoma"/>
                <a:cs typeface="Tahoma"/>
              </a:rPr>
              <a:t>very</a:t>
            </a:r>
            <a:r>
              <a:rPr b="0" spc="-80" dirty="0">
                <a:latin typeface="Tahoma"/>
                <a:cs typeface="Tahoma"/>
              </a:rPr>
              <a:t> </a:t>
            </a:r>
            <a:r>
              <a:rPr b="0" spc="-10" dirty="0">
                <a:latin typeface="Tahoma"/>
                <a:cs typeface="Tahoma"/>
              </a:rPr>
              <a:t>small.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00347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5579" y="3"/>
            <a:ext cx="518378" cy="617051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639"/>
              </a:lnSpc>
              <a:spcBef>
                <a:spcPts val="135"/>
              </a:spcBef>
            </a:pPr>
            <a:r>
              <a:rPr spc="-150" dirty="0"/>
              <a:t>Table</a:t>
            </a:r>
            <a:r>
              <a:rPr spc="-70" dirty="0"/>
              <a:t> </a:t>
            </a:r>
            <a:r>
              <a:rPr spc="-100" dirty="0"/>
              <a:t>of</a:t>
            </a:r>
            <a:r>
              <a:rPr spc="-60" dirty="0"/>
              <a:t> </a:t>
            </a:r>
            <a:r>
              <a:rPr spc="-125" dirty="0"/>
              <a:t>Contents</a:t>
            </a:r>
          </a:p>
          <a:p>
            <a:pPr marL="12700">
              <a:lnSpc>
                <a:spcPts val="1040"/>
              </a:lnSpc>
            </a:pPr>
            <a:r>
              <a:rPr sz="900" b="0" dirty="0">
                <a:latin typeface="Tahoma"/>
                <a:cs typeface="Tahoma"/>
              </a:rPr>
              <a:t>2</a:t>
            </a:r>
            <a:r>
              <a:rPr sz="900" b="0" spc="105" dirty="0">
                <a:latin typeface="Tahoma"/>
                <a:cs typeface="Tahoma"/>
              </a:rPr>
              <a:t> </a:t>
            </a:r>
            <a:r>
              <a:rPr sz="900" b="0" spc="-35" dirty="0">
                <a:latin typeface="Tahoma"/>
                <a:cs typeface="Tahoma"/>
              </a:rPr>
              <a:t>Initializing</a:t>
            </a:r>
            <a:r>
              <a:rPr sz="900" b="0" spc="-60" dirty="0">
                <a:latin typeface="Tahoma"/>
                <a:cs typeface="Tahoma"/>
              </a:rPr>
              <a:t> </a:t>
            </a:r>
            <a:r>
              <a:rPr sz="900" b="0" spc="-30" dirty="0">
                <a:latin typeface="Tahoma"/>
                <a:cs typeface="Tahoma"/>
              </a:rPr>
              <a:t>the</a:t>
            </a:r>
            <a:r>
              <a:rPr sz="900" b="0" spc="-60" dirty="0">
                <a:latin typeface="Tahoma"/>
                <a:cs typeface="Tahoma"/>
              </a:rPr>
              <a:t> </a:t>
            </a:r>
            <a:r>
              <a:rPr sz="900" b="0" spc="-10" dirty="0">
                <a:latin typeface="Tahoma"/>
                <a:cs typeface="Tahoma"/>
              </a:rPr>
              <a:t>Simulation</a:t>
            </a:r>
            <a:endParaRPr sz="9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1894" y="3016594"/>
            <a:ext cx="236854" cy="154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z="800" spc="-30" dirty="0">
                <a:solidFill>
                  <a:srgbClr val="3F3F3F"/>
                </a:solidFill>
                <a:latin typeface="Tahoma"/>
                <a:cs typeface="Tahoma"/>
              </a:rPr>
              <a:t>8</a:t>
            </a:fld>
            <a:r>
              <a:rPr sz="800" spc="-30" dirty="0">
                <a:solidFill>
                  <a:srgbClr val="3F3F3F"/>
                </a:solidFill>
                <a:latin typeface="Tahoma"/>
                <a:cs typeface="Tahoma"/>
              </a:rPr>
              <a:t>/16</a:t>
            </a:r>
            <a:endParaRPr sz="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7294" y="1149170"/>
            <a:ext cx="1585595" cy="10928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1130" indent="-138430">
              <a:lnSpc>
                <a:spcPct val="100000"/>
              </a:lnSpc>
              <a:spcBef>
                <a:spcPts val="90"/>
              </a:spcBef>
              <a:buClr>
                <a:srgbClr val="335D91"/>
              </a:buClr>
              <a:buFont typeface="Lucida Sans Unicode"/>
              <a:buChar char="►"/>
              <a:tabLst>
                <a:tab pos="151130" algn="l"/>
              </a:tabLst>
            </a:pPr>
            <a:r>
              <a:rPr sz="1100" spc="-40" dirty="0">
                <a:solidFill>
                  <a:srgbClr val="335D91"/>
                </a:solidFill>
                <a:latin typeface="Tahoma"/>
                <a:cs typeface="Tahoma"/>
                <a:hlinkClick r:id="rId3" action="ppaction://hlinksldjump"/>
              </a:rPr>
              <a:t>Initial</a:t>
            </a:r>
            <a:r>
              <a:rPr sz="1100" spc="-65" dirty="0">
                <a:solidFill>
                  <a:srgbClr val="335D91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1100" spc="-10" dirty="0">
                <a:solidFill>
                  <a:srgbClr val="335D91"/>
                </a:solidFill>
                <a:latin typeface="Tahoma"/>
                <a:cs typeface="Tahoma"/>
                <a:hlinkClick r:id="rId3" action="ppaction://hlinksldjump"/>
              </a:rPr>
              <a:t>Problem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94"/>
              </a:spcBef>
              <a:buFont typeface="Lucida Sans Unicode"/>
              <a:buChar char="►"/>
            </a:pPr>
            <a:endParaRPr sz="1100">
              <a:latin typeface="Tahoma"/>
              <a:cs typeface="Tahoma"/>
            </a:endParaRPr>
          </a:p>
          <a:p>
            <a:pPr marL="151130" indent="-138430">
              <a:lnSpc>
                <a:spcPct val="100000"/>
              </a:lnSpc>
              <a:buFont typeface="Lucida Sans Unicode"/>
              <a:buChar char="►"/>
              <a:tabLst>
                <a:tab pos="151130" algn="l"/>
              </a:tabLst>
            </a:pPr>
            <a:r>
              <a:rPr sz="1100" spc="-45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Initializing</a:t>
            </a:r>
            <a:r>
              <a:rPr sz="1100" spc="-4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the</a:t>
            </a:r>
            <a:r>
              <a:rPr sz="1100" spc="-4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Simulation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00"/>
              </a:spcBef>
              <a:buFont typeface="Lucida Sans Unicode"/>
              <a:buChar char="►"/>
            </a:pPr>
            <a:endParaRPr sz="1100">
              <a:latin typeface="Tahoma"/>
              <a:cs typeface="Tahoma"/>
            </a:endParaRPr>
          </a:p>
          <a:p>
            <a:pPr marL="151130" indent="-138430">
              <a:lnSpc>
                <a:spcPct val="100000"/>
              </a:lnSpc>
              <a:buFont typeface="Lucida Sans Unicode"/>
              <a:buChar char="►"/>
              <a:tabLst>
                <a:tab pos="151130" algn="l"/>
              </a:tabLst>
            </a:pPr>
            <a:r>
              <a:rPr sz="1100" spc="-10" dirty="0">
                <a:solidFill>
                  <a:srgbClr val="335D91"/>
                </a:solidFill>
                <a:latin typeface="Tahoma"/>
                <a:cs typeface="Tahoma"/>
                <a:hlinkClick r:id="rId5" action="ppaction://hlinksldjump"/>
              </a:rPr>
              <a:t>Results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1067295" y="252930"/>
            <a:ext cx="21380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155" dirty="0">
                <a:solidFill>
                  <a:srgbClr val="003476"/>
                </a:solidFill>
                <a:latin typeface="Tahoma"/>
                <a:cs typeface="Tahoma"/>
              </a:rPr>
              <a:t>Changing</a:t>
            </a:r>
            <a:r>
              <a:rPr sz="1400" b="1" spc="-40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1400" b="1" spc="-135" dirty="0">
                <a:solidFill>
                  <a:srgbClr val="003476"/>
                </a:solidFill>
                <a:latin typeface="Tahoma"/>
                <a:cs typeface="Tahoma"/>
              </a:rPr>
              <a:t>Turbulence</a:t>
            </a:r>
            <a:r>
              <a:rPr sz="1400" b="1" spc="-35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1400" b="1" spc="-65" dirty="0">
                <a:solidFill>
                  <a:srgbClr val="003476"/>
                </a:solidFill>
                <a:latin typeface="Tahoma"/>
                <a:cs typeface="Tahoma"/>
              </a:rPr>
              <a:t>Model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5510" y="460433"/>
            <a:ext cx="4349115" cy="622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4015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003476"/>
                </a:solidFill>
                <a:latin typeface="Tahoma"/>
                <a:cs typeface="Tahoma"/>
              </a:rPr>
              <a:t>2</a:t>
            </a:r>
            <a:r>
              <a:rPr sz="900" spc="105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900" spc="-35" dirty="0">
                <a:solidFill>
                  <a:srgbClr val="003476"/>
                </a:solidFill>
                <a:latin typeface="Tahoma"/>
                <a:cs typeface="Tahoma"/>
              </a:rPr>
              <a:t>Initializing</a:t>
            </a:r>
            <a:r>
              <a:rPr sz="900" spc="-60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900" spc="-30" dirty="0">
                <a:solidFill>
                  <a:srgbClr val="003476"/>
                </a:solidFill>
                <a:latin typeface="Tahoma"/>
                <a:cs typeface="Tahoma"/>
              </a:rPr>
              <a:t>the</a:t>
            </a:r>
            <a:r>
              <a:rPr sz="900" spc="-60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003476"/>
                </a:solidFill>
                <a:latin typeface="Tahoma"/>
                <a:cs typeface="Tahoma"/>
              </a:rPr>
              <a:t>Simulation</a:t>
            </a:r>
            <a:endParaRPr sz="9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950"/>
              </a:spcBef>
            </a:pP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We</a:t>
            </a:r>
            <a:r>
              <a:rPr sz="1100" spc="-8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need</a:t>
            </a:r>
            <a:r>
              <a:rPr sz="1100" spc="-8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3F3F3F"/>
                </a:solidFill>
                <a:latin typeface="Tahoma"/>
                <a:cs typeface="Tahoma"/>
              </a:rPr>
              <a:t>to</a:t>
            </a:r>
            <a:r>
              <a:rPr sz="1100" spc="-8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3F3F3F"/>
                </a:solidFill>
                <a:latin typeface="Tahoma"/>
                <a:cs typeface="Tahoma"/>
              </a:rPr>
              <a:t>change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3F3F3F"/>
                </a:solidFill>
                <a:latin typeface="Tahoma"/>
                <a:cs typeface="Tahoma"/>
              </a:rPr>
              <a:t>the</a:t>
            </a:r>
            <a:r>
              <a:rPr sz="1100" spc="-8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turbulence</a:t>
            </a:r>
            <a:r>
              <a:rPr sz="1100" spc="-8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3F3F3F"/>
                </a:solidFill>
                <a:latin typeface="Tahoma"/>
                <a:cs typeface="Tahoma"/>
              </a:rPr>
              <a:t>model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3F3F3F"/>
                </a:solidFill>
                <a:latin typeface="Tahoma"/>
                <a:cs typeface="Tahoma"/>
              </a:rPr>
              <a:t>from</a:t>
            </a:r>
            <a:r>
              <a:rPr sz="1100" spc="-8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3F3F3F"/>
                </a:solidFill>
                <a:latin typeface="Cambria"/>
                <a:cs typeface="Cambria"/>
              </a:rPr>
              <a:t>k</a:t>
            </a:r>
            <a:r>
              <a:rPr sz="1100" i="1" spc="15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1100" i="1" spc="-60" dirty="0">
                <a:solidFill>
                  <a:srgbClr val="3F3F3F"/>
                </a:solidFill>
                <a:latin typeface="Verdana"/>
                <a:cs typeface="Verdana"/>
              </a:rPr>
              <a:t>−</a:t>
            </a:r>
            <a:r>
              <a:rPr sz="1100" i="1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100" i="1" spc="-55" dirty="0">
                <a:solidFill>
                  <a:srgbClr val="3F3F3F"/>
                </a:solidFill>
                <a:latin typeface="Arial"/>
                <a:cs typeface="Arial"/>
              </a:rPr>
              <a:t>ϵ</a:t>
            </a:r>
            <a:r>
              <a:rPr sz="1100" i="1" spc="-4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100" spc="-70" dirty="0">
                <a:solidFill>
                  <a:srgbClr val="3F3F3F"/>
                </a:solidFill>
                <a:latin typeface="Tahoma"/>
                <a:cs typeface="Tahoma"/>
              </a:rPr>
              <a:t>RNG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3F3F3F"/>
                </a:solidFill>
                <a:latin typeface="Tahoma"/>
                <a:cs typeface="Tahoma"/>
              </a:rPr>
              <a:t>to</a:t>
            </a:r>
            <a:r>
              <a:rPr sz="1100" spc="-8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3F3F3F"/>
                </a:solidFill>
                <a:latin typeface="Cambria"/>
                <a:cs typeface="Cambria"/>
              </a:rPr>
              <a:t>k</a:t>
            </a:r>
            <a:r>
              <a:rPr sz="1100" i="1" spc="15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1100" i="1" spc="-60" dirty="0">
                <a:solidFill>
                  <a:srgbClr val="3F3F3F"/>
                </a:solidFill>
                <a:latin typeface="Verdana"/>
                <a:cs typeface="Verdana"/>
              </a:rPr>
              <a:t>−</a:t>
            </a:r>
            <a:r>
              <a:rPr sz="1100" i="1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100" i="1" spc="-195" dirty="0">
                <a:solidFill>
                  <a:srgbClr val="3F3F3F"/>
                </a:solidFill>
                <a:latin typeface="Arial"/>
                <a:cs typeface="Arial"/>
              </a:rPr>
              <a:t>ω</a:t>
            </a:r>
            <a:r>
              <a:rPr sz="1100" i="1" spc="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Tahoma"/>
                <a:cs typeface="Tahoma"/>
              </a:rPr>
              <a:t>standard</a:t>
            </a:r>
            <a:r>
              <a:rPr lang="it-IT" sz="1100" spc="-10" dirty="0">
                <a:solidFill>
                  <a:srgbClr val="3F3F3F"/>
                </a:solidFill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spc="-60" dirty="0">
                <a:solidFill>
                  <a:srgbClr val="3F3F3F"/>
                </a:solidFill>
                <a:latin typeface="Tahoma"/>
                <a:cs typeface="Tahoma"/>
              </a:rPr>
              <a:t>Then</a:t>
            </a:r>
            <a:r>
              <a:rPr sz="1100" spc="-6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we</a:t>
            </a:r>
            <a:r>
              <a:rPr sz="1100" spc="-6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re-</a:t>
            </a:r>
            <a:r>
              <a:rPr sz="1100" spc="-45" dirty="0">
                <a:solidFill>
                  <a:srgbClr val="3F3F3F"/>
                </a:solidFill>
                <a:latin typeface="Tahoma"/>
                <a:cs typeface="Tahoma"/>
              </a:rPr>
              <a:t>set</a:t>
            </a:r>
            <a:r>
              <a:rPr sz="1100" spc="-6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3F3F3F"/>
                </a:solidFill>
                <a:latin typeface="Tahoma"/>
                <a:cs typeface="Tahoma"/>
              </a:rPr>
              <a:t>the</a:t>
            </a:r>
            <a:r>
              <a:rPr sz="1100" spc="-6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correct</a:t>
            </a:r>
            <a:r>
              <a:rPr sz="1100" spc="-6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discretization</a:t>
            </a:r>
            <a:r>
              <a:rPr sz="1100" spc="-6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scheme</a:t>
            </a:r>
            <a:r>
              <a:rPr sz="1100" spc="-6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for</a:t>
            </a:r>
            <a:r>
              <a:rPr sz="1100" spc="-6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i="1" spc="-25" dirty="0">
                <a:solidFill>
                  <a:srgbClr val="3F3F3F"/>
                </a:solidFill>
                <a:latin typeface="Cambria"/>
                <a:cs typeface="Cambria"/>
              </a:rPr>
              <a:t>k</a:t>
            </a:r>
            <a:r>
              <a:rPr lang="it-IT" sz="1100" i="1" spc="-25" dirty="0">
                <a:solidFill>
                  <a:srgbClr val="3F3F3F"/>
                </a:solidFill>
                <a:latin typeface="Cambria"/>
                <a:cs typeface="Cambria"/>
              </a:rPr>
              <a:t>.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202" y="1340995"/>
            <a:ext cx="1209567" cy="147482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5207" y="1340981"/>
            <a:ext cx="1209568" cy="13494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21894" y="3016594"/>
            <a:ext cx="236854" cy="154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z="800" spc="-30" dirty="0">
                <a:solidFill>
                  <a:srgbClr val="3F3F3F"/>
                </a:solidFill>
                <a:latin typeface="Tahoma"/>
                <a:cs typeface="Tahoma"/>
              </a:rPr>
              <a:t>9</a:t>
            </a:fld>
            <a:r>
              <a:rPr sz="800" spc="-30" dirty="0">
                <a:solidFill>
                  <a:srgbClr val="3F3F3F"/>
                </a:solidFill>
                <a:latin typeface="Tahoma"/>
                <a:cs typeface="Tahoma"/>
              </a:rPr>
              <a:t>/16</a:t>
            </a:r>
            <a:endParaRPr sz="8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1067295" y="252930"/>
            <a:ext cx="12039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130" dirty="0">
                <a:solidFill>
                  <a:srgbClr val="003476"/>
                </a:solidFill>
                <a:latin typeface="Tahoma"/>
                <a:cs typeface="Tahoma"/>
              </a:rPr>
              <a:t>First</a:t>
            </a:r>
            <a:r>
              <a:rPr sz="1400" b="1" spc="-70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1400" b="1" spc="-120" dirty="0">
                <a:solidFill>
                  <a:srgbClr val="003476"/>
                </a:solidFill>
                <a:latin typeface="Tahoma"/>
                <a:cs typeface="Tahoma"/>
              </a:rPr>
              <a:t>Simulation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5360" y="407055"/>
            <a:ext cx="4509770" cy="44704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454025">
              <a:lnSpc>
                <a:spcPct val="100000"/>
              </a:lnSpc>
              <a:spcBef>
                <a:spcPts val="515"/>
              </a:spcBef>
            </a:pPr>
            <a:r>
              <a:rPr sz="900" dirty="0">
                <a:solidFill>
                  <a:srgbClr val="003476"/>
                </a:solidFill>
                <a:latin typeface="Tahoma"/>
                <a:cs typeface="Tahoma"/>
              </a:rPr>
              <a:t>2</a:t>
            </a:r>
            <a:r>
              <a:rPr sz="900" spc="105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900" spc="-35" dirty="0">
                <a:solidFill>
                  <a:srgbClr val="003476"/>
                </a:solidFill>
                <a:latin typeface="Tahoma"/>
                <a:cs typeface="Tahoma"/>
              </a:rPr>
              <a:t>Initializing</a:t>
            </a:r>
            <a:r>
              <a:rPr sz="900" spc="-60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900" spc="-30" dirty="0">
                <a:solidFill>
                  <a:srgbClr val="003476"/>
                </a:solidFill>
                <a:latin typeface="Tahoma"/>
                <a:cs typeface="Tahoma"/>
              </a:rPr>
              <a:t>the</a:t>
            </a:r>
            <a:r>
              <a:rPr sz="900" spc="-60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003476"/>
                </a:solidFill>
                <a:latin typeface="Tahoma"/>
                <a:cs typeface="Tahoma"/>
              </a:rPr>
              <a:t>Simulation</a:t>
            </a:r>
            <a:endParaRPr sz="9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500"/>
              </a:spcBef>
            </a:pPr>
            <a:r>
              <a:rPr sz="1100" spc="-70" dirty="0">
                <a:solidFill>
                  <a:srgbClr val="3F3F3F"/>
                </a:solidFill>
                <a:latin typeface="Tahoma"/>
                <a:cs typeface="Tahoma"/>
              </a:rPr>
              <a:t>The</a:t>
            </a:r>
            <a:r>
              <a:rPr sz="1100" spc="-8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3F3F3F"/>
                </a:solidFill>
                <a:latin typeface="Tahoma"/>
                <a:cs typeface="Tahoma"/>
              </a:rPr>
              <a:t>behavior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3F3F3F"/>
                </a:solidFill>
                <a:latin typeface="Tahoma"/>
                <a:cs typeface="Tahoma"/>
              </a:rPr>
              <a:t>of</a:t>
            </a:r>
            <a:r>
              <a:rPr sz="1100" spc="-8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3F3F3F"/>
                </a:solidFill>
                <a:latin typeface="Cambria"/>
                <a:cs typeface="Cambria"/>
              </a:rPr>
              <a:t>C</a:t>
            </a:r>
            <a:r>
              <a:rPr sz="1200" i="1" baseline="-13888" dirty="0">
                <a:solidFill>
                  <a:srgbClr val="3F3F3F"/>
                </a:solidFill>
                <a:latin typeface="Cambria"/>
                <a:cs typeface="Cambria"/>
              </a:rPr>
              <a:t>l</a:t>
            </a:r>
            <a:r>
              <a:rPr sz="1200" i="1" spc="209" baseline="-13888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1100" spc="-45" dirty="0">
                <a:solidFill>
                  <a:srgbClr val="3F3F3F"/>
                </a:solidFill>
                <a:latin typeface="Tahoma"/>
                <a:cs typeface="Tahoma"/>
              </a:rPr>
              <a:t>confirms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3F3F3F"/>
                </a:solidFill>
                <a:latin typeface="Tahoma"/>
                <a:cs typeface="Tahoma"/>
              </a:rPr>
              <a:t>that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3F3F3F"/>
                </a:solidFill>
                <a:latin typeface="Tahoma"/>
                <a:cs typeface="Tahoma"/>
              </a:rPr>
              <a:t>flow</a:t>
            </a:r>
            <a:r>
              <a:rPr sz="1100" spc="-8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is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3F3F3F"/>
                </a:solidFill>
                <a:latin typeface="Tahoma"/>
                <a:cs typeface="Tahoma"/>
              </a:rPr>
              <a:t>full</a:t>
            </a:r>
            <a:r>
              <a:rPr sz="1100" spc="-8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developed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3F3F3F"/>
                </a:solidFill>
                <a:latin typeface="Tahoma"/>
                <a:cs typeface="Tahoma"/>
              </a:rPr>
              <a:t>after</a:t>
            </a:r>
            <a:r>
              <a:rPr sz="1100" spc="-8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3F3F3F"/>
                </a:solidFill>
                <a:latin typeface="Lucida Sans Unicode"/>
                <a:cs typeface="Lucida Sans Unicode"/>
              </a:rPr>
              <a:t>∼</a:t>
            </a:r>
            <a:r>
              <a:rPr sz="1100" spc="-15" dirty="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3F3F3F"/>
                </a:solidFill>
                <a:latin typeface="Cambria"/>
                <a:cs typeface="Cambria"/>
              </a:rPr>
              <a:t>5800</a:t>
            </a:r>
            <a:r>
              <a:rPr sz="1100" spc="20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1100" spc="-35" dirty="0">
                <a:solidFill>
                  <a:srgbClr val="3F3F3F"/>
                </a:solidFill>
                <a:latin typeface="Tahoma"/>
                <a:cs typeface="Tahoma"/>
              </a:rPr>
              <a:t>time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Tahoma"/>
                <a:cs typeface="Tahoma"/>
              </a:rPr>
              <a:t>steps.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3370" y="905971"/>
            <a:ext cx="3013192" cy="202137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47294" y="3016594"/>
            <a:ext cx="247015" cy="154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60" dirty="0">
                <a:solidFill>
                  <a:srgbClr val="3F3F3F"/>
                </a:solidFill>
                <a:latin typeface="Tahoma"/>
                <a:cs typeface="Tahoma"/>
              </a:rPr>
              <a:t>10/16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84819" y="3052298"/>
            <a:ext cx="1990725" cy="1679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spc="-55" dirty="0">
                <a:solidFill>
                  <a:srgbClr val="003476"/>
                </a:solidFill>
                <a:latin typeface="Tahoma"/>
                <a:cs typeface="Tahoma"/>
              </a:rPr>
              <a:t>Figure:</a:t>
            </a:r>
            <a:r>
              <a:rPr sz="1000" spc="-65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1000" spc="-55" dirty="0">
                <a:solidFill>
                  <a:srgbClr val="3F3F3F"/>
                </a:solidFill>
                <a:latin typeface="Tahoma"/>
                <a:cs typeface="Tahoma"/>
              </a:rPr>
              <a:t>Values</a:t>
            </a:r>
            <a:r>
              <a:rPr sz="1000" spc="-6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3F3F3F"/>
                </a:solidFill>
                <a:latin typeface="Tahoma"/>
                <a:cs typeface="Tahoma"/>
              </a:rPr>
              <a:t>of</a:t>
            </a:r>
            <a:r>
              <a:rPr sz="1000" spc="-6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000" i="1" dirty="0">
                <a:solidFill>
                  <a:srgbClr val="3F3F3F"/>
                </a:solidFill>
                <a:latin typeface="Cambria"/>
                <a:cs typeface="Cambria"/>
              </a:rPr>
              <a:t>C</a:t>
            </a:r>
            <a:r>
              <a:rPr sz="1050" i="1" baseline="-11904" dirty="0">
                <a:solidFill>
                  <a:srgbClr val="3F3F3F"/>
                </a:solidFill>
                <a:latin typeface="Cambria"/>
                <a:cs typeface="Cambria"/>
              </a:rPr>
              <a:t>l</a:t>
            </a:r>
            <a:r>
              <a:rPr sz="1050" i="1" spc="217" baseline="-11904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1000" spc="-30" dirty="0">
                <a:solidFill>
                  <a:srgbClr val="3F3F3F"/>
                </a:solidFill>
                <a:latin typeface="Tahoma"/>
                <a:cs typeface="Tahoma"/>
              </a:rPr>
              <a:t>for</a:t>
            </a:r>
            <a:r>
              <a:rPr sz="1000" spc="-6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3F3F3F"/>
                </a:solidFill>
                <a:latin typeface="Tahoma"/>
                <a:cs typeface="Tahoma"/>
              </a:rPr>
              <a:t>each</a:t>
            </a:r>
            <a:r>
              <a:rPr sz="1000" spc="-6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3F3F3F"/>
                </a:solidFill>
                <a:latin typeface="Tahoma"/>
                <a:cs typeface="Tahoma"/>
              </a:rPr>
              <a:t>time</a:t>
            </a:r>
            <a:r>
              <a:rPr sz="1000" spc="-6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3F3F3F"/>
                </a:solidFill>
                <a:latin typeface="Tahoma"/>
                <a:cs typeface="Tahoma"/>
              </a:rPr>
              <a:t>step</a:t>
            </a:r>
            <a:r>
              <a:rPr lang="it-IT" sz="1000" spc="-10" dirty="0">
                <a:solidFill>
                  <a:srgbClr val="3F3F3F"/>
                </a:solidFill>
                <a:latin typeface="Tahoma"/>
                <a:cs typeface="Tahoma"/>
              </a:rPr>
              <a:t>.</a:t>
            </a:r>
            <a:endParaRPr sz="10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67295" y="252930"/>
            <a:ext cx="18992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30" dirty="0">
                <a:solidFill>
                  <a:srgbClr val="003476"/>
                </a:solidFill>
              </a:rPr>
              <a:t>Simulation</a:t>
            </a:r>
            <a:r>
              <a:rPr spc="-65" dirty="0">
                <a:solidFill>
                  <a:srgbClr val="003476"/>
                </a:solidFill>
              </a:rPr>
              <a:t> </a:t>
            </a:r>
            <a:r>
              <a:rPr spc="-100" dirty="0">
                <a:solidFill>
                  <a:srgbClr val="003476"/>
                </a:solidFill>
              </a:rPr>
              <a:t>of</a:t>
            </a:r>
            <a:r>
              <a:rPr spc="-65" dirty="0">
                <a:solidFill>
                  <a:srgbClr val="003476"/>
                </a:solidFill>
              </a:rPr>
              <a:t> </a:t>
            </a:r>
            <a:r>
              <a:rPr spc="-114" dirty="0">
                <a:solidFill>
                  <a:srgbClr val="003476"/>
                </a:solidFill>
              </a:rPr>
              <a:t>one</a:t>
            </a:r>
            <a:r>
              <a:rPr spc="-65" dirty="0">
                <a:solidFill>
                  <a:srgbClr val="003476"/>
                </a:solidFill>
              </a:rPr>
              <a:t> </a:t>
            </a:r>
            <a:r>
              <a:rPr spc="-85" dirty="0">
                <a:solidFill>
                  <a:srgbClr val="003476"/>
                </a:solidFill>
              </a:rPr>
              <a:t>period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7685" y="407055"/>
            <a:ext cx="5005070" cy="61912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702310">
              <a:lnSpc>
                <a:spcPct val="100000"/>
              </a:lnSpc>
              <a:spcBef>
                <a:spcPts val="515"/>
              </a:spcBef>
            </a:pPr>
            <a:r>
              <a:rPr sz="900" dirty="0">
                <a:solidFill>
                  <a:srgbClr val="003476"/>
                </a:solidFill>
                <a:latin typeface="Tahoma"/>
                <a:cs typeface="Tahoma"/>
              </a:rPr>
              <a:t>2</a:t>
            </a:r>
            <a:r>
              <a:rPr sz="900" spc="105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900" spc="-35" dirty="0">
                <a:solidFill>
                  <a:srgbClr val="003476"/>
                </a:solidFill>
                <a:latin typeface="Tahoma"/>
                <a:cs typeface="Tahoma"/>
              </a:rPr>
              <a:t>Initializing</a:t>
            </a:r>
            <a:r>
              <a:rPr sz="900" spc="-60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900" spc="-30" dirty="0">
                <a:solidFill>
                  <a:srgbClr val="003476"/>
                </a:solidFill>
                <a:latin typeface="Tahoma"/>
                <a:cs typeface="Tahoma"/>
              </a:rPr>
              <a:t>the</a:t>
            </a:r>
            <a:r>
              <a:rPr sz="900" spc="-60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003476"/>
                </a:solidFill>
                <a:latin typeface="Tahoma"/>
                <a:cs typeface="Tahoma"/>
              </a:rPr>
              <a:t>Simulation</a:t>
            </a:r>
            <a:endParaRPr sz="9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For</a:t>
            </a:r>
            <a:r>
              <a:rPr sz="1100" spc="-8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3F3F3F"/>
                </a:solidFill>
                <a:latin typeface="Tahoma"/>
                <a:cs typeface="Tahoma"/>
              </a:rPr>
              <a:t>a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3F3F3F"/>
                </a:solidFill>
                <a:latin typeface="Tahoma"/>
                <a:cs typeface="Tahoma"/>
              </a:rPr>
              <a:t>clean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simulation,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we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3F3F3F"/>
                </a:solidFill>
                <a:latin typeface="Tahoma"/>
                <a:cs typeface="Tahoma"/>
              </a:rPr>
              <a:t>perform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an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3F3F3F"/>
                </a:solidFill>
                <a:latin typeface="Tahoma"/>
                <a:cs typeface="Tahoma"/>
              </a:rPr>
              <a:t>additional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3F3F3F"/>
                </a:solidFill>
                <a:latin typeface="Cambria"/>
                <a:cs typeface="Cambria"/>
              </a:rPr>
              <a:t>161</a:t>
            </a:r>
            <a:r>
              <a:rPr sz="1100" spc="25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steps</a:t>
            </a:r>
            <a:r>
              <a:rPr sz="1100" spc="-8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3F3F3F"/>
                </a:solidFill>
                <a:latin typeface="Tahoma"/>
                <a:cs typeface="Tahoma"/>
              </a:rPr>
              <a:t>in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order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3F3F3F"/>
                </a:solidFill>
                <a:latin typeface="Tahoma"/>
                <a:cs typeface="Tahoma"/>
              </a:rPr>
              <a:t>to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3F3F3F"/>
                </a:solidFill>
                <a:latin typeface="Tahoma"/>
                <a:cs typeface="Tahoma"/>
              </a:rPr>
              <a:t>finish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3F3F3F"/>
                </a:solidFill>
                <a:latin typeface="Tahoma"/>
                <a:cs typeface="Tahoma"/>
              </a:rPr>
              <a:t>with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3F3F3F"/>
                </a:solidFill>
                <a:latin typeface="Cambria"/>
                <a:cs typeface="Cambria"/>
              </a:rPr>
              <a:t>C</a:t>
            </a:r>
            <a:r>
              <a:rPr sz="1200" i="1" baseline="-13888" dirty="0">
                <a:solidFill>
                  <a:srgbClr val="3F3F3F"/>
                </a:solidFill>
                <a:latin typeface="Cambria"/>
                <a:cs typeface="Cambria"/>
              </a:rPr>
              <a:t>l</a:t>
            </a:r>
            <a:r>
              <a:rPr sz="1200" i="1" spc="315" baseline="-13888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3F3F3F"/>
                </a:solidFill>
                <a:latin typeface="Tahoma"/>
                <a:cs typeface="Tahoma"/>
              </a:rPr>
              <a:t>=</a:t>
            </a:r>
            <a:r>
              <a:rPr sz="1100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3F3F3F"/>
                </a:solidFill>
                <a:latin typeface="Cambria"/>
                <a:cs typeface="Cambria"/>
              </a:rPr>
              <a:t>0</a:t>
            </a:r>
            <a:r>
              <a:rPr lang="it-IT" sz="1100" spc="-50" dirty="0">
                <a:solidFill>
                  <a:srgbClr val="3F3F3F"/>
                </a:solidFill>
                <a:latin typeface="Cambria"/>
                <a:cs typeface="Cambria"/>
              </a:rPr>
              <a:t>.</a:t>
            </a:r>
            <a:endParaRPr sz="1100" dirty="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spc="-60" dirty="0">
                <a:solidFill>
                  <a:srgbClr val="3F3F3F"/>
                </a:solidFill>
                <a:latin typeface="Tahoma"/>
                <a:cs typeface="Tahoma"/>
              </a:rPr>
              <a:t>Then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we</a:t>
            </a:r>
            <a:r>
              <a:rPr sz="1100" spc="-7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proceed</a:t>
            </a:r>
            <a:r>
              <a:rPr sz="1100" spc="-7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3F3F3F"/>
                </a:solidFill>
                <a:latin typeface="Tahoma"/>
                <a:cs typeface="Tahoma"/>
              </a:rPr>
              <a:t>with</a:t>
            </a:r>
            <a:r>
              <a:rPr sz="1100" spc="-7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3F3F3F"/>
                </a:solidFill>
                <a:latin typeface="Cambria"/>
                <a:cs typeface="Cambria"/>
              </a:rPr>
              <a:t>363</a:t>
            </a:r>
            <a:r>
              <a:rPr sz="1100" spc="30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1100" spc="-60" dirty="0">
                <a:solidFill>
                  <a:srgbClr val="3F3F3F"/>
                </a:solidFill>
                <a:latin typeface="Tahoma"/>
                <a:cs typeface="Tahoma"/>
              </a:rPr>
              <a:t>steps,</a:t>
            </a:r>
            <a:r>
              <a:rPr sz="1100" spc="-7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which</a:t>
            </a:r>
            <a:r>
              <a:rPr sz="1100" spc="-7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cover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3F3F3F"/>
                </a:solidFill>
                <a:latin typeface="Tahoma"/>
                <a:cs typeface="Tahoma"/>
              </a:rPr>
              <a:t>a</a:t>
            </a:r>
            <a:r>
              <a:rPr sz="1100" spc="-7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3F3F3F"/>
                </a:solidFill>
                <a:latin typeface="Tahoma"/>
                <a:cs typeface="Tahoma"/>
              </a:rPr>
              <a:t>complete</a:t>
            </a:r>
            <a:r>
              <a:rPr sz="1100" spc="-7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Tahoma"/>
                <a:cs typeface="Tahoma"/>
              </a:rPr>
              <a:t>period</a:t>
            </a:r>
            <a:r>
              <a:rPr lang="it-IT" sz="1100" spc="-10" dirty="0">
                <a:solidFill>
                  <a:srgbClr val="3F3F3F"/>
                </a:solidFill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4471" y="1075391"/>
            <a:ext cx="2510973" cy="167696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24240" y="2878256"/>
            <a:ext cx="211201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55" dirty="0">
                <a:solidFill>
                  <a:srgbClr val="003476"/>
                </a:solidFill>
                <a:latin typeface="Tahoma"/>
                <a:cs typeface="Tahoma"/>
              </a:rPr>
              <a:t>Figure: </a:t>
            </a:r>
            <a:r>
              <a:rPr sz="1000" i="1" dirty="0">
                <a:solidFill>
                  <a:srgbClr val="3F3F3F"/>
                </a:solidFill>
                <a:latin typeface="Cambria"/>
                <a:cs typeface="Cambria"/>
              </a:rPr>
              <a:t>C</a:t>
            </a:r>
            <a:r>
              <a:rPr sz="1050" i="1" baseline="-11904" dirty="0">
                <a:solidFill>
                  <a:srgbClr val="3F3F3F"/>
                </a:solidFill>
                <a:latin typeface="Cambria"/>
                <a:cs typeface="Cambria"/>
              </a:rPr>
              <a:t>l</a:t>
            </a:r>
            <a:r>
              <a:rPr sz="1050" i="1" spc="232" baseline="-11904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1000" spc="-50" dirty="0">
                <a:solidFill>
                  <a:srgbClr val="3F3F3F"/>
                </a:solidFill>
                <a:latin typeface="Tahoma"/>
                <a:cs typeface="Tahoma"/>
              </a:rPr>
              <a:t>values</a:t>
            </a:r>
            <a:r>
              <a:rPr sz="1000" spc="-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3F3F3F"/>
                </a:solidFill>
                <a:latin typeface="Tahoma"/>
                <a:cs typeface="Tahoma"/>
              </a:rPr>
              <a:t>throughout</a:t>
            </a:r>
            <a:r>
              <a:rPr sz="1000" spc="-5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3F3F3F"/>
                </a:solidFill>
                <a:latin typeface="Tahoma"/>
                <a:cs typeface="Tahoma"/>
              </a:rPr>
              <a:t>one</a:t>
            </a:r>
            <a:r>
              <a:rPr sz="1000" spc="-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3F3F3F"/>
                </a:solidFill>
                <a:latin typeface="Tahoma"/>
                <a:cs typeface="Tahoma"/>
              </a:rPr>
              <a:t>period</a:t>
            </a:r>
            <a:r>
              <a:rPr lang="it-IT" sz="1000" spc="-10" dirty="0">
                <a:solidFill>
                  <a:srgbClr val="3F3F3F"/>
                </a:solidFill>
                <a:latin typeface="Tahoma"/>
                <a:cs typeface="Tahoma"/>
              </a:rPr>
              <a:t>.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65" dirty="0"/>
              <a:t>11</a:t>
            </a:fld>
            <a:r>
              <a:rPr spc="-65" dirty="0"/>
              <a:t>/16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00347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5579" y="3"/>
            <a:ext cx="518378" cy="6170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67295" y="252930"/>
            <a:ext cx="1339215" cy="369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639"/>
              </a:lnSpc>
              <a:spcBef>
                <a:spcPts val="135"/>
              </a:spcBef>
            </a:pPr>
            <a:r>
              <a:rPr sz="1400" b="1" spc="-150" dirty="0">
                <a:solidFill>
                  <a:srgbClr val="FFFFFF"/>
                </a:solidFill>
                <a:latin typeface="Tahoma"/>
                <a:cs typeface="Tahoma"/>
              </a:rPr>
              <a:t>Table</a:t>
            </a:r>
            <a:r>
              <a:rPr sz="1400" b="1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400" b="1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25" dirty="0">
                <a:solidFill>
                  <a:srgbClr val="FFFFFF"/>
                </a:solidFill>
                <a:latin typeface="Tahoma"/>
                <a:cs typeface="Tahoma"/>
              </a:rPr>
              <a:t>Contents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ts val="1040"/>
              </a:lnSpc>
            </a:pP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sz="9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Results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65" dirty="0"/>
              <a:t>12</a:t>
            </a:fld>
            <a:r>
              <a:rPr spc="-65" dirty="0"/>
              <a:t>/16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47294" y="1143646"/>
            <a:ext cx="1585595" cy="10947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1130" indent="-138430">
              <a:lnSpc>
                <a:spcPct val="100000"/>
              </a:lnSpc>
              <a:spcBef>
                <a:spcPts val="90"/>
              </a:spcBef>
              <a:buClr>
                <a:srgbClr val="335D91"/>
              </a:buClr>
              <a:buFont typeface="Lucida Sans Unicode"/>
              <a:buChar char="►"/>
              <a:tabLst>
                <a:tab pos="151130" algn="l"/>
              </a:tabLst>
            </a:pPr>
            <a:r>
              <a:rPr sz="1100" spc="-40" dirty="0">
                <a:solidFill>
                  <a:srgbClr val="335D91"/>
                </a:solidFill>
                <a:latin typeface="Tahoma"/>
                <a:cs typeface="Tahoma"/>
                <a:hlinkClick r:id="rId3" action="ppaction://hlinksldjump"/>
              </a:rPr>
              <a:t>Initial</a:t>
            </a:r>
            <a:r>
              <a:rPr sz="1100" spc="-65" dirty="0">
                <a:solidFill>
                  <a:srgbClr val="335D91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1100" spc="-10" dirty="0">
                <a:solidFill>
                  <a:srgbClr val="335D91"/>
                </a:solidFill>
                <a:latin typeface="Tahoma"/>
                <a:cs typeface="Tahoma"/>
                <a:hlinkClick r:id="rId3" action="ppaction://hlinksldjump"/>
              </a:rPr>
              <a:t>Problem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05"/>
              </a:spcBef>
              <a:buFont typeface="Lucida Sans Unicode"/>
              <a:buChar char="►"/>
            </a:pPr>
            <a:endParaRPr sz="1100">
              <a:latin typeface="Tahoma"/>
              <a:cs typeface="Tahoma"/>
            </a:endParaRPr>
          </a:p>
          <a:p>
            <a:pPr marL="151130" indent="-138430">
              <a:lnSpc>
                <a:spcPct val="100000"/>
              </a:lnSpc>
              <a:buFont typeface="Lucida Sans Unicode"/>
              <a:buChar char="►"/>
              <a:tabLst>
                <a:tab pos="151130" algn="l"/>
              </a:tabLst>
            </a:pPr>
            <a:r>
              <a:rPr sz="1100" spc="-45" dirty="0">
                <a:solidFill>
                  <a:srgbClr val="335D91"/>
                </a:solidFill>
                <a:latin typeface="Tahoma"/>
                <a:cs typeface="Tahoma"/>
                <a:hlinkClick r:id="rId4" action="ppaction://hlinksldjump"/>
              </a:rPr>
              <a:t>Initializing</a:t>
            </a:r>
            <a:r>
              <a:rPr sz="1100" spc="-40" dirty="0">
                <a:solidFill>
                  <a:srgbClr val="335D91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spc="-35" dirty="0">
                <a:solidFill>
                  <a:srgbClr val="335D91"/>
                </a:solidFill>
                <a:latin typeface="Tahoma"/>
                <a:cs typeface="Tahoma"/>
                <a:hlinkClick r:id="rId4" action="ppaction://hlinksldjump"/>
              </a:rPr>
              <a:t>the</a:t>
            </a:r>
            <a:r>
              <a:rPr sz="1100" spc="-40" dirty="0">
                <a:solidFill>
                  <a:srgbClr val="335D91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spc="-35" dirty="0">
                <a:solidFill>
                  <a:srgbClr val="335D91"/>
                </a:solidFill>
                <a:latin typeface="Tahoma"/>
                <a:cs typeface="Tahoma"/>
                <a:hlinkClick r:id="rId4" action="ppaction://hlinksldjump"/>
              </a:rPr>
              <a:t>Simulation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10"/>
              </a:spcBef>
              <a:buFont typeface="Lucida Sans Unicode"/>
              <a:buChar char="►"/>
            </a:pPr>
            <a:endParaRPr sz="1100">
              <a:latin typeface="Tahoma"/>
              <a:cs typeface="Tahoma"/>
            </a:endParaRPr>
          </a:p>
          <a:p>
            <a:pPr marL="151130" indent="-138430">
              <a:lnSpc>
                <a:spcPct val="100000"/>
              </a:lnSpc>
              <a:buFont typeface="Lucida Sans Unicode"/>
              <a:buChar char="►"/>
              <a:tabLst>
                <a:tab pos="151130" algn="l"/>
              </a:tabLst>
            </a:pPr>
            <a:r>
              <a:rPr sz="1100" spc="-1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Results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7295" y="252930"/>
            <a:ext cx="1149350" cy="369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639"/>
              </a:lnSpc>
              <a:spcBef>
                <a:spcPts val="135"/>
              </a:spcBef>
            </a:pPr>
            <a:r>
              <a:rPr sz="1400" b="1" spc="-135" dirty="0">
                <a:solidFill>
                  <a:srgbClr val="003476"/>
                </a:solidFill>
                <a:latin typeface="Tahoma"/>
                <a:cs typeface="Tahoma"/>
              </a:rPr>
              <a:t>Retrieved</a:t>
            </a:r>
            <a:r>
              <a:rPr sz="1400" b="1" spc="-15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1400" b="1" spc="-120" dirty="0">
                <a:solidFill>
                  <a:srgbClr val="003476"/>
                </a:solidFill>
                <a:latin typeface="Tahoma"/>
                <a:cs typeface="Tahoma"/>
              </a:rPr>
              <a:t>Data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ts val="1040"/>
              </a:lnSpc>
            </a:pPr>
            <a:r>
              <a:rPr sz="900" dirty="0">
                <a:solidFill>
                  <a:srgbClr val="003476"/>
                </a:solidFill>
                <a:latin typeface="Tahoma"/>
                <a:cs typeface="Tahoma"/>
              </a:rPr>
              <a:t>3</a:t>
            </a:r>
            <a:r>
              <a:rPr sz="900" spc="20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003476"/>
                </a:solidFill>
                <a:latin typeface="Tahoma"/>
                <a:cs typeface="Tahoma"/>
              </a:rPr>
              <a:t>Results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42541" y="1031060"/>
            <a:ext cx="26752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After</a:t>
            </a:r>
            <a:r>
              <a:rPr sz="1100" spc="-6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3F3F3F"/>
                </a:solidFill>
                <a:latin typeface="Tahoma"/>
                <a:cs typeface="Tahoma"/>
              </a:rPr>
              <a:t>the</a:t>
            </a:r>
            <a:r>
              <a:rPr sz="1100" spc="-6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simulation,</a:t>
            </a:r>
            <a:r>
              <a:rPr sz="1100" spc="-6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we</a:t>
            </a:r>
            <a:r>
              <a:rPr sz="1100" spc="-6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3F3F3F"/>
                </a:solidFill>
                <a:latin typeface="Tahoma"/>
                <a:cs typeface="Tahoma"/>
              </a:rPr>
              <a:t>get </a:t>
            </a:r>
            <a:r>
              <a:rPr sz="1100" spc="-35" dirty="0">
                <a:solidFill>
                  <a:srgbClr val="3F3F3F"/>
                </a:solidFill>
                <a:latin typeface="Tahoma"/>
                <a:cs typeface="Tahoma"/>
              </a:rPr>
              <a:t>the</a:t>
            </a:r>
            <a:r>
              <a:rPr sz="1100" spc="-6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following</a:t>
            </a:r>
            <a:r>
              <a:rPr sz="1100" spc="-6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3F3F3F"/>
                </a:solidFill>
                <a:latin typeface="Tahoma"/>
                <a:cs typeface="Tahoma"/>
              </a:rPr>
              <a:t>data:</a:t>
            </a:r>
            <a:endParaRPr sz="1100" dirty="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76820" y="1288237"/>
          <a:ext cx="875030" cy="10413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5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b="1" spc="-10" dirty="0">
                          <a:solidFill>
                            <a:srgbClr val="3F3F3F"/>
                          </a:solidFill>
                          <a:latin typeface="Tahoma"/>
                          <a:cs typeface="Tahoma"/>
                        </a:rPr>
                        <a:t>Reports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86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i="1" spc="-25" dirty="0">
                          <a:solidFill>
                            <a:srgbClr val="3F3F3F"/>
                          </a:solidFill>
                          <a:latin typeface="Cambria"/>
                          <a:cs typeface="Cambria"/>
                        </a:rPr>
                        <a:t>C</a:t>
                      </a:r>
                      <a:r>
                        <a:rPr sz="1200" i="1" spc="-37" baseline="-13888" dirty="0">
                          <a:solidFill>
                            <a:srgbClr val="3F3F3F"/>
                          </a:solidFill>
                          <a:latin typeface="Cambria"/>
                          <a:cs typeface="Cambria"/>
                        </a:rPr>
                        <a:t>l</a:t>
                      </a:r>
                      <a:endParaRPr sz="1200" baseline="-13888">
                        <a:latin typeface="Cambria"/>
                        <a:cs typeface="Cambria"/>
                      </a:endParaRPr>
                    </a:p>
                    <a:p>
                      <a:pPr marL="75565" marR="635635">
                        <a:lnSpc>
                          <a:spcPct val="102600"/>
                        </a:lnSpc>
                      </a:pPr>
                      <a:r>
                        <a:rPr sz="1100" i="1" spc="-25" dirty="0">
                          <a:solidFill>
                            <a:srgbClr val="3F3F3F"/>
                          </a:solidFill>
                          <a:latin typeface="Cambria"/>
                          <a:cs typeface="Cambria"/>
                        </a:rPr>
                        <a:t>C</a:t>
                      </a:r>
                      <a:r>
                        <a:rPr sz="1200" i="1" spc="-37" baseline="-13888" dirty="0">
                          <a:solidFill>
                            <a:srgbClr val="3F3F3F"/>
                          </a:solidFill>
                          <a:latin typeface="Cambria"/>
                          <a:cs typeface="Cambria"/>
                        </a:rPr>
                        <a:t>d</a:t>
                      </a:r>
                      <a:r>
                        <a:rPr sz="1200" i="1" spc="750" baseline="-13888" dirty="0">
                          <a:solidFill>
                            <a:srgbClr val="3F3F3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100" i="1" spc="-25" dirty="0">
                          <a:solidFill>
                            <a:srgbClr val="3F3F3F"/>
                          </a:solidFill>
                          <a:latin typeface="Cambria"/>
                          <a:cs typeface="Cambria"/>
                        </a:rPr>
                        <a:t>C</a:t>
                      </a:r>
                      <a:r>
                        <a:rPr sz="1200" i="1" spc="-37" baseline="-10416" dirty="0">
                          <a:solidFill>
                            <a:srgbClr val="3F3F3F"/>
                          </a:solidFill>
                          <a:latin typeface="Cambria"/>
                          <a:cs typeface="Cambria"/>
                        </a:rPr>
                        <a:t>m</a:t>
                      </a:r>
                      <a:endParaRPr sz="1200" baseline="-10416">
                        <a:latin typeface="Cambria"/>
                        <a:cs typeface="Cambria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i="1" dirty="0">
                          <a:solidFill>
                            <a:srgbClr val="3F3F3F"/>
                          </a:solidFill>
                          <a:latin typeface="Cambria"/>
                          <a:cs typeface="Cambria"/>
                        </a:rPr>
                        <a:t>u</a:t>
                      </a:r>
                      <a:r>
                        <a:rPr sz="1100" i="1" spc="5" dirty="0">
                          <a:solidFill>
                            <a:srgbClr val="3F3F3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100" spc="-45" dirty="0">
                          <a:solidFill>
                            <a:srgbClr val="3F3F3F"/>
                          </a:solidFill>
                          <a:latin typeface="Tahoma"/>
                          <a:cs typeface="Tahoma"/>
                        </a:rPr>
                        <a:t>on</a:t>
                      </a:r>
                      <a:r>
                        <a:rPr sz="1100" spc="-90" dirty="0">
                          <a:solidFill>
                            <a:srgbClr val="3F3F3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i="1" dirty="0">
                          <a:solidFill>
                            <a:srgbClr val="3F3F3F"/>
                          </a:solidFill>
                          <a:latin typeface="Cambria"/>
                          <a:cs typeface="Cambria"/>
                        </a:rPr>
                        <a:t>x</a:t>
                      </a:r>
                      <a:r>
                        <a:rPr sz="1100" i="1" spc="70" dirty="0">
                          <a:solidFill>
                            <a:srgbClr val="3F3F3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100" dirty="0">
                          <a:solidFill>
                            <a:srgbClr val="3F3F3F"/>
                          </a:solidFill>
                          <a:latin typeface="Tahoma"/>
                          <a:cs typeface="Tahoma"/>
                        </a:rPr>
                        <a:t>=</a:t>
                      </a:r>
                      <a:r>
                        <a:rPr sz="1100" spc="-30" dirty="0">
                          <a:solidFill>
                            <a:srgbClr val="3F3F3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0" dirty="0">
                          <a:solidFill>
                            <a:srgbClr val="3F3F3F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1100">
                        <a:latin typeface="Cambria"/>
                        <a:cs typeface="Cambria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i="1" dirty="0">
                          <a:solidFill>
                            <a:srgbClr val="3F3F3F"/>
                          </a:solidFill>
                          <a:latin typeface="Cambria"/>
                          <a:cs typeface="Cambria"/>
                        </a:rPr>
                        <a:t>u</a:t>
                      </a:r>
                      <a:r>
                        <a:rPr sz="1100" i="1" spc="10" dirty="0">
                          <a:solidFill>
                            <a:srgbClr val="3F3F3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100" spc="-45" dirty="0">
                          <a:solidFill>
                            <a:srgbClr val="3F3F3F"/>
                          </a:solidFill>
                          <a:latin typeface="Tahoma"/>
                          <a:cs typeface="Tahoma"/>
                        </a:rPr>
                        <a:t>on</a:t>
                      </a:r>
                      <a:r>
                        <a:rPr sz="1100" spc="-90" dirty="0">
                          <a:solidFill>
                            <a:srgbClr val="3F3F3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i="1" dirty="0">
                          <a:solidFill>
                            <a:srgbClr val="3F3F3F"/>
                          </a:solidFill>
                          <a:latin typeface="Cambria"/>
                          <a:cs typeface="Cambria"/>
                        </a:rPr>
                        <a:t>y</a:t>
                      </a:r>
                      <a:r>
                        <a:rPr sz="1100" i="1" spc="75" dirty="0">
                          <a:solidFill>
                            <a:srgbClr val="3F3F3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100" dirty="0">
                          <a:solidFill>
                            <a:srgbClr val="3F3F3F"/>
                          </a:solidFill>
                          <a:latin typeface="Tahoma"/>
                          <a:cs typeface="Tahoma"/>
                        </a:rPr>
                        <a:t>=</a:t>
                      </a:r>
                      <a:r>
                        <a:rPr sz="1100" spc="-25" dirty="0">
                          <a:solidFill>
                            <a:srgbClr val="3F3F3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25" dirty="0">
                          <a:solidFill>
                            <a:srgbClr val="3F3F3F"/>
                          </a:solidFill>
                          <a:latin typeface="Cambria"/>
                          <a:cs typeface="Cambria"/>
                        </a:rPr>
                        <a:t>0</a:t>
                      </a:r>
                      <a:r>
                        <a:rPr sz="1100" i="1" spc="-25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100" spc="-25" dirty="0">
                          <a:solidFill>
                            <a:srgbClr val="3F3F3F"/>
                          </a:solidFill>
                          <a:latin typeface="Cambria"/>
                          <a:cs typeface="Cambria"/>
                        </a:rPr>
                        <a:t>5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562248" y="1651012"/>
            <a:ext cx="138430" cy="0"/>
          </a:xfrm>
          <a:custGeom>
            <a:avLst/>
            <a:gdLst/>
            <a:ahLst/>
            <a:cxnLst/>
            <a:rect l="l" t="t" r="r" b="b"/>
            <a:pathLst>
              <a:path w="138429">
                <a:moveTo>
                  <a:pt x="0" y="0"/>
                </a:moveTo>
                <a:lnTo>
                  <a:pt x="138023" y="0"/>
                </a:lnTo>
              </a:path>
            </a:pathLst>
          </a:custGeom>
          <a:ln w="5537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477750"/>
              </p:ext>
            </p:extLst>
          </p:nvPr>
        </p:nvGraphicFramePr>
        <p:xfrm>
          <a:off x="3483800" y="1288237"/>
          <a:ext cx="1513840" cy="6972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3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b="1" spc="-25" dirty="0">
                          <a:solidFill>
                            <a:srgbClr val="3F3F3F"/>
                          </a:solidFill>
                          <a:latin typeface="Tahoma"/>
                          <a:cs typeface="Tahoma"/>
                        </a:rPr>
                        <a:t>Statistics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i="1" spc="-10" dirty="0">
                          <a:solidFill>
                            <a:srgbClr val="3F3F3F"/>
                          </a:solidFill>
                          <a:latin typeface="Cambria"/>
                          <a:cs typeface="Cambria"/>
                        </a:rPr>
                        <a:t>u</a:t>
                      </a:r>
                      <a:r>
                        <a:rPr sz="1100" i="1" spc="-1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-11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3F3F3F"/>
                          </a:solidFill>
                          <a:latin typeface="Cambria"/>
                          <a:cs typeface="Cambria"/>
                        </a:rPr>
                        <a:t>v</a:t>
                      </a:r>
                      <a:r>
                        <a:rPr sz="1100" i="1" spc="20" dirty="0">
                          <a:solidFill>
                            <a:srgbClr val="3F3F3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100" spc="-45" dirty="0">
                          <a:solidFill>
                            <a:srgbClr val="3F3F3F"/>
                          </a:solidFill>
                          <a:latin typeface="Tahoma"/>
                          <a:cs typeface="Tahoma"/>
                        </a:rPr>
                        <a:t>statistics</a:t>
                      </a:r>
                      <a:r>
                        <a:rPr sz="1100" spc="-80" dirty="0">
                          <a:solidFill>
                            <a:srgbClr val="3F3F3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solidFill>
                            <a:srgbClr val="3F3F3F"/>
                          </a:solidFill>
                          <a:latin typeface="Tahoma"/>
                          <a:cs typeface="Tahoma"/>
                        </a:rPr>
                        <a:t>on</a:t>
                      </a:r>
                      <a:r>
                        <a:rPr sz="1100" spc="-75" dirty="0">
                          <a:solidFill>
                            <a:srgbClr val="3F3F3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i="1" dirty="0">
                          <a:solidFill>
                            <a:srgbClr val="3F3F3F"/>
                          </a:solidFill>
                          <a:latin typeface="Cambria"/>
                          <a:cs typeface="Cambria"/>
                        </a:rPr>
                        <a:t>x</a:t>
                      </a:r>
                      <a:r>
                        <a:rPr sz="1100" i="1" spc="85" dirty="0">
                          <a:solidFill>
                            <a:srgbClr val="3F3F3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100" dirty="0">
                          <a:solidFill>
                            <a:srgbClr val="3F3F3F"/>
                          </a:solidFill>
                          <a:latin typeface="Tahoma"/>
                          <a:cs typeface="Tahoma"/>
                        </a:rPr>
                        <a:t>=</a:t>
                      </a:r>
                      <a:r>
                        <a:rPr sz="1100" spc="-10" dirty="0">
                          <a:solidFill>
                            <a:srgbClr val="3F3F3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0" dirty="0">
                          <a:solidFill>
                            <a:srgbClr val="3F3F3F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1100" dirty="0">
                        <a:latin typeface="Cambria"/>
                        <a:cs typeface="Cambria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i="1" dirty="0">
                          <a:solidFill>
                            <a:srgbClr val="3F3F3F"/>
                          </a:solidFill>
                          <a:latin typeface="Cambria"/>
                          <a:cs typeface="Cambria"/>
                        </a:rPr>
                        <a:t>C</a:t>
                      </a:r>
                      <a:r>
                        <a:rPr lang="it-IT" sz="1200" i="1" baseline="-10416" dirty="0">
                          <a:solidFill>
                            <a:srgbClr val="3F3F3F"/>
                          </a:solidFill>
                          <a:latin typeface="Cambria"/>
                          <a:cs typeface="Cambria"/>
                        </a:rPr>
                        <a:t>p</a:t>
                      </a:r>
                      <a:r>
                        <a:rPr sz="1100" i="1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-105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45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σ</a:t>
                      </a:r>
                      <a:r>
                        <a:rPr sz="1100" i="1" spc="-55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solidFill>
                            <a:srgbClr val="3F3F3F"/>
                          </a:solidFill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20" dirty="0">
                          <a:solidFill>
                            <a:srgbClr val="3F3F3F"/>
                          </a:solidFill>
                          <a:latin typeface="Cambria"/>
                          <a:cs typeface="Cambria"/>
                        </a:rPr>
                        <a:t>C</a:t>
                      </a:r>
                      <a:r>
                        <a:rPr sz="1200" i="1" spc="-30" baseline="-10416" dirty="0">
                          <a:solidFill>
                            <a:srgbClr val="3F3F3F"/>
                          </a:solidFill>
                          <a:latin typeface="Cambria"/>
                          <a:cs typeface="Cambria"/>
                        </a:rPr>
                        <a:t>p</a:t>
                      </a:r>
                      <a:r>
                        <a:rPr sz="1100" spc="-20" dirty="0">
                          <a:solidFill>
                            <a:srgbClr val="3F3F3F"/>
                          </a:solidFill>
                          <a:latin typeface="Tahoma"/>
                          <a:cs typeface="Tahoma"/>
                        </a:rPr>
                        <a:t>)</a:t>
                      </a:r>
                      <a:endParaRPr sz="1100" dirty="0">
                        <a:latin typeface="Tahoma"/>
                        <a:cs typeface="Tahoma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i="1" spc="-10" dirty="0">
                          <a:solidFill>
                            <a:srgbClr val="3F3F3F"/>
                          </a:solidFill>
                          <a:latin typeface="Cambria"/>
                          <a:cs typeface="Cambria"/>
                        </a:rPr>
                        <a:t>u</a:t>
                      </a:r>
                      <a:r>
                        <a:rPr sz="1100" i="1" spc="-1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-11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3F3F3F"/>
                          </a:solidFill>
                          <a:latin typeface="Cambria"/>
                          <a:cs typeface="Cambria"/>
                        </a:rPr>
                        <a:t>v</a:t>
                      </a:r>
                      <a:r>
                        <a:rPr sz="1100" i="1" spc="25" dirty="0">
                          <a:solidFill>
                            <a:srgbClr val="3F3F3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100" spc="-45" dirty="0">
                          <a:solidFill>
                            <a:srgbClr val="3F3F3F"/>
                          </a:solidFill>
                          <a:latin typeface="Tahoma"/>
                          <a:cs typeface="Tahoma"/>
                        </a:rPr>
                        <a:t>statistics</a:t>
                      </a:r>
                      <a:r>
                        <a:rPr sz="1100" spc="-75" dirty="0">
                          <a:solidFill>
                            <a:srgbClr val="3F3F3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solidFill>
                            <a:srgbClr val="3F3F3F"/>
                          </a:solidFill>
                          <a:latin typeface="Tahoma"/>
                          <a:cs typeface="Tahoma"/>
                        </a:rPr>
                        <a:t>on</a:t>
                      </a:r>
                      <a:r>
                        <a:rPr sz="1100" spc="-75" dirty="0">
                          <a:solidFill>
                            <a:srgbClr val="3F3F3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i="1" dirty="0">
                          <a:solidFill>
                            <a:srgbClr val="3F3F3F"/>
                          </a:solidFill>
                          <a:latin typeface="Cambria"/>
                          <a:cs typeface="Cambria"/>
                        </a:rPr>
                        <a:t>y</a:t>
                      </a:r>
                      <a:r>
                        <a:rPr sz="1100" i="1" spc="85" dirty="0">
                          <a:solidFill>
                            <a:srgbClr val="3F3F3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100" dirty="0">
                          <a:solidFill>
                            <a:srgbClr val="3F3F3F"/>
                          </a:solidFill>
                          <a:latin typeface="Tahoma"/>
                          <a:cs typeface="Tahoma"/>
                        </a:rPr>
                        <a:t>=</a:t>
                      </a:r>
                      <a:r>
                        <a:rPr sz="1100" spc="-5" dirty="0">
                          <a:solidFill>
                            <a:srgbClr val="3F3F3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25" dirty="0">
                          <a:solidFill>
                            <a:srgbClr val="3F3F3F"/>
                          </a:solidFill>
                          <a:latin typeface="Cambria"/>
                          <a:cs typeface="Cambria"/>
                        </a:rPr>
                        <a:t>0</a:t>
                      </a:r>
                      <a:r>
                        <a:rPr sz="1100" i="1" spc="-25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100" spc="-25" dirty="0">
                          <a:solidFill>
                            <a:srgbClr val="3F3F3F"/>
                          </a:solidFill>
                          <a:latin typeface="Cambria"/>
                          <a:cs typeface="Cambria"/>
                        </a:rPr>
                        <a:t>5</a:t>
                      </a:r>
                      <a:endParaRPr sz="1100" dirty="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65" dirty="0"/>
              <a:t>13</a:t>
            </a:fld>
            <a:r>
              <a:rPr spc="-65" dirty="0"/>
              <a:t>/16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nimation-vorticity">
            <a:hlinkClick r:id="" action="ppaction://media"/>
            <a:extLst>
              <a:ext uri="{FF2B5EF4-FFF2-40B4-BE49-F238E27FC236}">
                <a16:creationId xmlns:a16="http://schemas.microsoft.com/office/drawing/2014/main" id="{F8B1CB50-FF0A-6699-3537-09D4BE3A379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r="33624"/>
          <a:stretch>
            <a:fillRect/>
          </a:stretch>
        </p:blipFill>
        <p:spPr>
          <a:xfrm>
            <a:off x="304306" y="1000340"/>
            <a:ext cx="2502517" cy="1244170"/>
          </a:xfrm>
          <a:prstGeom prst="rect">
            <a:avLst/>
          </a:prstGeom>
        </p:spPr>
      </p:pic>
      <p:pic>
        <p:nvPicPr>
          <p:cNvPr id="4" name="animation-k">
            <a:hlinkClick r:id="" action="ppaction://media"/>
            <a:extLst>
              <a:ext uri="{FF2B5EF4-FFF2-40B4-BE49-F238E27FC236}">
                <a16:creationId xmlns:a16="http://schemas.microsoft.com/office/drawing/2014/main" id="{A7FA55A7-008A-A452-BF52-8730D8E14C3C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rcRect l="-1654" r="31528"/>
          <a:stretch>
            <a:fillRect/>
          </a:stretch>
        </p:blipFill>
        <p:spPr>
          <a:xfrm>
            <a:off x="2882900" y="1000340"/>
            <a:ext cx="2578594" cy="1244170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80F5B5A5-2CC4-6F31-3913-5BC8E7F378D8}"/>
              </a:ext>
            </a:extLst>
          </p:cNvPr>
          <p:cNvSpPr txBox="1"/>
          <p:nvPr/>
        </p:nvSpPr>
        <p:spPr>
          <a:xfrm>
            <a:off x="1067295" y="252930"/>
            <a:ext cx="1055370" cy="369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639"/>
              </a:lnSpc>
              <a:spcBef>
                <a:spcPts val="135"/>
              </a:spcBef>
            </a:pPr>
            <a:r>
              <a:rPr sz="1400" b="1" spc="-130" dirty="0">
                <a:solidFill>
                  <a:srgbClr val="003476"/>
                </a:solidFill>
                <a:latin typeface="Tahoma"/>
                <a:cs typeface="Tahoma"/>
              </a:rPr>
              <a:t>Contour</a:t>
            </a:r>
            <a:r>
              <a:rPr sz="1400" b="1" spc="-45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1400" b="1" spc="-95" dirty="0">
                <a:solidFill>
                  <a:srgbClr val="003476"/>
                </a:solidFill>
                <a:latin typeface="Tahoma"/>
                <a:cs typeface="Tahoma"/>
              </a:rPr>
              <a:t>plots</a:t>
            </a:r>
            <a:endParaRPr sz="1400" dirty="0">
              <a:latin typeface="Tahoma"/>
              <a:cs typeface="Tahoma"/>
            </a:endParaRPr>
          </a:p>
          <a:p>
            <a:pPr marL="12700">
              <a:lnSpc>
                <a:spcPts val="1040"/>
              </a:lnSpc>
            </a:pPr>
            <a:r>
              <a:rPr sz="900" dirty="0">
                <a:solidFill>
                  <a:srgbClr val="003476"/>
                </a:solidFill>
                <a:latin typeface="Tahoma"/>
                <a:cs typeface="Tahoma"/>
              </a:rPr>
              <a:t>3</a:t>
            </a:r>
            <a:r>
              <a:rPr sz="900" spc="20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003476"/>
                </a:solidFill>
                <a:latin typeface="Tahoma"/>
                <a:cs typeface="Tahoma"/>
              </a:rPr>
              <a:t>Results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CFD5EDB8-CF1B-0AE9-39C4-4973D490A029}"/>
              </a:ext>
            </a:extLst>
          </p:cNvPr>
          <p:cNvSpPr txBox="1"/>
          <p:nvPr/>
        </p:nvSpPr>
        <p:spPr>
          <a:xfrm>
            <a:off x="538975" y="2308225"/>
            <a:ext cx="196292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lang="it-IT" sz="1000" spc="-55" dirty="0">
                <a:solidFill>
                  <a:srgbClr val="003476"/>
                </a:solidFill>
                <a:latin typeface="Tahoma"/>
                <a:cs typeface="Tahoma"/>
              </a:rPr>
              <a:t>Movie 1</a:t>
            </a:r>
            <a:r>
              <a:rPr sz="1000" spc="-55" dirty="0">
                <a:solidFill>
                  <a:srgbClr val="003476"/>
                </a:solidFill>
                <a:latin typeface="Tahoma"/>
                <a:cs typeface="Tahoma"/>
              </a:rPr>
              <a:t>:</a:t>
            </a:r>
            <a:r>
              <a:rPr lang="en-US" sz="1000" spc="-55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lang="en-US" sz="1000" spc="-50" dirty="0">
                <a:solidFill>
                  <a:srgbClr val="3F3F3F"/>
                </a:solidFill>
                <a:latin typeface="Tahoma"/>
                <a:cs typeface="Tahoma"/>
              </a:rPr>
              <a:t>Contour plot of the vorticity.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4A1F1079-B00C-CE91-503E-A6B845D50AFA}"/>
              </a:ext>
            </a:extLst>
          </p:cNvPr>
          <p:cNvSpPr txBox="1"/>
          <p:nvPr/>
        </p:nvSpPr>
        <p:spPr>
          <a:xfrm>
            <a:off x="3487914" y="2308225"/>
            <a:ext cx="1368566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lang="it-IT" sz="1000" spc="-55" dirty="0">
                <a:solidFill>
                  <a:srgbClr val="003476"/>
                </a:solidFill>
                <a:latin typeface="Tahoma"/>
                <a:cs typeface="Tahoma"/>
              </a:rPr>
              <a:t>Movie 2</a:t>
            </a:r>
            <a:r>
              <a:rPr sz="1000" spc="-55" dirty="0">
                <a:solidFill>
                  <a:srgbClr val="003476"/>
                </a:solidFill>
                <a:latin typeface="Tahoma"/>
                <a:cs typeface="Tahoma"/>
              </a:rPr>
              <a:t>:</a:t>
            </a:r>
            <a:r>
              <a:rPr lang="en-US" sz="1000" spc="-55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lang="en-US" sz="1000" spc="-50" dirty="0">
                <a:solidFill>
                  <a:srgbClr val="3F3F3F"/>
                </a:solidFill>
                <a:latin typeface="Tahoma"/>
                <a:cs typeface="Tahoma"/>
              </a:rPr>
              <a:t>Contour plot of </a:t>
            </a:r>
            <a:r>
              <a:rPr lang="it-IT" sz="1000" i="1" dirty="0">
                <a:solidFill>
                  <a:srgbClr val="3F3F3F"/>
                </a:solidFill>
                <a:latin typeface="Cambria"/>
                <a:cs typeface="Cambria"/>
              </a:rPr>
              <a:t>k.</a:t>
            </a:r>
            <a:endParaRPr sz="10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379146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20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2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6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19235" y="706310"/>
            <a:ext cx="134620" cy="0"/>
          </a:xfrm>
          <a:custGeom>
            <a:avLst/>
            <a:gdLst/>
            <a:ahLst/>
            <a:cxnLst/>
            <a:rect l="l" t="t" r="r" b="b"/>
            <a:pathLst>
              <a:path w="134619">
                <a:moveTo>
                  <a:pt x="0" y="0"/>
                </a:moveTo>
                <a:lnTo>
                  <a:pt x="134480" y="0"/>
                </a:lnTo>
              </a:path>
            </a:pathLst>
          </a:custGeom>
          <a:ln w="5537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21894" y="252930"/>
            <a:ext cx="3197860" cy="605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57555">
              <a:lnSpc>
                <a:spcPts val="1639"/>
              </a:lnSpc>
              <a:spcBef>
                <a:spcPts val="135"/>
              </a:spcBef>
            </a:pPr>
            <a:r>
              <a:rPr sz="1400" b="1" spc="-130" dirty="0">
                <a:solidFill>
                  <a:srgbClr val="003476"/>
                </a:solidFill>
                <a:latin typeface="Tahoma"/>
                <a:cs typeface="Tahoma"/>
              </a:rPr>
              <a:t>Comparison</a:t>
            </a:r>
            <a:r>
              <a:rPr sz="1400" b="1" spc="-60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1400" b="1" spc="-125" dirty="0">
                <a:solidFill>
                  <a:srgbClr val="003476"/>
                </a:solidFill>
                <a:latin typeface="Tahoma"/>
                <a:cs typeface="Tahoma"/>
              </a:rPr>
              <a:t>with</a:t>
            </a:r>
            <a:r>
              <a:rPr sz="1400" b="1" spc="-55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003476"/>
                </a:solidFill>
                <a:latin typeface="Tahoma"/>
                <a:cs typeface="Tahoma"/>
              </a:rPr>
              <a:t>DIMAT</a:t>
            </a:r>
            <a:endParaRPr sz="1400" dirty="0">
              <a:latin typeface="Tahoma"/>
              <a:cs typeface="Tahoma"/>
            </a:endParaRPr>
          </a:p>
          <a:p>
            <a:pPr marL="757555">
              <a:lnSpc>
                <a:spcPts val="1040"/>
              </a:lnSpc>
            </a:pPr>
            <a:r>
              <a:rPr sz="900" dirty="0">
                <a:solidFill>
                  <a:srgbClr val="003476"/>
                </a:solidFill>
                <a:latin typeface="Tahoma"/>
                <a:cs typeface="Tahoma"/>
              </a:rPr>
              <a:t>3</a:t>
            </a:r>
            <a:r>
              <a:rPr sz="900" spc="20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003476"/>
                </a:solidFill>
                <a:latin typeface="Tahoma"/>
                <a:cs typeface="Tahoma"/>
              </a:rPr>
              <a:t>Results</a:t>
            </a:r>
            <a:endParaRPr sz="9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540"/>
              </a:spcBef>
            </a:pP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We</a:t>
            </a:r>
            <a:r>
              <a:rPr sz="1100" spc="-8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3F3F3F"/>
                </a:solidFill>
                <a:latin typeface="Tahoma"/>
                <a:cs typeface="Tahoma"/>
              </a:rPr>
              <a:t>can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analyze</a:t>
            </a:r>
            <a:r>
              <a:rPr sz="1100" spc="-8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and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compare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3F3F3F"/>
                </a:solidFill>
                <a:latin typeface="Tahoma"/>
                <a:cs typeface="Tahoma"/>
              </a:rPr>
              <a:t>the</a:t>
            </a:r>
            <a:r>
              <a:rPr sz="1100" spc="-8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3F3F3F"/>
                </a:solidFill>
                <a:latin typeface="Tahoma"/>
                <a:cs typeface="Tahoma"/>
              </a:rPr>
              <a:t>data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for</a:t>
            </a:r>
            <a:r>
              <a:rPr sz="1100" spc="-8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3F3F3F"/>
                </a:solidFill>
                <a:latin typeface="Cambria"/>
                <a:cs typeface="Cambria"/>
              </a:rPr>
              <a:t>C</a:t>
            </a:r>
            <a:r>
              <a:rPr sz="1200" i="1" baseline="-10416" dirty="0">
                <a:solidFill>
                  <a:srgbClr val="3F3F3F"/>
                </a:solidFill>
                <a:latin typeface="Cambria"/>
                <a:cs typeface="Cambria"/>
              </a:rPr>
              <a:t>p</a:t>
            </a:r>
            <a:r>
              <a:rPr sz="1200" i="1" spc="217" baseline="-10416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and</a:t>
            </a:r>
            <a:r>
              <a:rPr sz="1100" spc="-8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i="1" spc="-45" dirty="0">
                <a:solidFill>
                  <a:srgbClr val="3F3F3F"/>
                </a:solidFill>
                <a:latin typeface="Arial"/>
                <a:cs typeface="Arial"/>
              </a:rPr>
              <a:t>σ</a:t>
            </a:r>
            <a:r>
              <a:rPr sz="1100" i="1" spc="-6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3F3F3F"/>
                </a:solidFill>
                <a:latin typeface="Tahoma"/>
                <a:cs typeface="Tahoma"/>
              </a:rPr>
              <a:t>(</a:t>
            </a:r>
            <a:r>
              <a:rPr sz="1100" i="1" spc="-20" dirty="0">
                <a:solidFill>
                  <a:srgbClr val="3F3F3F"/>
                </a:solidFill>
                <a:latin typeface="Cambria"/>
                <a:cs typeface="Cambria"/>
              </a:rPr>
              <a:t>C</a:t>
            </a:r>
            <a:r>
              <a:rPr lang="it-IT" sz="1200" i="1" spc="-30" baseline="-10416" dirty="0">
                <a:solidFill>
                  <a:srgbClr val="3F3F3F"/>
                </a:solidFill>
                <a:latin typeface="Cambria"/>
                <a:cs typeface="Cambria"/>
              </a:rPr>
              <a:t>p</a:t>
            </a:r>
            <a:r>
              <a:rPr sz="1100" spc="-20" dirty="0">
                <a:solidFill>
                  <a:srgbClr val="3F3F3F"/>
                </a:solidFill>
                <a:latin typeface="Tahoma"/>
                <a:cs typeface="Tahoma"/>
              </a:rPr>
              <a:t>)</a:t>
            </a:r>
            <a:r>
              <a:rPr lang="it-IT" sz="1100" spc="-20" dirty="0">
                <a:solidFill>
                  <a:srgbClr val="3F3F3F"/>
                </a:solidFill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124" y="1120639"/>
            <a:ext cx="1927820" cy="175498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56154" y="1120705"/>
            <a:ext cx="1927613" cy="175741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65" dirty="0"/>
              <a:t>15</a:t>
            </a:fld>
            <a:r>
              <a:rPr spc="-65" dirty="0"/>
              <a:t>/16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7294" y="252930"/>
            <a:ext cx="3070860" cy="6369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32155">
              <a:lnSpc>
                <a:spcPts val="1639"/>
              </a:lnSpc>
              <a:spcBef>
                <a:spcPts val="135"/>
              </a:spcBef>
            </a:pPr>
            <a:r>
              <a:rPr sz="1400" b="1" spc="-140" dirty="0">
                <a:solidFill>
                  <a:srgbClr val="003476"/>
                </a:solidFill>
                <a:latin typeface="Tahoma"/>
                <a:cs typeface="Tahoma"/>
              </a:rPr>
              <a:t>Lateral</a:t>
            </a:r>
            <a:r>
              <a:rPr sz="1400" b="1" spc="-40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003476"/>
                </a:solidFill>
                <a:latin typeface="Tahoma"/>
                <a:cs typeface="Tahoma"/>
              </a:rPr>
              <a:t>Velocity</a:t>
            </a:r>
            <a:endParaRPr sz="1400" dirty="0">
              <a:latin typeface="Tahoma"/>
              <a:cs typeface="Tahoma"/>
            </a:endParaRPr>
          </a:p>
          <a:p>
            <a:pPr marL="732155">
              <a:lnSpc>
                <a:spcPts val="1040"/>
              </a:lnSpc>
            </a:pPr>
            <a:r>
              <a:rPr sz="900" dirty="0">
                <a:solidFill>
                  <a:srgbClr val="003476"/>
                </a:solidFill>
                <a:latin typeface="Tahoma"/>
                <a:cs typeface="Tahoma"/>
              </a:rPr>
              <a:t>3</a:t>
            </a:r>
            <a:r>
              <a:rPr sz="900" spc="20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003476"/>
                </a:solidFill>
                <a:latin typeface="Tahoma"/>
                <a:cs typeface="Tahoma"/>
              </a:rPr>
              <a:t>Results</a:t>
            </a:r>
            <a:endParaRPr sz="9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We</a:t>
            </a:r>
            <a:r>
              <a:rPr sz="1100" spc="-8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3F3F3F"/>
                </a:solidFill>
                <a:latin typeface="Tahoma"/>
                <a:cs typeface="Tahoma"/>
              </a:rPr>
              <a:t>can</a:t>
            </a:r>
            <a:r>
              <a:rPr sz="1100" spc="-8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take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3F3F3F"/>
                </a:solidFill>
                <a:latin typeface="Tahoma"/>
                <a:cs typeface="Tahoma"/>
              </a:rPr>
              <a:t>a</a:t>
            </a:r>
            <a:r>
              <a:rPr sz="1100" spc="-8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3F3F3F"/>
                </a:solidFill>
                <a:latin typeface="Tahoma"/>
                <a:cs typeface="Tahoma"/>
              </a:rPr>
              <a:t>look</a:t>
            </a:r>
            <a:r>
              <a:rPr sz="1100" spc="-8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at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3F3F3F"/>
                </a:solidFill>
                <a:latin typeface="Tahoma"/>
                <a:cs typeface="Tahoma"/>
              </a:rPr>
              <a:t>the</a:t>
            </a:r>
            <a:r>
              <a:rPr sz="1100" spc="-8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mean</a:t>
            </a:r>
            <a:r>
              <a:rPr sz="1100" spc="-7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3F3F3F"/>
                </a:solidFill>
                <a:latin typeface="Tahoma"/>
                <a:cs typeface="Tahoma"/>
              </a:rPr>
              <a:t>velocity</a:t>
            </a:r>
            <a:r>
              <a:rPr sz="1100" spc="-8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3F3F3F"/>
                </a:solidFill>
                <a:latin typeface="Tahoma"/>
                <a:cs typeface="Tahoma"/>
              </a:rPr>
              <a:t>along</a:t>
            </a:r>
            <a:r>
              <a:rPr sz="1100" spc="-8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3F3F3F"/>
                </a:solidFill>
                <a:latin typeface="Cambria"/>
                <a:cs typeface="Cambria"/>
              </a:rPr>
              <a:t>y</a:t>
            </a:r>
            <a:r>
              <a:rPr sz="1100" i="1" spc="80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3F3F3F"/>
                </a:solidFill>
                <a:latin typeface="Tahoma"/>
                <a:cs typeface="Tahoma"/>
              </a:rPr>
              <a:t>=</a:t>
            </a:r>
            <a:r>
              <a:rPr sz="1100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3F3F3F"/>
                </a:solidFill>
                <a:latin typeface="Cambria"/>
                <a:cs typeface="Cambria"/>
              </a:rPr>
              <a:t>0</a:t>
            </a:r>
            <a:r>
              <a:rPr sz="1100" i="1" spc="-25" dirty="0">
                <a:solidFill>
                  <a:srgbClr val="3F3F3F"/>
                </a:solidFill>
                <a:latin typeface="Arial"/>
                <a:cs typeface="Arial"/>
              </a:rPr>
              <a:t>.</a:t>
            </a:r>
            <a:r>
              <a:rPr sz="1100" spc="-25" dirty="0">
                <a:solidFill>
                  <a:srgbClr val="3F3F3F"/>
                </a:solidFill>
                <a:latin typeface="Cambria"/>
                <a:cs typeface="Cambria"/>
              </a:rPr>
              <a:t>5</a:t>
            </a:r>
            <a:r>
              <a:rPr lang="it-IT" sz="1100" spc="-25" dirty="0">
                <a:solidFill>
                  <a:srgbClr val="3F3F3F"/>
                </a:solidFill>
                <a:latin typeface="Cambria"/>
                <a:cs typeface="Cambria"/>
              </a:rPr>
              <a:t>.</a:t>
            </a:r>
            <a:endParaRPr sz="1100" dirty="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4631" y="1010446"/>
            <a:ext cx="2510667" cy="170697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65" dirty="0"/>
              <a:t>16</a:t>
            </a:fld>
            <a:r>
              <a:rPr spc="-65" dirty="0"/>
              <a:t>/16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730</Words>
  <Application>Microsoft Office PowerPoint</Application>
  <PresentationFormat>Personalizzato</PresentationFormat>
  <Paragraphs>129</Paragraphs>
  <Slides>16</Slides>
  <Notes>0</Notes>
  <HiddenSlides>0</HiddenSlides>
  <MMClips>2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3" baseType="lpstr">
      <vt:lpstr>Arial</vt:lpstr>
      <vt:lpstr>Calibri</vt:lpstr>
      <vt:lpstr>Cambria</vt:lpstr>
      <vt:lpstr>Lucida Sans Unicode</vt:lpstr>
      <vt:lpstr>Tahoma</vt:lpstr>
      <vt:lpstr>Verdana</vt:lpstr>
      <vt:lpstr>Office Theme</vt:lpstr>
      <vt:lpstr>Presentazione standard di PowerPoint</vt:lpstr>
      <vt:lpstr>Presentazione standard di PowerPoint</vt:lpstr>
      <vt:lpstr>Project Overview &amp; Objectives</vt:lpstr>
      <vt:lpstr>Flow Configuration &amp; Boundary Setup</vt:lpstr>
      <vt:lpstr>Spatial Discretization 1 Initial Problem</vt:lpstr>
      <vt:lpstr>Turbulence Modeling: RANS &amp; k − ϵ RNG</vt:lpstr>
      <vt:lpstr>Turbulence Modeling: The k − ω Model 1 Initial Problem</vt:lpstr>
      <vt:lpstr>Table of Contents 2 Initializing the Simulation</vt:lpstr>
      <vt:lpstr>Presentazione standard di PowerPoint</vt:lpstr>
      <vt:lpstr>Presentazione standard di PowerPoint</vt:lpstr>
      <vt:lpstr>Simulation of one period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 simulation around bluff body:  k- RANS model</dc:title>
  <dc:creator>Maccarone Giovanna s349134, Morandi Simone Domenico s336974</dc:creator>
  <cp:lastModifiedBy>Morandi  Simone Domenico</cp:lastModifiedBy>
  <cp:revision>3</cp:revision>
  <dcterms:created xsi:type="dcterms:W3CDTF">2026-06-13T13:32:05Z</dcterms:created>
  <dcterms:modified xsi:type="dcterms:W3CDTF">2026-06-14T08:04:08Z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2026-06-13T00:00:00Z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2026-06-13T00:00:00Z</vt:filetime>
  </property>
  <property fmtid="{D5CDD505-2E9C-101B-9397-08002B2CF9AE}" pid="6" name="PTEX.Fullbanner">
    <vt:lpwstr>This is pdfTeX, Version 3.141592653-2.6-1.40.27 (TeX Live 2025) kpathsea version 6.4.1</vt:lpwstr>
  </property>
  <property fmtid="{D5CDD505-2E9C-101B-9397-08002B2CF9AE}" pid="7" name="Producer">
    <vt:lpwstr>pdfTeX-1.40.27</vt:lpwstr>
  </property>
</Properties>
</file>